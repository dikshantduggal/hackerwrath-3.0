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0.xml" ContentType="application/vnd.openxmlformats-officedocument.presentationml.slide+xml"/>
  <Override PartName="/ppt/notesSlides/notesSlide20.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5" r:id="rId26"/>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roblem" id="{70cbbfca-85d6-4761-b697-1cb23ea162bf}">
          <p14:sldIdLst>
            <p14:sldId id="256"/>
            <p14:sldId id="257"/>
            <p14:sldId id="258"/>
            <p14:sldId id="259"/>
          </p14:sldIdLst>
        </p14:section>
        <p14:section name="Our answer" id="{7b0a4747-02fc-0c98-6e17-785251c90cfc}">
          <p14:sldIdLst>
            <p14:sldId id="260"/>
            <p14:sldId id="261"/>
          </p14:sldIdLst>
        </p14:section>
        <p14:section name="Demo calls" id="{ac424698-d8ce-22d1-0266-ea43671bd169}">
          <p14:sldIdLst>
            <p14:sldId id="262"/>
            <p14:sldId id="263"/>
            <p14:sldId id="264"/>
            <p14:sldId id="265"/>
            <p14:sldId id="266"/>
            <p14:sldId id="267"/>
            <p14:sldId id="268"/>
            <p14:sldId id="269"/>
            <p14:sldId id="270"/>
          </p14:sldIdLst>
        </p14:section>
        <p14:section name="How it works" id="{0bf3ffa1-935a-0951-9626-2718ed58f026}">
          <p14:sldIdLst>
            <p14:sldId id="271"/>
            <p14:sldId id="272"/>
            <p14:sldId id="273"/>
          </p14:sldIdLst>
        </p14:section>
        <p14:section name="Close" id="{71913aa7-0edf-fcbd-9d67-2ff961bc615d}">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  <Relationship Id="rId26" Type="http://schemas.openxmlformats.org/officeDocument/2006/relationships/slide" Target="slides/slide20.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this. Your phone rings. “This is Rohit from your bank's fraud team. We've detected a ₹49,800 transaction on your card. Read me the OTP so I can cancel it.” You panic. But that OTP doesn't cancel the payment. It authorises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read out the code. And the payment isn't cancelled. It's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fake bank fraud call. It starts with fear, not greed. The caller sounds like protection, so you think you're helping. Nothing in it looks suspicious: no link, no fake website, just a convincing voice and a countdown.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protection today. Google warns you during scam calls, in Hindi and English, on a Pixel or a recent flagship. Truecaller tells you who is calling, from numbers other people reported. A scammer on a fresh SIM looks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asked a different question. Not who is calling. What are they asking you to do? Edgerunners listens for the request itself: scan a QR to receive money, type your UPI PIN, share an OTP, or install an app that shares your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a call to play it. Each one ends with buttons to come back here or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[CALLER] is calling from a normal phone. No app on that side. Our user answers in Edgerunners.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this ring? That's scam check. It breathes slowly while it listens. You can forget it's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chime and the buzz came [MEASURED: X] seconds after he asked for the code. The ring turned amber: we're checking.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 risk. It tells you exactly what happened, then what the caller did: claimed to be the bank, asked for the code, rushed you. Those chips are detail only; they never change the level. Then the truth, then what to do. End call is one tap. Keeping on talking means pressing and holding. And the caller heard nothing. Click End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call, a short story: when we stepped in, what she chose. Nothing from the call was recorded or kept.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flow, different scam: a “customer care” agent says your ₹2,499 refund is approved and asks for your UPI PIN.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 risk, every time: a PIN request on a call is never routine. The chips show what they were after: your PIN, and your money. Click End call to go back to the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calls are like this. The app stays out of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never says a call is safe, because no check can promise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caller dials our number through Twilio, and the caller's audio streams to Sarvam's speech recognition, which handles Punjabi, Hindi, English and mixed speech. Then two checks: an instant phrase check gives the first warning, and plug-in detectors confirm it. Dikshant's engine, with rules, a RAG check and an AI pass, plugs into that socket. Our policy alone decides Possible or High risk, and the warning goes only to the protected user's app. Honest status: the Twilio audio stream is the piece still being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rules we never break: the app never says a call is safe, ending is one tap, nothing is recorded, and it works on any Android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only. The Telegram prototype exists today; turning it into protection for chat-app calls is the roadmap item. The rest isn't built yet. Say so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[TEAM NAMES].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works today. The Android app: call screens, the alert that changes its look each time, and the “What they said” chips, now including screen-sharing asks. The backend: a private warning channel, scripted demo calls, and a policy that is the only place a risk level is decided, with 57 automated tests. Dikshant's detection engine: live Sarvam speech-to-text, rules that don't flag safety advice like “never share your OTP”, and a RAG check built on the TeleAntiFraud-28k dialogues in English and Hindi. It reports about 99% accuracy on its held-out test split; real calls will be harder. And a prototype that checks a Telegram Desktop call live. Still to connect: the Twilio call audio, that engine into our detector socket, and recorded Hindi and Punjabi voice warnings.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IGHT">
    <p:bg>
      <p:bgPr>
        <a:solidFill>
          <a:srgbClr val="0E1A27"/>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PER">
    <p:bg>
      <p:bgPr>
        <a:solidFill>
          <a:srgbClr val="FAFAF8"/>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6.xml"/><Relationship Id="rId1" Type="http://schemas.openxmlformats.org/officeDocument/2006/relationships/image" Target="../media/image-1-1.png"/><Relationship Id="rId2" Type="http://schemas.openxmlformats.org/officeDocument/2006/relationships/image" Target="../media/image-1-2.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6" Type="http://schemas.openxmlformats.org/officeDocument/2006/relationships/slide" Target="slide7.xml"/><Relationship Id="rId10" Type="http://schemas.openxmlformats.org/officeDocument/2006/relationships/slide" Target="slide12.xml"/><Relationship Id="rId14" Type="http://schemas.openxmlformats.org/officeDocument/2006/relationships/slide" Target="slide14.xml"/><Relationship Id="rId16" Type="http://schemas.openxmlformats.org/officeDocument/2006/relationships/slide" Target="slide16.xm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7" Type="http://schemas.openxmlformats.org/officeDocument/2006/relationships/image" Target="../media/image-6-6.png"/><Relationship Id="rId8" Type="http://schemas.openxmlformats.org/officeDocument/2006/relationships/image" Target="../media/image-6-7.png"/><Relationship Id="rId9" Type="http://schemas.openxmlformats.org/officeDocument/2006/relationships/image" Target="../media/image-6-8.png"/><Relationship Id="rId11" Type="http://schemas.openxmlformats.org/officeDocument/2006/relationships/image" Target="../media/image-6-9.png"/><Relationship Id="rId12" Type="http://schemas.openxmlformats.org/officeDocument/2006/relationships/image" Target="../media/image-6-10.png"/><Relationship Id="rId13" Type="http://schemas.openxmlformats.org/officeDocument/2006/relationships/image" Target="../media/image-6-11.png"/><Relationship Id="rId15" Type="http://schemas.openxmlformats.org/officeDocument/2006/relationships/image" Target="../media/image-6-12.png"/><Relationship Id="rId17" Type="http://schemas.openxmlformats.org/officeDocument/2006/relationships/slideLayout" Target="../slideLayouts/slideLayout2.xml"/><Relationship Id="rId1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5" Type="http://schemas.openxmlformats.org/officeDocument/2006/relationships/slide" Target="slide8.xm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5" Type="http://schemas.openxmlformats.org/officeDocument/2006/relationships/slide" Target="slide11.xml"/><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4" Type="http://schemas.openxmlformats.org/officeDocument/2006/relationships/slide" Target="slide6.xml"/><Relationship Id="rId6" Type="http://schemas.openxmlformats.org/officeDocument/2006/relationships/slide" Target="slide16.xml"/><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5" Type="http://schemas.openxmlformats.org/officeDocument/2006/relationships/image" Target="../media/image-11-4.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5" Type="http://schemas.openxmlformats.org/officeDocument/2006/relationships/slide" Target="slide6.xml"/><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4" Type="http://schemas.openxmlformats.org/officeDocument/2006/relationships/slide" Target="slide6.xml"/><Relationship Id="rId6" Type="http://schemas.openxmlformats.org/officeDocument/2006/relationships/slide" Target="slide16.xml"/><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5" Type="http://schemas.openxmlformats.org/officeDocument/2006/relationships/image" Target="../media/image-15-4.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slideLayout" Target="../slideLayouts/slideLayout3.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3.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next-chat-calls.png"/><Relationship Id="rId5" Type="http://schemas.openxmlformats.org/officeDocument/2006/relationships/image" Target="../media/image-18-5.png"/><Relationship Id="rId6" Type="http://schemas.openxmlformats.org/officeDocument/2006/relationships/slideLayout" Target="../slideLayouts/slideLayout3.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status-0.png"/><Relationship Id="rId3" Type="http://schemas.openxmlformats.org/officeDocument/2006/relationships/image" Target="../media/status-1.png"/><Relationship Id="rId4" Type="http://schemas.openxmlformats.org/officeDocument/2006/relationships/image" Target="../media/status-2.png"/><Relationship Id="rId5" Type="http://schemas.openxmlformats.org/officeDocument/2006/relationships/image" Target="../media/status-3.png"/><Relationship Id="rId6" Type="http://schemas.openxmlformats.org/officeDocument/2006/relationships/slideLayout" Target="../slideLayouts/slideLayout3.xml"/><Relationship Id="rId7"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halo-r3"/>
          <p:cNvSpPr/>
          <p:nvPr/>
        </p:nvSpPr>
        <p:spPr>
          <a:xfrm>
            <a:off x="6949440" y="914400"/>
            <a:ext cx="5029200" cy="5029200"/>
          </a:xfrm>
          <a:prstGeom prst="ellipse">
            <a:avLst/>
          </a:prstGeom>
          <a:solidFill>
            <a:srgbClr val="7DB8E8">
              <a:alpha val="0"/>
            </a:srgbClr>
          </a:solidFill>
          <a:ln w="55880">
            <a:solidFill>
              <a:srgbClr val="7DB8E8">
                <a:alpha val="20000"/>
              </a:srgbClr>
            </a:solidFill>
            <a:prstDash val="solid"/>
          </a:ln>
        </p:spPr>
      </p:sp>
      <p:sp>
        <p:nvSpPr>
          <p:cNvPr id="3" name="!!halo-r2"/>
          <p:cNvSpPr/>
          <p:nvPr/>
        </p:nvSpPr>
        <p:spPr>
          <a:xfrm>
            <a:off x="7543800" y="1508760"/>
            <a:ext cx="3840480" cy="3840480"/>
          </a:xfrm>
          <a:prstGeom prst="ellipse">
            <a:avLst/>
          </a:prstGeom>
          <a:solidFill>
            <a:srgbClr val="7DB8E8">
              <a:alpha val="0"/>
            </a:srgbClr>
          </a:solidFill>
          <a:ln w="55880">
            <a:solidFill>
              <a:srgbClr val="7DB8E8">
                <a:alpha val="38000"/>
              </a:srgbClr>
            </a:solidFill>
            <a:prstDash val="solid"/>
          </a:ln>
        </p:spPr>
      </p:sp>
      <p:sp>
        <p:nvSpPr>
          <p:cNvPr id="4" name="!!halo-r1"/>
          <p:cNvSpPr/>
          <p:nvPr/>
        </p:nvSpPr>
        <p:spPr>
          <a:xfrm>
            <a:off x="8092440" y="2057400"/>
            <a:ext cx="2743200" cy="2743200"/>
          </a:xfrm>
          <a:prstGeom prst="ellipse">
            <a:avLst/>
          </a:prstGeom>
          <a:solidFill>
            <a:srgbClr val="7DB8E8">
              <a:alpha val="0"/>
            </a:srgbClr>
          </a:solidFill>
          <a:ln w="55880">
            <a:solidFill>
              <a:srgbClr val="7DB8E8">
                <a:alpha val="62000"/>
              </a:srgbClr>
            </a:solidFill>
            <a:prstDash val="solid"/>
          </a:ln>
        </p:spPr>
      </p:sp>
      <p:sp>
        <p:nvSpPr>
          <p:cNvPr id="5" name="!!halo-core"/>
          <p:cNvSpPr/>
          <p:nvPr/>
        </p:nvSpPr>
        <p:spPr>
          <a:xfrm>
            <a:off x="8549640" y="2514600"/>
            <a:ext cx="1828800" cy="1828800"/>
          </a:xfrm>
          <a:prstGeom prst="ellipse">
            <a:avLst/>
          </a:prstGeom>
          <a:solidFill>
            <a:srgbClr val="1B3550"/>
          </a:solidFill>
          <a:ln w="12700">
            <a:solidFill>
              <a:srgbClr val="1B3550"/>
            </a:solidFill>
            <a:prstDash val="solid"/>
          </a:ln>
        </p:spPr>
      </p:sp>
      <p:pic>
        <p:nvPicPr>
          <p:cNvPr id="6" name="!!halo-icon" descr="Scam check">    </p:cNvPr>
          <p:cNvPicPr>
            <a:picLocks noChangeAspect="1"/>
          </p:cNvPicPr>
          <p:nvPr/>
        </p:nvPicPr>
        <p:blipFill>
          <a:blip r:embed="rId1"/>
          <a:stretch>
            <a:fillRect/>
          </a:stretch>
        </p:blipFill>
        <p:spPr>
          <a:xfrm>
            <a:off x="8988552" y="2953512"/>
            <a:ext cx="950976" cy="950976"/>
          </a:xfrm>
          <a:prstGeom prst="rect">
            <a:avLst/>
          </a:prstGeom>
        </p:spPr>
      </p:pic>
      <p:sp>
        <p:nvSpPr>
          <p:cNvPr id="7" name="!!kicker"/>
          <p:cNvSpPr txBox="1"/>
          <p:nvPr/>
        </p:nvSpPr>
        <p:spPr>
          <a:xfrm>
            <a:off x="731520" y="1417320"/>
            <a:ext cx="6400800" cy="320040"/>
          </a:xfrm>
          <a:prstGeom prst="rect">
            <a:avLst/>
          </a:prstGeom>
          <a:noFill/>
          <a:ln/>
        </p:spPr>
        <p:txBody>
          <a:bodyPr wrap="square" lIns="0" tIns="0" rIns="0" bIns="0" rtlCol="0" anchor="t"/>
          <a:lstStyle/>
          <a:p>
            <a:pPr indent="0" marL="0">
              <a:buNone/>
            </a:pPr>
            <a:r>
              <a:rPr lang="en-US" sz="1400" b="1" spc="200" kern="0" dirty="0">
                <a:solidFill>
                  <a:srgbClr val="7DB8E8"/>
                </a:solidFill>
                <a:latin typeface="Segoe UI" pitchFamily="34" charset="0"/>
                <a:ea typeface="Segoe UI" pitchFamily="34" charset="-122"/>
                <a:cs typeface="Segoe UI" pitchFamily="34" charset="-120"/>
              </a:rPr>
              <a:t>LIVE SCAM PROTECTION FOR PHONE CALLS</a:t>
            </a:r>
            <a:endParaRPr lang="en-US" sz="1400" dirty="0"/>
          </a:p>
        </p:txBody>
      </p:sp>
      <p:sp>
        <p:nvSpPr>
          <p:cNvPr id="8" name="!!headline"/>
          <p:cNvSpPr txBox="1"/>
          <p:nvPr/>
        </p:nvSpPr>
        <p:spPr>
          <a:xfrm>
            <a:off x="731520" y="1828800"/>
            <a:ext cx="6309360" cy="1737360"/>
          </a:xfrm>
          <a:prstGeom prst="rect">
            <a:avLst/>
          </a:prstGeom>
          <a:noFill/>
          <a:ln/>
        </p:spPr>
        <p:txBody>
          <a:bodyPr wrap="square" lIns="0" tIns="0" rIns="0" bIns="0" rtlCol="0" anchor="t"/>
          <a:lstStyle/>
          <a:p>
            <a:pPr indent="0" marL="0">
              <a:buNone/>
            </a:pPr>
            <a:r>
              <a:rPr lang="en-US" sz="4600" b="1" dirty="0">
                <a:solidFill>
                  <a:srgbClr val="FFFFFF"/>
                </a:solidFill>
                <a:latin typeface="Segoe UI" pitchFamily="34" charset="0"/>
                <a:ea typeface="Segoe UI" pitchFamily="34" charset="-122"/>
                <a:cs typeface="Segoe UI" pitchFamily="34" charset="-120"/>
              </a:rPr>
              <a:t>Hear the scam before you pay for it</a:t>
            </a:r>
            <a:endParaRPr lang="en-US" sz="4600" dirty="0"/>
          </a:p>
        </p:txBody>
      </p:sp>
      <p:sp>
        <p:nvSpPr>
          <p:cNvPr id="9" name="!!subline"/>
          <p:cNvSpPr txBox="1"/>
          <p:nvPr/>
        </p:nvSpPr>
        <p:spPr>
          <a:xfrm>
            <a:off x="731520" y="3840480"/>
            <a:ext cx="5669280" cy="1005840"/>
          </a:xfrm>
          <a:prstGeom prst="rect">
            <a:avLst/>
          </a:prstGeom>
          <a:noFill/>
          <a:ln/>
        </p:spPr>
        <p:txBody>
          <a:bodyPr wrap="square" lIns="0" tIns="0" rIns="0" bIns="0" rtlCol="0" anchor="t"/>
          <a:lstStyle/>
          <a:p>
            <a:pPr indent="0" marL="0">
              <a:buNone/>
            </a:pPr>
            <a:r>
              <a:rPr lang="en-US" sz="1800" dirty="0">
                <a:solidFill>
                  <a:srgbClr val="A9B6C3"/>
                </a:solidFill>
                <a:latin typeface="Segoe UI" pitchFamily="34" charset="0"/>
                <a:ea typeface="Segoe UI" pitchFamily="34" charset="-122"/>
                <a:cs typeface="Segoe UI" pitchFamily="34" charset="-120"/>
              </a:rPr>
              <a:t>Edgerunners warns you during a call, in Punjabi, Hindi or English, on any Android phone. Only you hear it.</a:t>
            </a:r>
            <a:endParaRPr lang="en-US" sz="1800" dirty="0"/>
          </a:p>
        </p:txBody>
      </p:sp>
      <p:sp>
        <p:nvSpPr>
          <p:cNvPr id="10" name="btn-Jump to the demo"/>
          <p:cNvSpPr txBox="1"/>
          <p:nvPr/>
        </p:nvSpPr>
        <p:spPr>
          <a:xfrm>
            <a:off x="731520" y="5440680"/>
            <a:ext cx="2651760" cy="566928"/>
          </a:xfrm>
          <a:prstGeom prst="roundRect">
            <a:avLst>
              <a:gd name="adj" fmla="val 29032"/>
            </a:avLst>
          </a:prstGeom>
          <a:solidFill>
            <a:srgbClr val="0E1A27"/>
          </a:solidFill>
          <a:ln w="19050">
            <a:solidFill>
              <a:srgbClr val="5C7088"/>
            </a:solid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Jump to the demo</a:t>
            </a:r>
            <a:endParaRPr lang="en-US" sz="1600" dirty="0"/>
          </a:p>
        </p:txBody>
      </p:sp>
      <p:pic>
        <p:nvPicPr>
          <p:cNvPr id="11" name="hot-Jump to the demo" descr="Jump to the demo">
            <a:hlinkClick r:id="rId3" tooltip="Jump to the demo" action="ppaction://hlinksldjump"/>
          </p:cNvPr>
          <p:cNvPicPr>
            <a:picLocks noChangeAspect="1"/>
          </p:cNvPicPr>
          <p:nvPr/>
        </p:nvPicPr>
        <p:blipFill>
          <a:blip r:embed="rId2"/>
          <a:stretch>
            <a:fillRect/>
          </a:stretch>
        </p:blipFill>
        <p:spPr>
          <a:xfrm>
            <a:off x="731520" y="5440680"/>
            <a:ext cx="2651760" cy="56692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halo-r3"/>
          <p:cNvSpPr/>
          <p:nvPr/>
        </p:nvSpPr>
        <p:spPr>
          <a:xfrm>
            <a:off x="10664190" y="240030"/>
            <a:ext cx="1257300" cy="1257300"/>
          </a:xfrm>
          <a:prstGeom prst="ellipse">
            <a:avLst/>
          </a:prstGeom>
          <a:solidFill>
            <a:srgbClr val="226192">
              <a:alpha val="0"/>
            </a:srgbClr>
          </a:solidFill>
          <a:ln w="13970">
            <a:solidFill>
              <a:srgbClr val="226192">
                <a:alpha val="18000"/>
              </a:srgbClr>
            </a:solidFill>
            <a:prstDash val="solid"/>
          </a:ln>
        </p:spPr>
      </p:sp>
      <p:sp>
        <p:nvSpPr>
          <p:cNvPr id="3" name="!!halo-r2"/>
          <p:cNvSpPr/>
          <p:nvPr/>
        </p:nvSpPr>
        <p:spPr>
          <a:xfrm>
            <a:off x="10812780" y="388620"/>
            <a:ext cx="960120" cy="960120"/>
          </a:xfrm>
          <a:prstGeom prst="ellipse">
            <a:avLst/>
          </a:prstGeom>
          <a:solidFill>
            <a:srgbClr val="226192">
              <a:alpha val="0"/>
            </a:srgbClr>
          </a:solidFill>
          <a:ln w="13970">
            <a:solidFill>
              <a:srgbClr val="226192">
                <a:alpha val="36000"/>
              </a:srgbClr>
            </a:solidFill>
            <a:prstDash val="solid"/>
          </a:ln>
        </p:spPr>
      </p:sp>
      <p:sp>
        <p:nvSpPr>
          <p:cNvPr id="4" name="!!halo-r1"/>
          <p:cNvSpPr/>
          <p:nvPr/>
        </p:nvSpPr>
        <p:spPr>
          <a:xfrm>
            <a:off x="10949940" y="525780"/>
            <a:ext cx="685800" cy="685800"/>
          </a:xfrm>
          <a:prstGeom prst="ellipse">
            <a:avLst/>
          </a:prstGeom>
          <a:solidFill>
            <a:srgbClr val="226192">
              <a:alpha val="0"/>
            </a:srgbClr>
          </a:solidFill>
          <a:ln w="13970">
            <a:solidFill>
              <a:srgbClr val="226192">
                <a:alpha val="60000"/>
              </a:srgbClr>
            </a:solidFill>
            <a:prstDash val="solid"/>
          </a:ln>
        </p:spPr>
      </p:sp>
      <p:sp>
        <p:nvSpPr>
          <p:cNvPr id="5" name="!!halo-core"/>
          <p:cNvSpPr/>
          <p:nvPr/>
        </p:nvSpPr>
        <p:spPr>
          <a:xfrm>
            <a:off x="11064240" y="640080"/>
            <a:ext cx="457200" cy="457200"/>
          </a:xfrm>
          <a:prstGeom prst="ellipse">
            <a:avLst/>
          </a:prstGeom>
          <a:solidFill>
            <a:srgbClr val="226192"/>
          </a:solidFill>
          <a:ln w="12700">
            <a:solidFill>
              <a:srgbClr val="226192"/>
            </a:solidFill>
            <a:prstDash val="solid"/>
          </a:ln>
        </p:spPr>
      </p:sp>
      <p:pic>
        <p:nvPicPr>
          <p:cNvPr id="6" name="!!halo-icon" descr="Scam check">    </p:cNvPr>
          <p:cNvPicPr>
            <a:picLocks noChangeAspect="1"/>
          </p:cNvPicPr>
          <p:nvPr/>
        </p:nvPicPr>
        <p:blipFill>
          <a:blip r:embed="rId1"/>
          <a:stretch>
            <a:fillRect/>
          </a:stretch>
        </p:blipFill>
        <p:spPr>
          <a:xfrm>
            <a:off x="11173968" y="749808"/>
            <a:ext cx="237744" cy="237744"/>
          </a:xfrm>
          <a:prstGeom prst="rect">
            <a:avLst/>
          </a:prstGeom>
        </p:spPr>
      </p:pic>
      <p:sp>
        <p:nvSpPr>
          <p:cNvPr id="7" name="!!kicker"/>
          <p:cNvSpPr txBox="1"/>
          <p:nvPr/>
        </p:nvSpPr>
        <p:spPr>
          <a:xfrm>
            <a:off x="731520" y="685800"/>
            <a:ext cx="5486400" cy="320040"/>
          </a:xfrm>
          <a:prstGeom prst="rect">
            <a:avLst/>
          </a:prstGeom>
          <a:noFill/>
          <a:ln/>
        </p:spPr>
        <p:txBody>
          <a:bodyPr wrap="square" lIns="0" tIns="0" rIns="0" bIns="0" rtlCol="0" anchor="t"/>
          <a:lstStyle/>
          <a:p>
            <a:pPr indent="0" marL="0">
              <a:buNone/>
            </a:pPr>
            <a:r>
              <a:rPr lang="en-US" sz="1400" b="1" spc="200" kern="0" dirty="0">
                <a:solidFill>
                  <a:srgbClr val="226192"/>
                </a:solidFill>
                <a:latin typeface="Segoe UI" pitchFamily="34" charset="0"/>
                <a:ea typeface="Segoe UI" pitchFamily="34" charset="-122"/>
                <a:cs typeface="Segoe UI" pitchFamily="34" charset="-120"/>
              </a:rPr>
              <a:t>THE CALL</a:t>
            </a:r>
            <a:endParaRPr lang="en-US" sz="1400" dirty="0"/>
          </a:p>
        </p:txBody>
      </p:sp>
      <p:sp>
        <p:nvSpPr>
          <p:cNvPr id="8" name="!!headline"/>
          <p:cNvSpPr txBox="1"/>
          <p:nvPr/>
        </p:nvSpPr>
        <p:spPr>
          <a:xfrm>
            <a:off x="731520" y="1051560"/>
            <a:ext cx="9601200" cy="731520"/>
          </a:xfrm>
          <a:prstGeom prst="rect">
            <a:avLst/>
          </a:prstGeom>
          <a:noFill/>
          <a:ln/>
        </p:spPr>
        <p:txBody>
          <a:bodyPr wrap="square" lIns="0" tIns="0" rIns="0" bIns="0" rtlCol="0" anchor="t"/>
          <a:lstStyle/>
          <a:p>
            <a:pPr indent="0" marL="0">
              <a:buNone/>
            </a:pPr>
            <a:r>
              <a:rPr lang="en-US" sz="3600" b="1" dirty="0">
                <a:solidFill>
                  <a:srgbClr val="1F2937"/>
                </a:solidFill>
                <a:latin typeface="Segoe UI" pitchFamily="34" charset="0"/>
                <a:ea typeface="Segoe UI" pitchFamily="34" charset="-122"/>
                <a:cs typeface="Segoe UI" pitchFamily="34" charset="-120"/>
              </a:rPr>
              <a:t>A “bank officer” makes one request</a:t>
            </a:r>
            <a:endParaRPr lang="en-US" sz="3600" dirty="0"/>
          </a:p>
        </p:txBody>
      </p:sp>
      <p:sp>
        <p:nvSpPr>
          <p:cNvPr id="9" name="quote-bg"/>
          <p:cNvSpPr/>
          <p:nvPr/>
        </p:nvSpPr>
        <p:spPr>
          <a:xfrm>
            <a:off x="731520" y="2240280"/>
            <a:ext cx="6766560" cy="2926080"/>
          </a:xfrm>
          <a:prstGeom prst="roundRect">
            <a:avLst>
              <a:gd name="adj" fmla="val 9375"/>
            </a:avLst>
          </a:prstGeom>
          <a:solidFill>
            <a:srgbClr val="FFFFFF"/>
          </a:solidFill>
          <a:ln w="12700">
            <a:solidFill>
              <a:srgbClr val="E6E8EB"/>
            </a:solidFill>
            <a:prstDash val="solid"/>
          </a:ln>
          <a:effectLst>
            <a:outerShdw sx="100000" sy="100000" kx="0" ky="0" algn="bl" rotWithShape="0" blurRad="152400" dist="38100" dir="5400000">
              <a:srgbClr val="1F2937">
                <a:alpha val="8000"/>
              </a:srgbClr>
            </a:outerShdw>
          </a:effectLst>
        </p:spPr>
      </p:sp>
      <p:pic>
        <p:nvPicPr>
          <p:cNvPr id="10" name="quote-icon" descr="preencoded.png">    </p:cNvPr>
          <p:cNvPicPr>
            <a:picLocks noChangeAspect="1"/>
          </p:cNvPicPr>
          <p:nvPr/>
        </p:nvPicPr>
        <p:blipFill>
          <a:blip r:embed="rId2"/>
          <a:stretch>
            <a:fillRect/>
          </a:stretch>
        </p:blipFill>
        <p:spPr>
          <a:xfrm>
            <a:off x="1097280" y="2606040"/>
            <a:ext cx="411480" cy="411480"/>
          </a:xfrm>
          <a:prstGeom prst="rect">
            <a:avLst/>
          </a:prstGeom>
        </p:spPr>
      </p:pic>
      <p:sp>
        <p:nvSpPr>
          <p:cNvPr id="11" name="!!subline"/>
          <p:cNvSpPr txBox="1"/>
          <p:nvPr/>
        </p:nvSpPr>
        <p:spPr>
          <a:xfrm>
            <a:off x="1097280" y="3200400"/>
            <a:ext cx="6035040" cy="1737360"/>
          </a:xfrm>
          <a:prstGeom prst="rect">
            <a:avLst/>
          </a:prstGeom>
          <a:noFill/>
          <a:ln/>
        </p:spPr>
        <p:txBody>
          <a:bodyPr wrap="square" lIns="0" tIns="0" rIns="0" bIns="0" rtlCol="0" anchor="t"/>
          <a:lstStyle/>
          <a:p>
            <a:pPr indent="0" marL="0">
              <a:buNone/>
            </a:pPr>
            <a:r>
              <a:rPr lang="en-US" sz="3000" i="1" dirty="0">
                <a:solidFill>
                  <a:srgbClr val="1F2937"/>
                </a:solidFill>
                <a:latin typeface="Segoe UI" pitchFamily="34" charset="0"/>
                <a:ea typeface="Segoe UI" pitchFamily="34" charset="-122"/>
                <a:cs typeface="Segoe UI" pitchFamily="34" charset="-120"/>
              </a:rPr>
              <a:t>“We've blocked a ₹49,800 charge on your card. Read me the OTP so I can cancel it.”</a:t>
            </a:r>
            <a:endParaRPr lang="en-US" sz="3000" dirty="0"/>
          </a:p>
        </p:txBody>
      </p:sp>
      <p:sp>
        <p:nvSpPr>
          <p:cNvPr id="12" name="quote-note"/>
          <p:cNvSpPr txBox="1"/>
          <p:nvPr/>
        </p:nvSpPr>
        <p:spPr>
          <a:xfrm>
            <a:off x="731520" y="5486400"/>
            <a:ext cx="6766560" cy="365760"/>
          </a:xfrm>
          <a:prstGeom prst="rect">
            <a:avLst/>
          </a:prstGeom>
          <a:noFill/>
          <a:ln/>
        </p:spPr>
        <p:txBody>
          <a:bodyPr wrap="square" lIns="0" tIns="0" rIns="0" bIns="0" rtlCol="0" anchor="t"/>
          <a:lstStyle/>
          <a:p>
            <a:pPr indent="0" marL="0">
              <a:buNone/>
            </a:pPr>
            <a:r>
              <a:rPr lang="en-US" sz="1600" dirty="0">
                <a:solidFill>
                  <a:srgbClr val="4B5563"/>
                </a:solidFill>
                <a:latin typeface="Segoe UI" pitchFamily="34" charset="0"/>
                <a:ea typeface="Segoe UI" pitchFamily="34" charset="-122"/>
                <a:cs typeface="Segoe UI" pitchFamily="34" charset="-120"/>
              </a:rPr>
              <a:t>It sounds reasonable in the moment. That's why it works.</a:t>
            </a:r>
            <a:endParaRPr lang="en-US" sz="1600" dirty="0"/>
          </a:p>
        </p:txBody>
      </p:sp>
      <p:sp>
        <p:nvSpPr>
          <p:cNvPr id="13" name="!!qr-bg"/>
          <p:cNvSpPr/>
          <p:nvPr/>
        </p:nvSpPr>
        <p:spPr>
          <a:xfrm>
            <a:off x="8229600" y="2240280"/>
            <a:ext cx="2926080" cy="2926080"/>
          </a:xfrm>
          <a:prstGeom prst="roundRect">
            <a:avLst>
              <a:gd name="adj" fmla="val 12500"/>
            </a:avLst>
          </a:prstGeom>
          <a:solidFill>
            <a:srgbClr val="E3EDF5"/>
          </a:solidFill>
          <a:ln w="12700">
            <a:solidFill>
              <a:srgbClr val="E3EDF5"/>
            </a:solidFill>
            <a:prstDash val="solid"/>
          </a:ln>
        </p:spPr>
      </p:sp>
      <p:pic>
        <p:nvPicPr>
          <p:cNvPr id="14" name="!!qr" descr="preencoded.png">    </p:cNvPr>
          <p:cNvPicPr>
            <a:picLocks noChangeAspect="1"/>
          </p:cNvPicPr>
          <p:nvPr/>
        </p:nvPicPr>
        <p:blipFill>
          <a:blip r:embed="rId3"/>
          <a:stretch>
            <a:fillRect/>
          </a:stretch>
        </p:blipFill>
        <p:spPr>
          <a:xfrm>
            <a:off x="8641080" y="2651760"/>
            <a:ext cx="2103120" cy="210312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halo-r3"/>
          <p:cNvSpPr/>
          <p:nvPr/>
        </p:nvSpPr>
        <p:spPr>
          <a:xfrm>
            <a:off x="10664190" y="240030"/>
            <a:ext cx="1257300" cy="1257300"/>
          </a:xfrm>
          <a:prstGeom prst="ellipse">
            <a:avLst/>
          </a:prstGeom>
          <a:solidFill>
            <a:srgbClr val="F5B83D">
              <a:alpha val="0"/>
            </a:srgbClr>
          </a:solidFill>
          <a:ln w="13970">
            <a:solidFill>
              <a:srgbClr val="F5B83D">
                <a:alpha val="30000"/>
              </a:srgbClr>
            </a:solidFill>
            <a:prstDash val="solid"/>
          </a:ln>
        </p:spPr>
      </p:sp>
      <p:sp>
        <p:nvSpPr>
          <p:cNvPr id="3" name="!!halo-r2"/>
          <p:cNvSpPr/>
          <p:nvPr/>
        </p:nvSpPr>
        <p:spPr>
          <a:xfrm>
            <a:off x="10812780" y="388620"/>
            <a:ext cx="960120" cy="960120"/>
          </a:xfrm>
          <a:prstGeom prst="ellipse">
            <a:avLst/>
          </a:prstGeom>
          <a:solidFill>
            <a:srgbClr val="F5B83D">
              <a:alpha val="0"/>
            </a:srgbClr>
          </a:solidFill>
          <a:ln w="13970">
            <a:solidFill>
              <a:srgbClr val="F5B83D">
                <a:alpha val="58000"/>
              </a:srgbClr>
            </a:solidFill>
            <a:prstDash val="solid"/>
          </a:ln>
        </p:spPr>
      </p:sp>
      <p:sp>
        <p:nvSpPr>
          <p:cNvPr id="4" name="!!halo-r1"/>
          <p:cNvSpPr/>
          <p:nvPr/>
        </p:nvSpPr>
        <p:spPr>
          <a:xfrm>
            <a:off x="10949940" y="525780"/>
            <a:ext cx="685800" cy="685800"/>
          </a:xfrm>
          <a:prstGeom prst="ellipse">
            <a:avLst/>
          </a:prstGeom>
          <a:solidFill>
            <a:srgbClr val="F5B83D">
              <a:alpha val="0"/>
            </a:srgbClr>
          </a:solidFill>
          <a:ln w="13970">
            <a:solidFill>
              <a:srgbClr val="F5B83D">
                <a:alpha val="90000"/>
              </a:srgbClr>
            </a:solidFill>
            <a:prstDash val="solid"/>
          </a:ln>
        </p:spPr>
      </p:sp>
      <p:sp>
        <p:nvSpPr>
          <p:cNvPr id="5" name="!!halo-core"/>
          <p:cNvSpPr/>
          <p:nvPr/>
        </p:nvSpPr>
        <p:spPr>
          <a:xfrm>
            <a:off x="11064240" y="640080"/>
            <a:ext cx="457200" cy="457200"/>
          </a:xfrm>
          <a:prstGeom prst="ellipse">
            <a:avLst/>
          </a:prstGeom>
          <a:solidFill>
            <a:srgbClr val="3A2A08"/>
          </a:solidFill>
          <a:ln w="12700">
            <a:solidFill>
              <a:srgbClr val="3A2A08"/>
            </a:solidFill>
            <a:prstDash val="solid"/>
          </a:ln>
        </p:spPr>
      </p:sp>
      <p:pic>
        <p:nvPicPr>
          <p:cNvPr id="6" name="!!halo-icon" descr="Scam check">    </p:cNvPr>
          <p:cNvPicPr>
            <a:picLocks noChangeAspect="1"/>
          </p:cNvPicPr>
          <p:nvPr/>
        </p:nvPicPr>
        <p:blipFill>
          <a:blip r:embed="rId1"/>
          <a:stretch>
            <a:fillRect/>
          </a:stretch>
        </p:blipFill>
        <p:spPr>
          <a:xfrm>
            <a:off x="11173968" y="749808"/>
            <a:ext cx="237744" cy="237744"/>
          </a:xfrm>
          <a:prstGeom prst="rect">
            <a:avLst/>
          </a:prstGeom>
        </p:spPr>
      </p:pic>
      <p:sp>
        <p:nvSpPr>
          <p:cNvPr id="7" name="!!kicker"/>
          <p:cNvSpPr txBox="1"/>
          <p:nvPr/>
        </p:nvSpPr>
        <p:spPr>
          <a:xfrm>
            <a:off x="731520" y="685800"/>
            <a:ext cx="5486400" cy="320040"/>
          </a:xfrm>
          <a:prstGeom prst="rect">
            <a:avLst/>
          </a:prstGeom>
          <a:noFill/>
          <a:ln/>
        </p:spPr>
        <p:txBody>
          <a:bodyPr wrap="square" lIns="0" tIns="0" rIns="0" bIns="0" rtlCol="0" anchor="t"/>
          <a:lstStyle/>
          <a:p>
            <a:pPr indent="0" marL="0">
              <a:buNone/>
            </a:pPr>
            <a:r>
              <a:rPr lang="en-US" sz="1400" b="1" spc="200" kern="0" dirty="0">
                <a:solidFill>
                  <a:srgbClr val="B26A00"/>
                </a:solidFill>
                <a:latin typeface="Segoe UI" pitchFamily="34" charset="0"/>
                <a:ea typeface="Segoe UI" pitchFamily="34" charset="-122"/>
                <a:cs typeface="Segoe UI" pitchFamily="34" charset="-120"/>
              </a:rPr>
              <a:t>THE TRICK</a:t>
            </a:r>
            <a:endParaRPr lang="en-US" sz="1400" dirty="0"/>
          </a:p>
        </p:txBody>
      </p:sp>
      <p:sp>
        <p:nvSpPr>
          <p:cNvPr id="8" name="!!headline"/>
          <p:cNvSpPr txBox="1"/>
          <p:nvPr/>
        </p:nvSpPr>
        <p:spPr>
          <a:xfrm>
            <a:off x="731520" y="1051560"/>
            <a:ext cx="9601200" cy="731520"/>
          </a:xfrm>
          <a:prstGeom prst="rect">
            <a:avLst/>
          </a:prstGeom>
          <a:noFill/>
          <a:ln/>
        </p:spPr>
        <p:txBody>
          <a:bodyPr wrap="square" lIns="0" tIns="0" rIns="0" bIns="0" rtlCol="0" anchor="t"/>
          <a:lstStyle/>
          <a:p>
            <a:pPr indent="0" marL="0">
              <a:buNone/>
            </a:pPr>
            <a:r>
              <a:rPr lang="en-US" sz="3600" b="1" dirty="0">
                <a:solidFill>
                  <a:srgbClr val="1F2937"/>
                </a:solidFill>
                <a:latin typeface="Segoe UI" pitchFamily="34" charset="0"/>
                <a:ea typeface="Segoe UI" pitchFamily="34" charset="-122"/>
                <a:cs typeface="Segoe UI" pitchFamily="34" charset="-120"/>
              </a:rPr>
              <a:t>An OTP approves the payment, not cancels it</a:t>
            </a:r>
            <a:endParaRPr lang="en-US" sz="3600" dirty="0"/>
          </a:p>
        </p:txBody>
      </p:sp>
      <p:sp>
        <p:nvSpPr>
          <p:cNvPr id="9" name="trick-card-0"/>
          <p:cNvSpPr/>
          <p:nvPr/>
        </p:nvSpPr>
        <p:spPr>
          <a:xfrm>
            <a:off x="731520" y="2240280"/>
            <a:ext cx="3291840" cy="3017520"/>
          </a:xfrm>
          <a:prstGeom prst="roundRect">
            <a:avLst>
              <a:gd name="adj" fmla="val 8485"/>
            </a:avLst>
          </a:prstGeom>
          <a:solidFill>
            <a:srgbClr val="FFFFFF"/>
          </a:solidFill>
          <a:ln w="12700">
            <a:solidFill>
              <a:srgbClr val="E6E8EB"/>
            </a:solidFill>
            <a:prstDash val="solid"/>
          </a:ln>
        </p:spPr>
      </p:sp>
      <p:sp>
        <p:nvSpPr>
          <p:cNvPr id="10" name="trick-num-0"/>
          <p:cNvSpPr txBox="1"/>
          <p:nvPr/>
        </p:nvSpPr>
        <p:spPr>
          <a:xfrm>
            <a:off x="1051560" y="2560320"/>
            <a:ext cx="640080" cy="640080"/>
          </a:xfrm>
          <a:prstGeom prst="ellipse">
            <a:avLst/>
          </a:prstGeom>
          <a:solidFill>
            <a:srgbClr val="E3EDF5"/>
          </a:solidFill>
          <a:ln/>
        </p:spPr>
        <p:txBody>
          <a:bodyPr wrap="square" lIns="0" tIns="0" rIns="0" bIns="0" rtlCol="0" anchor="ctr"/>
          <a:lstStyle/>
          <a:p>
            <a:pPr algn="ctr" indent="0" marL="0">
              <a:buNone/>
            </a:pPr>
            <a:r>
              <a:rPr lang="en-US" sz="2200" b="1" dirty="0">
                <a:solidFill>
                  <a:srgbClr val="123A58"/>
                </a:solidFill>
                <a:latin typeface="Segoe UI" pitchFamily="34" charset="0"/>
                <a:ea typeface="Segoe UI" pitchFamily="34" charset="-122"/>
                <a:cs typeface="Segoe UI" pitchFamily="34" charset="-120"/>
              </a:rPr>
              <a:t>1</a:t>
            </a:r>
            <a:endParaRPr lang="en-US" sz="2200" dirty="0"/>
          </a:p>
        </p:txBody>
      </p:sp>
      <p:sp>
        <p:nvSpPr>
          <p:cNvPr id="11" name="trick-title-0"/>
          <p:cNvSpPr txBox="1"/>
          <p:nvPr/>
        </p:nvSpPr>
        <p:spPr>
          <a:xfrm>
            <a:off x="1051560" y="3383280"/>
            <a:ext cx="2651760" cy="82296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They scare you first</a:t>
            </a:r>
            <a:endParaRPr lang="en-US" sz="2000" dirty="0"/>
          </a:p>
        </p:txBody>
      </p:sp>
      <p:sp>
        <p:nvSpPr>
          <p:cNvPr id="12" name="trick-body-0"/>
          <p:cNvSpPr txBox="1"/>
          <p:nvPr/>
        </p:nvSpPr>
        <p:spPr>
          <a:xfrm>
            <a:off x="1051560" y="4206240"/>
            <a:ext cx="2651760" cy="91440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A “fraud officer” quotes your card digits, says ₹49,800 is leaving, and triggers a real OTP.</a:t>
            </a:r>
            <a:endParaRPr lang="en-US" sz="1500" dirty="0"/>
          </a:p>
        </p:txBody>
      </p:sp>
      <p:pic>
        <p:nvPicPr>
          <p:cNvPr id="13" name="trick-arrow-0" descr="preencoded.png">    </p:cNvPr>
          <p:cNvPicPr>
            <a:picLocks noChangeAspect="1"/>
          </p:cNvPicPr>
          <p:nvPr/>
        </p:nvPicPr>
        <p:blipFill>
          <a:blip r:embed="rId2"/>
          <a:stretch>
            <a:fillRect/>
          </a:stretch>
        </p:blipFill>
        <p:spPr>
          <a:xfrm>
            <a:off x="4041648" y="3566160"/>
            <a:ext cx="329184" cy="329184"/>
          </a:xfrm>
          <a:prstGeom prst="rect">
            <a:avLst/>
          </a:prstGeom>
        </p:spPr>
      </p:pic>
      <p:sp>
        <p:nvSpPr>
          <p:cNvPr id="14" name="trick-card-1"/>
          <p:cNvSpPr/>
          <p:nvPr/>
        </p:nvSpPr>
        <p:spPr>
          <a:xfrm>
            <a:off x="4389120" y="2240280"/>
            <a:ext cx="3291840" cy="3017520"/>
          </a:xfrm>
          <a:prstGeom prst="roundRect">
            <a:avLst>
              <a:gd name="adj" fmla="val 8485"/>
            </a:avLst>
          </a:prstGeom>
          <a:solidFill>
            <a:srgbClr val="FFFFFF"/>
          </a:solidFill>
          <a:ln w="12700">
            <a:solidFill>
              <a:srgbClr val="E6E8EB"/>
            </a:solidFill>
            <a:prstDash val="solid"/>
          </a:ln>
        </p:spPr>
      </p:sp>
      <p:sp>
        <p:nvSpPr>
          <p:cNvPr id="15" name="trick-num-1"/>
          <p:cNvSpPr txBox="1"/>
          <p:nvPr/>
        </p:nvSpPr>
        <p:spPr>
          <a:xfrm>
            <a:off x="4709160" y="2560320"/>
            <a:ext cx="640080" cy="640080"/>
          </a:xfrm>
          <a:prstGeom prst="ellipse">
            <a:avLst/>
          </a:prstGeom>
          <a:solidFill>
            <a:srgbClr val="FFF4DC"/>
          </a:solidFill>
          <a:ln/>
        </p:spPr>
        <p:txBody>
          <a:bodyPr wrap="square" lIns="0" tIns="0" rIns="0" bIns="0" rtlCol="0" anchor="ctr"/>
          <a:lstStyle/>
          <a:p>
            <a:pPr algn="ctr" indent="0" marL="0">
              <a:buNone/>
            </a:pPr>
            <a:r>
              <a:rPr lang="en-US" sz="2200" b="1" dirty="0">
                <a:solidFill>
                  <a:srgbClr val="6B4300"/>
                </a:solidFill>
                <a:latin typeface="Segoe UI" pitchFamily="34" charset="0"/>
                <a:ea typeface="Segoe UI" pitchFamily="34" charset="-122"/>
                <a:cs typeface="Segoe UI" pitchFamily="34" charset="-120"/>
              </a:rPr>
              <a:t>2</a:t>
            </a:r>
            <a:endParaRPr lang="en-US" sz="2200" dirty="0"/>
          </a:p>
        </p:txBody>
      </p:sp>
      <p:sp>
        <p:nvSpPr>
          <p:cNvPr id="16" name="trick-title-1"/>
          <p:cNvSpPr txBox="1"/>
          <p:nvPr/>
        </p:nvSpPr>
        <p:spPr>
          <a:xfrm>
            <a:off x="4709160" y="3383280"/>
            <a:ext cx="2651760" cy="82296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You read out the OTP</a:t>
            </a:r>
            <a:endParaRPr lang="en-US" sz="2000" dirty="0"/>
          </a:p>
        </p:txBody>
      </p:sp>
      <p:sp>
        <p:nvSpPr>
          <p:cNvPr id="17" name="trick-body-1"/>
          <p:cNvSpPr txBox="1"/>
          <p:nvPr/>
        </p:nvSpPr>
        <p:spPr>
          <a:xfrm>
            <a:off x="4709160" y="4206240"/>
            <a:ext cx="2651760" cy="91440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That code authorises the payment. It does not stop it.</a:t>
            </a:r>
            <a:endParaRPr lang="en-US" sz="1500" dirty="0"/>
          </a:p>
        </p:txBody>
      </p:sp>
      <p:pic>
        <p:nvPicPr>
          <p:cNvPr id="18" name="trick-arrow-1" descr="preencoded.png">    </p:cNvPr>
          <p:cNvPicPr>
            <a:picLocks noChangeAspect="1"/>
          </p:cNvPicPr>
          <p:nvPr/>
        </p:nvPicPr>
        <p:blipFill>
          <a:blip r:embed="rId3"/>
          <a:stretch>
            <a:fillRect/>
          </a:stretch>
        </p:blipFill>
        <p:spPr>
          <a:xfrm>
            <a:off x="7699248" y="3566160"/>
            <a:ext cx="329184" cy="329184"/>
          </a:xfrm>
          <a:prstGeom prst="rect">
            <a:avLst/>
          </a:prstGeom>
        </p:spPr>
      </p:pic>
      <p:sp>
        <p:nvSpPr>
          <p:cNvPr id="19" name="trick-card-2"/>
          <p:cNvSpPr/>
          <p:nvPr/>
        </p:nvSpPr>
        <p:spPr>
          <a:xfrm>
            <a:off x="8046720" y="2240280"/>
            <a:ext cx="3291840" cy="3017520"/>
          </a:xfrm>
          <a:prstGeom prst="roundRect">
            <a:avLst>
              <a:gd name="adj" fmla="val 8485"/>
            </a:avLst>
          </a:prstGeom>
          <a:solidFill>
            <a:srgbClr val="FFFFFF"/>
          </a:solidFill>
          <a:ln w="12700">
            <a:solidFill>
              <a:srgbClr val="E6E8EB"/>
            </a:solidFill>
            <a:prstDash val="solid"/>
          </a:ln>
        </p:spPr>
      </p:sp>
      <p:sp>
        <p:nvSpPr>
          <p:cNvPr id="20" name="trick-num-2"/>
          <p:cNvSpPr txBox="1"/>
          <p:nvPr/>
        </p:nvSpPr>
        <p:spPr>
          <a:xfrm>
            <a:off x="8366760" y="2560320"/>
            <a:ext cx="640080" cy="640080"/>
          </a:xfrm>
          <a:prstGeom prst="ellipse">
            <a:avLst/>
          </a:prstGeom>
          <a:solidFill>
            <a:srgbClr val="FBE3E1"/>
          </a:solidFill>
          <a:ln/>
        </p:spPr>
        <p:txBody>
          <a:bodyPr wrap="square" lIns="0" tIns="0" rIns="0" bIns="0" rtlCol="0" anchor="ctr"/>
          <a:lstStyle/>
          <a:p>
            <a:pPr algn="ctr" indent="0" marL="0">
              <a:buNone/>
            </a:pPr>
            <a:r>
              <a:rPr lang="en-US" sz="2200" b="1" dirty="0">
                <a:solidFill>
                  <a:srgbClr val="8A1C14"/>
                </a:solidFill>
                <a:latin typeface="Segoe UI" pitchFamily="34" charset="0"/>
                <a:ea typeface="Segoe UI" pitchFamily="34" charset="-122"/>
                <a:cs typeface="Segoe UI" pitchFamily="34" charset="-120"/>
              </a:rPr>
              <a:t>3</a:t>
            </a:r>
            <a:endParaRPr lang="en-US" sz="2200" dirty="0"/>
          </a:p>
        </p:txBody>
      </p:sp>
      <p:sp>
        <p:nvSpPr>
          <p:cNvPr id="21" name="trick-title-2"/>
          <p:cNvSpPr txBox="1"/>
          <p:nvPr/>
        </p:nvSpPr>
        <p:spPr>
          <a:xfrm>
            <a:off x="8366760" y="3383280"/>
            <a:ext cx="2651760" cy="82296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The money is gone</a:t>
            </a:r>
            <a:endParaRPr lang="en-US" sz="2000" dirty="0"/>
          </a:p>
        </p:txBody>
      </p:sp>
      <p:sp>
        <p:nvSpPr>
          <p:cNvPr id="22" name="trick-body-2"/>
          <p:cNvSpPr txBox="1"/>
          <p:nvPr/>
        </p:nvSpPr>
        <p:spPr>
          <a:xfrm>
            <a:off x="8366760" y="4206240"/>
            <a:ext cx="2651760" cy="91440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The “officer” hangs up. A two-minute countdown kept you from thinking.</a:t>
            </a:r>
            <a:endParaRPr lang="en-US" sz="1500" dirty="0"/>
          </a:p>
        </p:txBody>
      </p:sp>
      <p:sp>
        <p:nvSpPr>
          <p:cNvPr id="23" name="!!qr-bg"/>
          <p:cNvSpPr/>
          <p:nvPr/>
        </p:nvSpPr>
        <p:spPr>
          <a:xfrm>
            <a:off x="1051560" y="2560320"/>
            <a:ext cx="640080" cy="640080"/>
          </a:xfrm>
          <a:prstGeom prst="roundRect">
            <a:avLst>
              <a:gd name="adj" fmla="val 50000"/>
            </a:avLst>
          </a:prstGeom>
          <a:solidFill>
            <a:srgbClr val="E3EDF5">
              <a:alpha val="0"/>
            </a:srgbClr>
          </a:solidFill>
          <a:ln w="12700">
            <a:solidFill>
              <a:srgbClr val="E3EDF5">
                <a:alpha val="0"/>
              </a:srgbClr>
            </a:solidFill>
            <a:prstDash val="solid"/>
          </a:ln>
        </p:spPr>
      </p:sp>
      <p:pic>
        <p:nvPicPr>
          <p:cNvPr id="24" name="!!qr" descr="preencoded.png">    </p:cNvPr>
          <p:cNvPicPr>
            <a:picLocks noChangeAspect="1"/>
          </p:cNvPicPr>
          <p:nvPr/>
        </p:nvPicPr>
        <p:blipFill>
          <a:blip r:embed="rId4">
            <a:alphaModFix amt="0"/>
          </a:blip>
          <a:stretch>
            <a:fillRect/>
          </a:stretch>
        </p:blipFill>
        <p:spPr>
          <a:xfrm>
            <a:off x="1188720" y="2697480"/>
            <a:ext cx="365760" cy="365760"/>
          </a:xfrm>
          <a:prstGeom prst="rect">
            <a:avLst/>
          </a:prstGeom>
        </p:spPr>
      </p:pic>
      <p:sp>
        <p:nvSpPr>
          <p:cNvPr id="25" name="!!subline"/>
          <p:cNvSpPr txBox="1"/>
          <p:nvPr/>
        </p:nvSpPr>
        <p:spPr>
          <a:xfrm>
            <a:off x="731520" y="5623560"/>
            <a:ext cx="10058400" cy="365760"/>
          </a:xfrm>
          <a:prstGeom prst="rect">
            <a:avLst/>
          </a:prstGeom>
          <a:noFill/>
          <a:ln/>
        </p:spPr>
        <p:txBody>
          <a:bodyPr wrap="square" lIns="0" tIns="0" rIns="0" bIns="0" rtlCol="0" anchor="t"/>
          <a:lstStyle/>
          <a:p>
            <a:pPr indent="0" marL="0">
              <a:buNone/>
            </a:pPr>
            <a:r>
              <a:rPr lang="en-US" sz="1400" dirty="0">
                <a:solidFill>
                  <a:srgbClr val="4B5563"/>
                </a:solidFill>
                <a:latin typeface="Segoe UI" pitchFamily="34" charset="0"/>
                <a:ea typeface="Segoe UI" pitchFamily="34" charset="-122"/>
                <a:cs typeface="Segoe UI" pitchFamily="34" charset="-120"/>
              </a:rPr>
              <a:t>Real banks never ask you to read out an OTP, least of all to cancel a charge.</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731520" y="685800"/>
            <a:ext cx="5486400" cy="320040"/>
          </a:xfrm>
          <a:prstGeom prst="rect">
            <a:avLst/>
          </a:prstGeom>
          <a:noFill/>
          <a:ln/>
        </p:spPr>
        <p:txBody>
          <a:bodyPr wrap="square" lIns="0" tIns="0" rIns="0" bIns="0" rtlCol="0" anchor="t"/>
          <a:lstStyle/>
          <a:p>
            <a:pPr indent="0" marL="0">
              <a:buNone/>
            </a:pPr>
            <a:r>
              <a:rPr lang="en-US" sz="1400" b="1" spc="200" kern="0" dirty="0">
                <a:solidFill>
                  <a:srgbClr val="226192"/>
                </a:solidFill>
                <a:latin typeface="Segoe UI" pitchFamily="34" charset="0"/>
                <a:ea typeface="Segoe UI" pitchFamily="34" charset="-122"/>
                <a:cs typeface="Segoe UI" pitchFamily="34" charset="-120"/>
              </a:rPr>
              <a:t>TODAY</a:t>
            </a:r>
            <a:endParaRPr lang="en-US" sz="1400" dirty="0"/>
          </a:p>
        </p:txBody>
      </p:sp>
      <p:sp>
        <p:nvSpPr>
          <p:cNvPr id="3" name="!!headline"/>
          <p:cNvSpPr txBox="1"/>
          <p:nvPr/>
        </p:nvSpPr>
        <p:spPr>
          <a:xfrm>
            <a:off x="731520" y="1051560"/>
            <a:ext cx="10515600" cy="731520"/>
          </a:xfrm>
          <a:prstGeom prst="rect">
            <a:avLst/>
          </a:prstGeom>
          <a:noFill/>
          <a:ln/>
        </p:spPr>
        <p:txBody>
          <a:bodyPr wrap="square" lIns="0" tIns="0" rIns="0" bIns="0" rtlCol="0" anchor="t"/>
          <a:lstStyle/>
          <a:p>
            <a:pPr indent="0" marL="0">
              <a:buNone/>
            </a:pPr>
            <a:r>
              <a:rPr lang="en-US" sz="3600" b="1" dirty="0">
                <a:solidFill>
                  <a:srgbClr val="1F2937"/>
                </a:solidFill>
                <a:latin typeface="Segoe UI" pitchFamily="34" charset="0"/>
                <a:ea typeface="Segoe UI" pitchFamily="34" charset="-122"/>
                <a:cs typeface="Segoe UI" pitchFamily="34" charset="-120"/>
              </a:rPr>
              <a:t>Today's protection watches the wrong thing</a:t>
            </a:r>
            <a:endParaRPr lang="en-US" sz="3600" dirty="0"/>
          </a:p>
        </p:txBody>
      </p:sp>
      <p:sp>
        <p:nvSpPr>
          <p:cNvPr id="4" name="today-card-0"/>
          <p:cNvSpPr/>
          <p:nvPr/>
        </p:nvSpPr>
        <p:spPr>
          <a:xfrm>
            <a:off x="731520" y="2194560"/>
            <a:ext cx="3291840" cy="3566160"/>
          </a:xfrm>
          <a:prstGeom prst="roundRect">
            <a:avLst>
              <a:gd name="adj" fmla="val 7778"/>
            </a:avLst>
          </a:prstGeom>
          <a:solidFill>
            <a:srgbClr val="FFFFFF"/>
          </a:solidFill>
          <a:ln w="12700">
            <a:solidFill>
              <a:srgbClr val="E6E8EB"/>
            </a:solidFill>
            <a:prstDash val="solid"/>
          </a:ln>
        </p:spPr>
      </p:sp>
      <p:sp>
        <p:nvSpPr>
          <p:cNvPr id="5" name="today-title-0"/>
          <p:cNvSpPr txBox="1"/>
          <p:nvPr/>
        </p:nvSpPr>
        <p:spPr>
          <a:xfrm>
            <a:off x="1051560" y="2514600"/>
            <a:ext cx="2651760" cy="73152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Google Scam Detection</a:t>
            </a:r>
            <a:endParaRPr lang="en-US" sz="2000" dirty="0"/>
          </a:p>
        </p:txBody>
      </p:sp>
      <p:sp>
        <p:nvSpPr>
          <p:cNvPr id="6" name="today-body-0"/>
          <p:cNvSpPr txBox="1"/>
          <p:nvPr/>
        </p:nvSpPr>
        <p:spPr>
          <a:xfrm>
            <a:off x="1051560" y="3291840"/>
            <a:ext cx="2651760" cy="118872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Warns during calls in Hindi and English, on a Pixel or a recent flagship.</a:t>
            </a:r>
            <a:endParaRPr lang="en-US" sz="1500" dirty="0"/>
          </a:p>
        </p:txBody>
      </p:sp>
      <p:sp>
        <p:nvSpPr>
          <p:cNvPr id="7" name="today-watch-0"/>
          <p:cNvSpPr txBox="1"/>
          <p:nvPr/>
        </p:nvSpPr>
        <p:spPr>
          <a:xfrm>
            <a:off x="1051560" y="4663440"/>
            <a:ext cx="2651760" cy="822960"/>
          </a:xfrm>
          <a:prstGeom prst="rect">
            <a:avLst/>
          </a:prstGeom>
          <a:noFill/>
          <a:ln/>
        </p:spPr>
        <p:txBody>
          <a:bodyPr wrap="square" lIns="0" tIns="0" rIns="0" bIns="0" rtlCol="0" anchor="t"/>
          <a:lstStyle/>
          <a:p>
            <a:pPr indent="0" marL="0">
              <a:buNone/>
            </a:pPr>
            <a:r>
              <a:rPr lang="en-US" sz="1300" b="1" dirty="0">
                <a:solidFill>
                  <a:srgbClr val="4B5563"/>
                </a:solidFill>
                <a:latin typeface="Segoe UI" pitchFamily="34" charset="0"/>
                <a:ea typeface="Segoe UI" pitchFamily="34" charset="-122"/>
                <a:cs typeface="Segoe UI" pitchFamily="34" charset="-120"/>
              </a:rPr>
              <a:t>Watches: the conversation, on expensive phones</a:t>
            </a:r>
            <a:endParaRPr lang="en-US" sz="1300" dirty="0"/>
          </a:p>
        </p:txBody>
      </p:sp>
      <p:sp>
        <p:nvSpPr>
          <p:cNvPr id="8" name="today-card-1"/>
          <p:cNvSpPr/>
          <p:nvPr/>
        </p:nvSpPr>
        <p:spPr>
          <a:xfrm>
            <a:off x="4389120" y="2194560"/>
            <a:ext cx="3291840" cy="3566160"/>
          </a:xfrm>
          <a:prstGeom prst="roundRect">
            <a:avLst>
              <a:gd name="adj" fmla="val 7778"/>
            </a:avLst>
          </a:prstGeom>
          <a:solidFill>
            <a:srgbClr val="FFFFFF"/>
          </a:solidFill>
          <a:ln w="12700">
            <a:solidFill>
              <a:srgbClr val="E6E8EB"/>
            </a:solidFill>
            <a:prstDash val="solid"/>
          </a:ln>
        </p:spPr>
      </p:sp>
      <p:sp>
        <p:nvSpPr>
          <p:cNvPr id="9" name="today-title-1"/>
          <p:cNvSpPr txBox="1"/>
          <p:nvPr/>
        </p:nvSpPr>
        <p:spPr>
          <a:xfrm>
            <a:off x="4709160" y="2514600"/>
            <a:ext cx="2651760" cy="73152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Truecaller</a:t>
            </a:r>
            <a:endParaRPr lang="en-US" sz="2000" dirty="0"/>
          </a:p>
        </p:txBody>
      </p:sp>
      <p:sp>
        <p:nvSpPr>
          <p:cNvPr id="10" name="today-body-1"/>
          <p:cNvSpPr txBox="1"/>
          <p:nvPr/>
        </p:nvSpPr>
        <p:spPr>
          <a:xfrm>
            <a:off x="4709160" y="3291840"/>
            <a:ext cx="2651760" cy="118872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Tells you who is calling, from numbers other people reported.</a:t>
            </a:r>
            <a:endParaRPr lang="en-US" sz="1500" dirty="0"/>
          </a:p>
        </p:txBody>
      </p:sp>
      <p:sp>
        <p:nvSpPr>
          <p:cNvPr id="11" name="today-watch-1"/>
          <p:cNvSpPr txBox="1"/>
          <p:nvPr/>
        </p:nvSpPr>
        <p:spPr>
          <a:xfrm>
            <a:off x="4709160" y="4663440"/>
            <a:ext cx="2651760" cy="822960"/>
          </a:xfrm>
          <a:prstGeom prst="rect">
            <a:avLst/>
          </a:prstGeom>
          <a:noFill/>
          <a:ln/>
        </p:spPr>
        <p:txBody>
          <a:bodyPr wrap="square" lIns="0" tIns="0" rIns="0" bIns="0" rtlCol="0" anchor="t"/>
          <a:lstStyle/>
          <a:p>
            <a:pPr indent="0" marL="0">
              <a:buNone/>
            </a:pPr>
            <a:r>
              <a:rPr lang="en-US" sz="1300" b="1" dirty="0">
                <a:solidFill>
                  <a:srgbClr val="4B5563"/>
                </a:solidFill>
                <a:latin typeface="Segoe UI" pitchFamily="34" charset="0"/>
                <a:ea typeface="Segoe UI" pitchFamily="34" charset="-122"/>
                <a:cs typeface="Segoe UI" pitchFamily="34" charset="-120"/>
              </a:rPr>
              <a:t>Watches: the number. A fresh SIM looks clean</a:t>
            </a:r>
            <a:endParaRPr lang="en-US" sz="1300" dirty="0"/>
          </a:p>
        </p:txBody>
      </p:sp>
      <p:sp>
        <p:nvSpPr>
          <p:cNvPr id="12" name="today-card-us"/>
          <p:cNvSpPr/>
          <p:nvPr/>
        </p:nvSpPr>
        <p:spPr>
          <a:xfrm>
            <a:off x="8046720" y="2194560"/>
            <a:ext cx="3410712" cy="3566160"/>
          </a:xfrm>
          <a:prstGeom prst="roundRect">
            <a:avLst>
              <a:gd name="adj" fmla="val 7507"/>
            </a:avLst>
          </a:prstGeom>
          <a:solidFill>
            <a:srgbClr val="0E1A27"/>
          </a:solidFill>
          <a:ln w="12700">
            <a:solidFill>
              <a:srgbClr val="0E1A27"/>
            </a:solidFill>
            <a:prstDash val="solid"/>
          </a:ln>
        </p:spPr>
      </p:sp>
      <p:sp>
        <p:nvSpPr>
          <p:cNvPr id="13" name="!!halo-r3"/>
          <p:cNvSpPr/>
          <p:nvPr/>
        </p:nvSpPr>
        <p:spPr>
          <a:xfrm>
            <a:off x="8245602" y="2366010"/>
            <a:ext cx="1156716" cy="1156716"/>
          </a:xfrm>
          <a:prstGeom prst="ellipse">
            <a:avLst/>
          </a:prstGeom>
          <a:solidFill>
            <a:srgbClr val="7DB8E8">
              <a:alpha val="0"/>
            </a:srgbClr>
          </a:solidFill>
          <a:ln w="12852">
            <a:solidFill>
              <a:srgbClr val="7DB8E8">
                <a:alpha val="20000"/>
              </a:srgbClr>
            </a:solidFill>
            <a:prstDash val="solid"/>
          </a:ln>
        </p:spPr>
      </p:sp>
      <p:sp>
        <p:nvSpPr>
          <p:cNvPr id="14" name="!!halo-r2"/>
          <p:cNvSpPr/>
          <p:nvPr/>
        </p:nvSpPr>
        <p:spPr>
          <a:xfrm>
            <a:off x="8382305" y="2502713"/>
            <a:ext cx="883310" cy="883310"/>
          </a:xfrm>
          <a:prstGeom prst="ellipse">
            <a:avLst/>
          </a:prstGeom>
          <a:solidFill>
            <a:srgbClr val="7DB8E8">
              <a:alpha val="0"/>
            </a:srgbClr>
          </a:solidFill>
          <a:ln w="12852">
            <a:solidFill>
              <a:srgbClr val="7DB8E8">
                <a:alpha val="38000"/>
              </a:srgbClr>
            </a:solidFill>
            <a:prstDash val="solid"/>
          </a:ln>
        </p:spPr>
      </p:sp>
      <p:sp>
        <p:nvSpPr>
          <p:cNvPr id="15" name="!!halo-r1"/>
          <p:cNvSpPr/>
          <p:nvPr/>
        </p:nvSpPr>
        <p:spPr>
          <a:xfrm>
            <a:off x="8508492" y="2628900"/>
            <a:ext cx="630936" cy="630936"/>
          </a:xfrm>
          <a:prstGeom prst="ellipse">
            <a:avLst/>
          </a:prstGeom>
          <a:solidFill>
            <a:srgbClr val="7DB8E8">
              <a:alpha val="0"/>
            </a:srgbClr>
          </a:solidFill>
          <a:ln w="12852">
            <a:solidFill>
              <a:srgbClr val="7DB8E8">
                <a:alpha val="62000"/>
              </a:srgbClr>
            </a:solidFill>
            <a:prstDash val="solid"/>
          </a:ln>
        </p:spPr>
      </p:sp>
      <p:sp>
        <p:nvSpPr>
          <p:cNvPr id="16" name="!!halo-core"/>
          <p:cNvSpPr/>
          <p:nvPr/>
        </p:nvSpPr>
        <p:spPr>
          <a:xfrm>
            <a:off x="8613648" y="2734056"/>
            <a:ext cx="420624" cy="420624"/>
          </a:xfrm>
          <a:prstGeom prst="ellipse">
            <a:avLst/>
          </a:prstGeom>
          <a:solidFill>
            <a:srgbClr val="1B3550"/>
          </a:solidFill>
          <a:ln w="12700">
            <a:solidFill>
              <a:srgbClr val="1B3550"/>
            </a:solidFill>
            <a:prstDash val="solid"/>
          </a:ln>
        </p:spPr>
      </p:sp>
      <p:pic>
        <p:nvPicPr>
          <p:cNvPr id="17" name="!!halo-icon" descr="Scam check">    </p:cNvPr>
          <p:cNvPicPr>
            <a:picLocks noChangeAspect="1"/>
          </p:cNvPicPr>
          <p:nvPr/>
        </p:nvPicPr>
        <p:blipFill>
          <a:blip r:embed="rId1"/>
          <a:stretch>
            <a:fillRect/>
          </a:stretch>
        </p:blipFill>
        <p:spPr>
          <a:xfrm>
            <a:off x="8714598" y="2835006"/>
            <a:ext cx="218724" cy="218724"/>
          </a:xfrm>
          <a:prstGeom prst="rect">
            <a:avLst/>
          </a:prstGeom>
        </p:spPr>
      </p:pic>
      <p:sp>
        <p:nvSpPr>
          <p:cNvPr id="18" name="today-title-us"/>
          <p:cNvSpPr txBox="1"/>
          <p:nvPr/>
        </p:nvSpPr>
        <p:spPr>
          <a:xfrm>
            <a:off x="9555480" y="2761488"/>
            <a:ext cx="2011680" cy="365760"/>
          </a:xfrm>
          <a:prstGeom prst="rect">
            <a:avLst/>
          </a:prstGeom>
          <a:noFill/>
          <a:ln/>
        </p:spPr>
        <p:txBody>
          <a:bodyPr wrap="square" lIns="0" tIns="0" rIns="0" bIns="0" rtlCol="0" anchor="t"/>
          <a:lstStyle/>
          <a:p>
            <a:pPr indent="0" marL="0">
              <a:buNone/>
            </a:pPr>
            <a:r>
              <a:rPr lang="en-US" sz="2000" b="1" dirty="0">
                <a:solidFill>
                  <a:srgbClr val="FFFFFF"/>
                </a:solidFill>
                <a:latin typeface="Segoe UI" pitchFamily="34" charset="0"/>
                <a:ea typeface="Segoe UI" pitchFamily="34" charset="-122"/>
                <a:cs typeface="Segoe UI" pitchFamily="34" charset="-120"/>
              </a:rPr>
              <a:t>Edgerunners</a:t>
            </a:r>
            <a:endParaRPr lang="en-US" sz="2000" dirty="0"/>
          </a:p>
        </p:txBody>
      </p:sp>
      <p:sp>
        <p:nvSpPr>
          <p:cNvPr id="19" name="today-body-us"/>
          <p:cNvSpPr txBox="1"/>
          <p:nvPr/>
        </p:nvSpPr>
        <p:spPr>
          <a:xfrm>
            <a:off x="8366760" y="3703320"/>
            <a:ext cx="2834640" cy="1005840"/>
          </a:xfrm>
          <a:prstGeom prst="rect">
            <a:avLst/>
          </a:prstGeom>
          <a:noFill/>
          <a:ln/>
        </p:spPr>
        <p:txBody>
          <a:bodyPr wrap="square" lIns="0" tIns="0" rIns="0" bIns="0" rtlCol="0" anchor="t"/>
          <a:lstStyle/>
          <a:p>
            <a:pPr indent="0" marL="0">
              <a:buNone/>
            </a:pPr>
            <a:r>
              <a:rPr lang="en-US" sz="1500" dirty="0">
                <a:solidFill>
                  <a:srgbClr val="DCE6EF"/>
                </a:solidFill>
                <a:latin typeface="Segoe UI" pitchFamily="34" charset="0"/>
                <a:ea typeface="Segoe UI" pitchFamily="34" charset="-122"/>
                <a:cs typeface="Segoe UI" pitchFamily="34" charset="-120"/>
              </a:rPr>
              <a:t>Listens for what the caller asks: scan a QR, type a PIN, share an OTP or your screen.</a:t>
            </a:r>
            <a:endParaRPr lang="en-US" sz="1500" dirty="0"/>
          </a:p>
        </p:txBody>
      </p:sp>
      <p:sp>
        <p:nvSpPr>
          <p:cNvPr id="20" name="today-watch-us"/>
          <p:cNvSpPr txBox="1"/>
          <p:nvPr/>
        </p:nvSpPr>
        <p:spPr>
          <a:xfrm>
            <a:off x="8366760" y="4800600"/>
            <a:ext cx="2834640" cy="731520"/>
          </a:xfrm>
          <a:prstGeom prst="rect">
            <a:avLst/>
          </a:prstGeom>
          <a:noFill/>
          <a:ln/>
        </p:spPr>
        <p:txBody>
          <a:bodyPr wrap="square" lIns="0" tIns="0" rIns="0" bIns="0" rtlCol="0" anchor="t"/>
          <a:lstStyle/>
          <a:p>
            <a:pPr indent="0" marL="0">
              <a:buNone/>
            </a:pPr>
            <a:r>
              <a:rPr lang="en-US" sz="1300" b="1" dirty="0">
                <a:solidFill>
                  <a:srgbClr val="7DB8E8"/>
                </a:solidFill>
                <a:latin typeface="Segoe UI" pitchFamily="34" charset="0"/>
                <a:ea typeface="Segoe UI" pitchFamily="34" charset="-122"/>
                <a:cs typeface="Segoe UI" pitchFamily="34" charset="-120"/>
              </a:rPr>
              <a:t>Punjabi, Hindi, English or mixed. Any Android phone</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halo-r3"/>
          <p:cNvSpPr/>
          <p:nvPr/>
        </p:nvSpPr>
        <p:spPr>
          <a:xfrm>
            <a:off x="2826868" y="160020"/>
            <a:ext cx="6537960" cy="6537960"/>
          </a:xfrm>
          <a:prstGeom prst="ellipse">
            <a:avLst/>
          </a:prstGeom>
          <a:solidFill>
            <a:srgbClr val="7DB8E8">
              <a:alpha val="0"/>
            </a:srgbClr>
          </a:solidFill>
          <a:ln w="72644">
            <a:solidFill>
              <a:srgbClr val="7DB8E8">
                <a:alpha val="12000"/>
              </a:srgbClr>
            </a:solidFill>
            <a:prstDash val="solid"/>
          </a:ln>
        </p:spPr>
      </p:sp>
      <p:sp>
        <p:nvSpPr>
          <p:cNvPr id="3" name="!!halo-r2"/>
          <p:cNvSpPr/>
          <p:nvPr/>
        </p:nvSpPr>
        <p:spPr>
          <a:xfrm>
            <a:off x="3599536" y="932688"/>
            <a:ext cx="4992624" cy="4992624"/>
          </a:xfrm>
          <a:prstGeom prst="ellipse">
            <a:avLst/>
          </a:prstGeom>
          <a:solidFill>
            <a:srgbClr val="7DB8E8">
              <a:alpha val="0"/>
            </a:srgbClr>
          </a:solidFill>
          <a:ln w="72644">
            <a:solidFill>
              <a:srgbClr val="7DB8E8">
                <a:alpha val="20000"/>
              </a:srgbClr>
            </a:solidFill>
            <a:prstDash val="solid"/>
          </a:ln>
        </p:spPr>
      </p:sp>
      <p:sp>
        <p:nvSpPr>
          <p:cNvPr id="4" name="!!halo-r1"/>
          <p:cNvSpPr/>
          <p:nvPr/>
        </p:nvSpPr>
        <p:spPr>
          <a:xfrm>
            <a:off x="4312768" y="1645920"/>
            <a:ext cx="3566160" cy="3566160"/>
          </a:xfrm>
          <a:prstGeom prst="ellipse">
            <a:avLst/>
          </a:prstGeom>
          <a:solidFill>
            <a:srgbClr val="7DB8E8">
              <a:alpha val="0"/>
            </a:srgbClr>
          </a:solidFill>
          <a:ln w="72644">
            <a:solidFill>
              <a:srgbClr val="7DB8E8">
                <a:alpha val="34000"/>
              </a:srgbClr>
            </a:solidFill>
            <a:prstDash val="solid"/>
          </a:ln>
        </p:spPr>
      </p:sp>
      <p:sp>
        <p:nvSpPr>
          <p:cNvPr id="5" name="!!halo-core"/>
          <p:cNvSpPr/>
          <p:nvPr/>
        </p:nvSpPr>
        <p:spPr>
          <a:xfrm>
            <a:off x="4907128" y="2240280"/>
            <a:ext cx="2377440" cy="2377440"/>
          </a:xfrm>
          <a:prstGeom prst="ellipse">
            <a:avLst/>
          </a:prstGeom>
          <a:solidFill>
            <a:srgbClr val="16283A"/>
          </a:solidFill>
          <a:ln w="12700">
            <a:solidFill>
              <a:srgbClr val="16283A"/>
            </a:solidFill>
            <a:prstDash val="solid"/>
          </a:ln>
        </p:spPr>
      </p:sp>
      <p:pic>
        <p:nvPicPr>
          <p:cNvPr id="6" name="!!halo-icon" descr="Scam check">    </p:cNvPr>
          <p:cNvPicPr>
            <a:picLocks noChangeAspect="1"/>
          </p:cNvPicPr>
          <p:nvPr/>
        </p:nvPicPr>
        <p:blipFill>
          <a:blip r:embed="rId1"/>
          <a:stretch>
            <a:fillRect/>
          </a:stretch>
        </p:blipFill>
        <p:spPr>
          <a:xfrm>
            <a:off x="5477713" y="2810866"/>
            <a:ext cx="1236269" cy="1236269"/>
          </a:xfrm>
          <a:prstGeom prst="rect">
            <a:avLst/>
          </a:prstGeom>
        </p:spPr>
      </p:pic>
      <p:sp>
        <p:nvSpPr>
          <p:cNvPr id="7" name="!!kicker"/>
          <p:cNvSpPr txBox="1"/>
          <p:nvPr/>
        </p:nvSpPr>
        <p:spPr>
          <a:xfrm>
            <a:off x="731520" y="2148840"/>
            <a:ext cx="10728655" cy="822960"/>
          </a:xfrm>
          <a:prstGeom prst="rect">
            <a:avLst/>
          </a:prstGeom>
          <a:noFill/>
          <a:ln/>
        </p:spPr>
        <p:txBody>
          <a:bodyPr wrap="square" lIns="0" tIns="0" rIns="0" bIns="0" rtlCol="0" anchor="t"/>
          <a:lstStyle/>
          <a:p>
            <a:pPr algn="ctr" indent="0" marL="0">
              <a:buNone/>
            </a:pPr>
            <a:r>
              <a:rPr lang="en-US" sz="4000" b="1" dirty="0">
                <a:solidFill>
                  <a:srgbClr val="A9B6C3"/>
                </a:solidFill>
                <a:latin typeface="Segoe UI" pitchFamily="34" charset="0"/>
                <a:ea typeface="Segoe UI" pitchFamily="34" charset="-122"/>
                <a:cs typeface="Segoe UI" pitchFamily="34" charset="-120"/>
              </a:rPr>
              <a:t>Not who is calling.</a:t>
            </a:r>
            <a:endParaRPr lang="en-US" sz="4000" dirty="0"/>
          </a:p>
        </p:txBody>
      </p:sp>
      <p:sp>
        <p:nvSpPr>
          <p:cNvPr id="8" name="!!headline"/>
          <p:cNvSpPr txBox="1"/>
          <p:nvPr/>
        </p:nvSpPr>
        <p:spPr>
          <a:xfrm>
            <a:off x="731520" y="3017520"/>
            <a:ext cx="10728655" cy="1097280"/>
          </a:xfrm>
          <a:prstGeom prst="rect">
            <a:avLst/>
          </a:prstGeom>
          <a:noFill/>
          <a:ln/>
        </p:spPr>
        <p:txBody>
          <a:bodyPr wrap="square" lIns="0" tIns="0" rIns="0" bIns="0" rtlCol="0" anchor="t"/>
          <a:lstStyle/>
          <a:p>
            <a:pPr algn="ctr" indent="0" marL="0">
              <a:buNone/>
            </a:pPr>
            <a:r>
              <a:rPr lang="en-US" sz="5400" b="1" dirty="0">
                <a:solidFill>
                  <a:srgbClr val="FFFFFF"/>
                </a:solidFill>
                <a:latin typeface="Segoe UI" pitchFamily="34" charset="0"/>
                <a:ea typeface="Segoe UI" pitchFamily="34" charset="-122"/>
                <a:cs typeface="Segoe UI" pitchFamily="34" charset="-120"/>
              </a:rPr>
              <a:t>What are they asking you to do?</a:t>
            </a:r>
            <a:endParaRPr lang="en-US" sz="5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hone"/>
          <p:cNvSpPr/>
          <p:nvPr/>
        </p:nvSpPr>
        <p:spPr>
          <a:xfrm>
            <a:off x="8001000" y="411480"/>
            <a:ext cx="3017520" cy="6035040"/>
          </a:xfrm>
          <a:prstGeom prst="roundRect">
            <a:avLst>
              <a:gd name="adj" fmla="val 14545"/>
            </a:avLst>
          </a:prstGeom>
          <a:solidFill>
            <a:srgbClr val="0A131D"/>
          </a:solidFill>
          <a:ln w="19050">
            <a:solidFill>
              <a:srgbClr val="2E4257"/>
            </a:solidFill>
            <a:prstDash val="solid"/>
          </a:ln>
        </p:spPr>
      </p:sp>
      <p:sp>
        <p:nvSpPr>
          <p:cNvPr id="3" name="!!screen"/>
          <p:cNvSpPr/>
          <p:nvPr/>
        </p:nvSpPr>
        <p:spPr>
          <a:xfrm>
            <a:off x="8092440" y="502920"/>
            <a:ext cx="2834640" cy="5852160"/>
          </a:xfrm>
          <a:prstGeom prst="roundRect">
            <a:avLst>
              <a:gd name="adj" fmla="val 12903"/>
            </a:avLst>
          </a:prstGeom>
          <a:solidFill>
            <a:srgbClr val="FAFAF8"/>
          </a:solidFill>
          <a:ln w="12700">
            <a:solidFill>
              <a:srgbClr val="FAFAF8"/>
            </a:solidFill>
            <a:prstDash val="solid"/>
          </a:ln>
        </p:spPr>
      </p:sp>
      <p:pic>
        <p:nvPicPr>
          <p:cNvPr id="4" name="!!p-brand-icon" descr="preencoded.png">    </p:cNvPr>
          <p:cNvPicPr>
            <a:picLocks noChangeAspect="1"/>
          </p:cNvPicPr>
          <p:nvPr/>
        </p:nvPicPr>
        <p:blipFill>
          <a:blip r:embed="rId1"/>
          <a:stretch>
            <a:fillRect/>
          </a:stretch>
        </p:blipFill>
        <p:spPr>
          <a:xfrm>
            <a:off x="8321040" y="749808"/>
            <a:ext cx="219456" cy="219456"/>
          </a:xfrm>
          <a:prstGeom prst="rect">
            <a:avLst/>
          </a:prstGeom>
        </p:spPr>
      </p:pic>
      <p:sp>
        <p:nvSpPr>
          <p:cNvPr id="5" name="!!p-top"/>
          <p:cNvSpPr txBox="1"/>
          <p:nvPr/>
        </p:nvSpPr>
        <p:spPr>
          <a:xfrm>
            <a:off x="8595360" y="731520"/>
            <a:ext cx="1828800" cy="274320"/>
          </a:xfrm>
          <a:prstGeom prst="rect">
            <a:avLst/>
          </a:prstGeom>
          <a:noFill/>
          <a:ln/>
        </p:spPr>
        <p:txBody>
          <a:bodyPr wrap="square" lIns="0" tIns="0" rIns="0" bIns="0" rtlCol="0" anchor="t"/>
          <a:lstStyle/>
          <a:p>
            <a:pPr indent="0" marL="0">
              <a:buNone/>
            </a:pPr>
            <a:r>
              <a:rPr lang="en-US" sz="1200" b="1" dirty="0">
                <a:solidFill>
                  <a:srgbClr val="226192"/>
                </a:solidFill>
                <a:latin typeface="Segoe UI" pitchFamily="34" charset="0"/>
                <a:ea typeface="Segoe UI" pitchFamily="34" charset="-122"/>
                <a:cs typeface="Segoe UI" pitchFamily="34" charset="-120"/>
              </a:rPr>
              <a:t>Edgerunners</a:t>
            </a:r>
            <a:endParaRPr lang="en-US" sz="1200" dirty="0"/>
          </a:p>
        </p:txBody>
      </p:sp>
      <p:sp>
        <p:nvSpPr>
          <p:cNvPr id="6" name="!!halo-r3"/>
          <p:cNvSpPr/>
          <p:nvPr/>
        </p:nvSpPr>
        <p:spPr>
          <a:xfrm>
            <a:off x="8478774" y="1072134"/>
            <a:ext cx="2061972" cy="2061972"/>
          </a:xfrm>
          <a:prstGeom prst="ellipse">
            <a:avLst/>
          </a:prstGeom>
          <a:solidFill>
            <a:srgbClr val="226192">
              <a:alpha val="0"/>
            </a:srgbClr>
          </a:solidFill>
          <a:ln w="22911">
            <a:solidFill>
              <a:srgbClr val="226192">
                <a:alpha val="18000"/>
              </a:srgbClr>
            </a:solidFill>
            <a:prstDash val="solid"/>
          </a:ln>
        </p:spPr>
      </p:sp>
      <p:sp>
        <p:nvSpPr>
          <p:cNvPr id="7" name="!!halo-r2"/>
          <p:cNvSpPr/>
          <p:nvPr/>
        </p:nvSpPr>
        <p:spPr>
          <a:xfrm>
            <a:off x="8722462" y="1315822"/>
            <a:ext cx="1574597" cy="1574597"/>
          </a:xfrm>
          <a:prstGeom prst="ellipse">
            <a:avLst/>
          </a:prstGeom>
          <a:solidFill>
            <a:srgbClr val="226192">
              <a:alpha val="0"/>
            </a:srgbClr>
          </a:solidFill>
          <a:ln w="22911">
            <a:solidFill>
              <a:srgbClr val="226192">
                <a:alpha val="36000"/>
              </a:srgbClr>
            </a:solidFill>
            <a:prstDash val="solid"/>
          </a:ln>
        </p:spPr>
      </p:sp>
      <p:sp>
        <p:nvSpPr>
          <p:cNvPr id="8" name="!!halo-r1"/>
          <p:cNvSpPr/>
          <p:nvPr/>
        </p:nvSpPr>
        <p:spPr>
          <a:xfrm>
            <a:off x="8947404" y="1540764"/>
            <a:ext cx="1124712" cy="1124712"/>
          </a:xfrm>
          <a:prstGeom prst="ellipse">
            <a:avLst/>
          </a:prstGeom>
          <a:solidFill>
            <a:srgbClr val="226192">
              <a:alpha val="0"/>
            </a:srgbClr>
          </a:solidFill>
          <a:ln w="22911">
            <a:solidFill>
              <a:srgbClr val="226192">
                <a:alpha val="60000"/>
              </a:srgbClr>
            </a:solidFill>
            <a:prstDash val="solid"/>
          </a:ln>
        </p:spPr>
      </p:sp>
      <p:sp>
        <p:nvSpPr>
          <p:cNvPr id="9" name="!!halo-core"/>
          <p:cNvSpPr/>
          <p:nvPr/>
        </p:nvSpPr>
        <p:spPr>
          <a:xfrm>
            <a:off x="9134856" y="1728216"/>
            <a:ext cx="749808" cy="749808"/>
          </a:xfrm>
          <a:prstGeom prst="ellipse">
            <a:avLst/>
          </a:prstGeom>
          <a:solidFill>
            <a:srgbClr val="226192"/>
          </a:solidFill>
          <a:ln w="12700">
            <a:solidFill>
              <a:srgbClr val="226192"/>
            </a:solidFill>
            <a:prstDash val="solid"/>
          </a:ln>
        </p:spPr>
      </p:sp>
      <p:pic>
        <p:nvPicPr>
          <p:cNvPr id="10" name="!!halo-icon" descr="Scam check">    </p:cNvPr>
          <p:cNvPicPr>
            <a:picLocks noChangeAspect="1"/>
          </p:cNvPicPr>
          <p:nvPr/>
        </p:nvPicPr>
        <p:blipFill>
          <a:blip r:embed="rId2"/>
          <a:stretch>
            <a:fillRect/>
          </a:stretch>
        </p:blipFill>
        <p:spPr>
          <a:xfrm>
            <a:off x="9314810" y="1908170"/>
            <a:ext cx="389900" cy="389900"/>
          </a:xfrm>
          <a:prstGeom prst="rect">
            <a:avLst/>
          </a:prstGeom>
        </p:spPr>
      </p:pic>
      <p:sp>
        <p:nvSpPr>
          <p:cNvPr id="11" name="!!p-title"/>
          <p:cNvSpPr txBox="1"/>
          <p:nvPr/>
        </p:nvSpPr>
        <p:spPr>
          <a:xfrm>
            <a:off x="8183880" y="3310128"/>
            <a:ext cx="2651760" cy="365760"/>
          </a:xfrm>
          <a:prstGeom prst="rect">
            <a:avLst/>
          </a:prstGeom>
          <a:noFill/>
          <a:ln/>
        </p:spPr>
        <p:txBody>
          <a:bodyPr wrap="square" lIns="0" tIns="0" rIns="0" bIns="0" rtlCol="0" anchor="t"/>
          <a:lstStyle/>
          <a:p>
            <a:pPr algn="ctr" indent="0" marL="0">
              <a:buNone/>
            </a:pPr>
            <a:r>
              <a:rPr lang="en-US" sz="1600" b="1" dirty="0">
                <a:solidFill>
                  <a:srgbClr val="1F2937"/>
                </a:solidFill>
                <a:latin typeface="Segoe UI" pitchFamily="34" charset="0"/>
                <a:ea typeface="Segoe UI" pitchFamily="34" charset="-122"/>
                <a:cs typeface="Segoe UI" pitchFamily="34" charset="-120"/>
              </a:rPr>
              <a:t>Watching your calls</a:t>
            </a:r>
            <a:endParaRPr lang="en-US" sz="1600" dirty="0"/>
          </a:p>
        </p:txBody>
      </p:sp>
      <p:sp>
        <p:nvSpPr>
          <p:cNvPr id="12" name="!!p-sub"/>
          <p:cNvSpPr txBox="1"/>
          <p:nvPr/>
        </p:nvSpPr>
        <p:spPr>
          <a:xfrm>
            <a:off x="8275320" y="3703320"/>
            <a:ext cx="2468880" cy="548640"/>
          </a:xfrm>
          <a:prstGeom prst="rect">
            <a:avLst/>
          </a:prstGeom>
          <a:noFill/>
          <a:ln/>
        </p:spPr>
        <p:txBody>
          <a:bodyPr wrap="square" lIns="0" tIns="0" rIns="0" bIns="0" rtlCol="0" anchor="t"/>
          <a:lstStyle/>
          <a:p>
            <a:pPr algn="ctr" indent="0" marL="0">
              <a:buNone/>
            </a:pPr>
            <a:r>
              <a:rPr lang="en-US" sz="1000" dirty="0">
                <a:solidFill>
                  <a:srgbClr val="4B5563"/>
                </a:solidFill>
                <a:latin typeface="Segoe UI" pitchFamily="34" charset="0"/>
                <a:ea typeface="Segoe UI" pitchFamily="34" charset="-122"/>
                <a:cs typeface="Segoe UI" pitchFamily="34" charset="-120"/>
              </a:rPr>
              <a:t>If a caller asks for a QR scan, UPI PIN or OTP, you'll know in seconds.</a:t>
            </a:r>
            <a:endParaRPr lang="en-US" sz="1000" dirty="0"/>
          </a:p>
        </p:txBody>
      </p:sp>
      <p:sp>
        <p:nvSpPr>
          <p:cNvPr id="13" name="!!p-card"/>
          <p:cNvSpPr/>
          <p:nvPr/>
        </p:nvSpPr>
        <p:spPr>
          <a:xfrm>
            <a:off x="8275320" y="4434840"/>
            <a:ext cx="2468880" cy="658368"/>
          </a:xfrm>
          <a:prstGeom prst="roundRect">
            <a:avLst>
              <a:gd name="adj" fmla="val 19444"/>
            </a:avLst>
          </a:prstGeom>
          <a:solidFill>
            <a:srgbClr val="FFFFFF"/>
          </a:solidFill>
          <a:ln w="9525">
            <a:solidFill>
              <a:srgbClr val="E6E8EB"/>
            </a:solidFill>
            <a:prstDash val="solid"/>
          </a:ln>
        </p:spPr>
      </p:sp>
      <p:sp>
        <p:nvSpPr>
          <p:cNvPr id="14" name="!!p-card-title"/>
          <p:cNvSpPr txBox="1"/>
          <p:nvPr/>
        </p:nvSpPr>
        <p:spPr>
          <a:xfrm>
            <a:off x="8439912" y="4526280"/>
            <a:ext cx="1645920" cy="237744"/>
          </a:xfrm>
          <a:prstGeom prst="rect">
            <a:avLst/>
          </a:prstGeom>
          <a:noFill/>
          <a:ln/>
        </p:spPr>
        <p:txBody>
          <a:bodyPr wrap="square" lIns="0" tIns="0" rIns="0" bIns="0" rtlCol="0" anchor="t"/>
          <a:lstStyle/>
          <a:p>
            <a:pPr indent="0" marL="0">
              <a:buNone/>
            </a:pPr>
            <a:r>
              <a:rPr lang="en-US" sz="1100" b="1" dirty="0">
                <a:solidFill>
                  <a:srgbClr val="1F2937"/>
                </a:solidFill>
                <a:latin typeface="Segoe UI" pitchFamily="34" charset="0"/>
                <a:ea typeface="Segoe UI" pitchFamily="34" charset="-122"/>
                <a:cs typeface="Segoe UI" pitchFamily="34" charset="-120"/>
              </a:rPr>
              <a:t>Scam check</a:t>
            </a:r>
            <a:endParaRPr lang="en-US" sz="1100" dirty="0"/>
          </a:p>
        </p:txBody>
      </p:sp>
      <p:sp>
        <p:nvSpPr>
          <p:cNvPr id="15" name="!!p-card-sub"/>
          <p:cNvSpPr txBox="1"/>
          <p:nvPr/>
        </p:nvSpPr>
        <p:spPr>
          <a:xfrm>
            <a:off x="8439912" y="4773168"/>
            <a:ext cx="1645920" cy="219456"/>
          </a:xfrm>
          <a:prstGeom prst="rect">
            <a:avLst/>
          </a:prstGeom>
          <a:noFill/>
          <a:ln/>
        </p:spPr>
        <p:txBody>
          <a:bodyPr wrap="square" lIns="0" tIns="0" rIns="0" bIns="0" rtlCol="0" anchor="t"/>
          <a:lstStyle/>
          <a:p>
            <a:pPr indent="0" marL="0">
              <a:buNone/>
            </a:pPr>
            <a:r>
              <a:rPr lang="en-US" sz="900" dirty="0">
                <a:solidFill>
                  <a:srgbClr val="4B5563"/>
                </a:solidFill>
                <a:latin typeface="Segoe UI" pitchFamily="34" charset="0"/>
                <a:ea typeface="Segoe UI" pitchFamily="34" charset="-122"/>
                <a:cs typeface="Segoe UI" pitchFamily="34" charset="-120"/>
              </a:rPr>
              <a:t>On for every call</a:t>
            </a:r>
            <a:endParaRPr lang="en-US" sz="900" dirty="0"/>
          </a:p>
        </p:txBody>
      </p:sp>
      <p:sp>
        <p:nvSpPr>
          <p:cNvPr id="16" name="!!p-switch"/>
          <p:cNvSpPr/>
          <p:nvPr/>
        </p:nvSpPr>
        <p:spPr>
          <a:xfrm>
            <a:off x="10058400" y="4626864"/>
            <a:ext cx="512064" cy="292608"/>
          </a:xfrm>
          <a:prstGeom prst="roundRect">
            <a:avLst>
              <a:gd name="adj" fmla="val 50000"/>
            </a:avLst>
          </a:prstGeom>
          <a:solidFill>
            <a:srgbClr val="226192"/>
          </a:solidFill>
          <a:ln w="12700">
            <a:solidFill>
              <a:srgbClr val="226192"/>
            </a:solidFill>
            <a:prstDash val="solid"/>
          </a:ln>
        </p:spPr>
      </p:sp>
      <p:sp>
        <p:nvSpPr>
          <p:cNvPr id="17" name="!!p-knob"/>
          <p:cNvSpPr/>
          <p:nvPr/>
        </p:nvSpPr>
        <p:spPr>
          <a:xfrm>
            <a:off x="10296144" y="4654296"/>
            <a:ext cx="237744" cy="237744"/>
          </a:xfrm>
          <a:prstGeom prst="ellipse">
            <a:avLst/>
          </a:prstGeom>
          <a:solidFill>
            <a:srgbClr val="FFFFFF"/>
          </a:solidFill>
          <a:ln w="12700">
            <a:solidFill>
              <a:srgbClr val="FFFFFF"/>
            </a:solidFill>
            <a:prstDash val="solid"/>
          </a:ln>
        </p:spPr>
      </p:sp>
      <p:sp>
        <p:nvSpPr>
          <p:cNvPr id="18" name="!!p-lang"/>
          <p:cNvSpPr/>
          <p:nvPr/>
        </p:nvSpPr>
        <p:spPr>
          <a:xfrm>
            <a:off x="8275320" y="5303520"/>
            <a:ext cx="2468880" cy="420624"/>
          </a:xfrm>
          <a:prstGeom prst="roundRect">
            <a:avLst>
              <a:gd name="adj" fmla="val 26087"/>
            </a:avLst>
          </a:prstGeom>
          <a:solidFill>
            <a:srgbClr val="E6E8EB"/>
          </a:solidFill>
          <a:ln w="12700">
            <a:solidFill>
              <a:srgbClr val="E6E8EB"/>
            </a:solidFill>
            <a:prstDash val="solid"/>
          </a:ln>
        </p:spPr>
      </p:sp>
      <p:sp>
        <p:nvSpPr>
          <p:cNvPr id="19" name="!!p-lang-1"/>
          <p:cNvSpPr txBox="1"/>
          <p:nvPr/>
        </p:nvSpPr>
        <p:spPr>
          <a:xfrm>
            <a:off x="8330184" y="5349240"/>
            <a:ext cx="786384" cy="329184"/>
          </a:xfrm>
          <a:prstGeom prst="roundRect">
            <a:avLst>
              <a:gd name="adj" fmla="val 50000"/>
            </a:avLst>
          </a:prstGeom>
          <a:solidFill>
            <a:srgbClr val="FFFFFF"/>
          </a:solidFill>
          <a:ln/>
        </p:spPr>
        <p:txBody>
          <a:bodyPr wrap="square" lIns="0" tIns="0" rIns="0" bIns="0" rtlCol="0" anchor="ctr"/>
          <a:lstStyle/>
          <a:p>
            <a:pPr algn="ctr" indent="0" marL="0">
              <a:buNone/>
            </a:pPr>
            <a:r>
              <a:rPr lang="en-US" sz="900" b="1" dirty="0">
                <a:solidFill>
                  <a:srgbClr val="226192"/>
                </a:solidFill>
                <a:latin typeface="Segoe UI" pitchFamily="34" charset="0"/>
                <a:ea typeface="Segoe UI" pitchFamily="34" charset="-122"/>
                <a:cs typeface="Segoe UI" pitchFamily="34" charset="-120"/>
              </a:rPr>
              <a:t>English</a:t>
            </a:r>
            <a:endParaRPr lang="en-US" sz="900" dirty="0"/>
          </a:p>
        </p:txBody>
      </p:sp>
      <p:sp>
        <p:nvSpPr>
          <p:cNvPr id="20" name="!!p-lang-2"/>
          <p:cNvSpPr txBox="1"/>
          <p:nvPr/>
        </p:nvSpPr>
        <p:spPr>
          <a:xfrm>
            <a:off x="9134856" y="5349240"/>
            <a:ext cx="786384" cy="329184"/>
          </a:xfrm>
          <a:prstGeom prst="rect">
            <a:avLst/>
          </a:prstGeom>
          <a:noFill/>
          <a:ln/>
        </p:spPr>
        <p:txBody>
          <a:bodyPr wrap="square" lIns="0" tIns="0" rIns="0" bIns="0" rtlCol="0" anchor="ctr"/>
          <a:lstStyle/>
          <a:p>
            <a:pPr algn="ctr" indent="0" marL="0">
              <a:buNone/>
            </a:pPr>
            <a:r>
              <a:rPr lang="en-US" sz="900" b="1" dirty="0">
                <a:solidFill>
                  <a:srgbClr val="4B5563"/>
                </a:solidFill>
                <a:latin typeface="Segoe UI" pitchFamily="34" charset="0"/>
                <a:ea typeface="Segoe UI" pitchFamily="34" charset="-122"/>
                <a:cs typeface="Segoe UI" pitchFamily="34" charset="-120"/>
              </a:rPr>
              <a:t>हिन्दी</a:t>
            </a:r>
            <a:endParaRPr lang="en-US" sz="900" dirty="0"/>
          </a:p>
        </p:txBody>
      </p:sp>
      <p:sp>
        <p:nvSpPr>
          <p:cNvPr id="21" name="!!p-lang-3"/>
          <p:cNvSpPr txBox="1"/>
          <p:nvPr/>
        </p:nvSpPr>
        <p:spPr>
          <a:xfrm>
            <a:off x="9921240" y="5349240"/>
            <a:ext cx="786384" cy="329184"/>
          </a:xfrm>
          <a:prstGeom prst="rect">
            <a:avLst/>
          </a:prstGeom>
          <a:noFill/>
          <a:ln/>
        </p:spPr>
        <p:txBody>
          <a:bodyPr wrap="square" lIns="0" tIns="0" rIns="0" bIns="0" rtlCol="0" anchor="ctr"/>
          <a:lstStyle/>
          <a:p>
            <a:pPr algn="ctr" indent="0" marL="0">
              <a:buNone/>
            </a:pPr>
            <a:r>
              <a:rPr lang="en-US" sz="900" b="1" dirty="0">
                <a:solidFill>
                  <a:srgbClr val="4B5563"/>
                </a:solidFill>
                <a:latin typeface="Segoe UI" pitchFamily="34" charset="0"/>
                <a:ea typeface="Segoe UI" pitchFamily="34" charset="-122"/>
                <a:cs typeface="Segoe UI" pitchFamily="34" charset="-120"/>
              </a:rPr>
              <a:t>ਪੰਜਾਬੀ</a:t>
            </a:r>
            <a:endParaRPr lang="en-US" sz="900" dirty="0"/>
          </a:p>
        </p:txBody>
      </p:sp>
      <p:sp>
        <p:nvSpPr>
          <p:cNvPr id="22" name="!!kicker"/>
          <p:cNvSpPr txBox="1"/>
          <p:nvPr/>
        </p:nvSpPr>
        <p:spPr>
          <a:xfrm>
            <a:off x="731520" y="731520"/>
            <a:ext cx="5486400" cy="320040"/>
          </a:xfrm>
          <a:prstGeom prst="rect">
            <a:avLst/>
          </a:prstGeom>
          <a:noFill/>
          <a:ln/>
        </p:spPr>
        <p:txBody>
          <a:bodyPr wrap="square" lIns="0" tIns="0" rIns="0" bIns="0" rtlCol="0" anchor="t"/>
          <a:lstStyle/>
          <a:p>
            <a:pPr indent="0" marL="0">
              <a:buNone/>
            </a:pPr>
            <a:r>
              <a:rPr lang="en-US" sz="1400" b="1" spc="200" kern="0" dirty="0">
                <a:solidFill>
                  <a:srgbClr val="7DB8E8"/>
                </a:solidFill>
                <a:latin typeface="Segoe UI" pitchFamily="34" charset="0"/>
                <a:ea typeface="Segoe UI" pitchFamily="34" charset="-122"/>
                <a:cs typeface="Segoe UI" pitchFamily="34" charset="-120"/>
              </a:rPr>
              <a:t>TRY IT</a:t>
            </a:r>
            <a:endParaRPr lang="en-US" sz="1400" dirty="0"/>
          </a:p>
        </p:txBody>
      </p:sp>
      <p:sp>
        <p:nvSpPr>
          <p:cNvPr id="23" name="!!headline"/>
          <p:cNvSpPr txBox="1"/>
          <p:nvPr/>
        </p:nvSpPr>
        <p:spPr>
          <a:xfrm>
            <a:off x="731520" y="1097280"/>
            <a:ext cx="6400800" cy="731520"/>
          </a:xfrm>
          <a:prstGeom prst="rect">
            <a:avLst/>
          </a:prstGeom>
          <a:noFill/>
          <a:ln/>
        </p:spPr>
        <p:txBody>
          <a:bodyPr wrap="square" lIns="0" tIns="0" rIns="0" bIns="0" rtlCol="0" anchor="t"/>
          <a:lstStyle/>
          <a:p>
            <a:pPr indent="0" marL="0">
              <a:buNone/>
            </a:pPr>
            <a:r>
              <a:rPr lang="en-US" sz="4000" b="1" dirty="0">
                <a:solidFill>
                  <a:srgbClr val="FFFFFF"/>
                </a:solidFill>
                <a:latin typeface="Segoe UI" pitchFamily="34" charset="0"/>
                <a:ea typeface="Segoe UI" pitchFamily="34" charset="-122"/>
                <a:cs typeface="Segoe UI" pitchFamily="34" charset="-120"/>
              </a:rPr>
              <a:t>Pick a call</a:t>
            </a:r>
            <a:endParaRPr lang="en-US" sz="4000" dirty="0"/>
          </a:p>
        </p:txBody>
      </p:sp>
      <p:sp>
        <p:nvSpPr>
          <p:cNvPr id="24" name="menu-card-0"/>
          <p:cNvSpPr/>
          <p:nvPr/>
        </p:nvSpPr>
        <p:spPr>
          <a:xfrm>
            <a:off x="731520" y="2103120"/>
            <a:ext cx="6309360" cy="932688"/>
          </a:xfrm>
          <a:prstGeom prst="roundRect">
            <a:avLst>
              <a:gd name="adj" fmla="val 21569"/>
            </a:avLst>
          </a:prstGeom>
          <a:solidFill>
            <a:srgbClr val="16283A"/>
          </a:solidFill>
          <a:ln w="15875">
            <a:solidFill>
              <a:srgbClr val="2F4A63"/>
            </a:solidFill>
            <a:prstDash val="solid"/>
          </a:ln>
        </p:spPr>
      </p:sp>
      <p:sp>
        <p:nvSpPr>
          <p:cNvPr id="25" name="menu-badge-0"/>
          <p:cNvSpPr/>
          <p:nvPr/>
        </p:nvSpPr>
        <p:spPr>
          <a:xfrm>
            <a:off x="960120" y="2276856"/>
            <a:ext cx="585216" cy="585216"/>
          </a:xfrm>
          <a:prstGeom prst="roundRect">
            <a:avLst>
              <a:gd name="adj" fmla="val 25000"/>
            </a:avLst>
          </a:prstGeom>
          <a:solidFill>
            <a:srgbClr val="FBE3E1"/>
          </a:solidFill>
          <a:ln w="12700">
            <a:solidFill>
              <a:srgbClr val="FBE3E1"/>
            </a:solidFill>
            <a:prstDash val="solid"/>
          </a:ln>
        </p:spPr>
      </p:sp>
      <p:pic>
        <p:nvPicPr>
          <p:cNvPr id="26" name="menu-icon-0" descr="preencoded.png">    </p:cNvPr>
          <p:cNvPicPr>
            <a:picLocks noChangeAspect="1"/>
          </p:cNvPicPr>
          <p:nvPr/>
        </p:nvPicPr>
        <p:blipFill>
          <a:blip r:embed="rId3"/>
          <a:stretch>
            <a:fillRect/>
          </a:stretch>
        </p:blipFill>
        <p:spPr>
          <a:xfrm>
            <a:off x="1088136" y="2404872"/>
            <a:ext cx="329184" cy="329184"/>
          </a:xfrm>
          <a:prstGeom prst="rect">
            <a:avLst/>
          </a:prstGeom>
        </p:spPr>
      </p:pic>
      <p:sp>
        <p:nvSpPr>
          <p:cNvPr id="27" name="menu-title-0"/>
          <p:cNvSpPr txBox="1"/>
          <p:nvPr/>
        </p:nvSpPr>
        <p:spPr>
          <a:xfrm>
            <a:off x="1783080" y="2258568"/>
            <a:ext cx="4572000" cy="365760"/>
          </a:xfrm>
          <a:prstGeom prst="rect">
            <a:avLst/>
          </a:prstGeom>
          <a:noFill/>
          <a:ln/>
        </p:spPr>
        <p:txBody>
          <a:bodyPr wrap="square" lIns="0" tIns="0" rIns="0" bIns="0" rtlCol="0" anchor="t"/>
          <a:lstStyle/>
          <a:p>
            <a:pPr indent="0" marL="0">
              <a:buNone/>
            </a:pPr>
            <a:r>
              <a:rPr lang="en-US" sz="1800" b="1" dirty="0">
                <a:solidFill>
                  <a:srgbClr val="FFFFFF"/>
                </a:solidFill>
                <a:latin typeface="Segoe UI" pitchFamily="34" charset="0"/>
                <a:ea typeface="Segoe UI" pitchFamily="34" charset="-122"/>
                <a:cs typeface="Segoe UI" pitchFamily="34" charset="-120"/>
              </a:rPr>
              <a:t>A “bank officer” asks for your OTP</a:t>
            </a:r>
            <a:endParaRPr lang="en-US" sz="1800" dirty="0"/>
          </a:p>
        </p:txBody>
      </p:sp>
      <p:sp>
        <p:nvSpPr>
          <p:cNvPr id="28" name="menu-sub-0"/>
          <p:cNvSpPr txBox="1"/>
          <p:nvPr/>
        </p:nvSpPr>
        <p:spPr>
          <a:xfrm>
            <a:off x="1783080" y="2624328"/>
            <a:ext cx="4572000" cy="274320"/>
          </a:xfrm>
          <a:prstGeom prst="rect">
            <a:avLst/>
          </a:prstGeom>
          <a:noFill/>
          <a:ln/>
        </p:spPr>
        <p:txBody>
          <a:bodyPr wrap="square" lIns="0" tIns="0" rIns="0" bIns="0" rtlCol="0" anchor="t"/>
          <a:lstStyle/>
          <a:p>
            <a:pPr indent="0" marL="0">
              <a:buNone/>
            </a:pPr>
            <a:r>
              <a:rPr lang="en-US" sz="1300" dirty="0">
                <a:solidFill>
                  <a:srgbClr val="A9B6C3"/>
                </a:solidFill>
                <a:latin typeface="Segoe UI" pitchFamily="34" charset="0"/>
                <a:ea typeface="Segoe UI" pitchFamily="34" charset="-122"/>
                <a:cs typeface="Segoe UI" pitchFamily="34" charset="-120"/>
              </a:rPr>
              <a:t>Bank fraud alert</a:t>
            </a:r>
            <a:endParaRPr lang="en-US" sz="1300" dirty="0"/>
          </a:p>
        </p:txBody>
      </p:sp>
      <p:pic>
        <p:nvPicPr>
          <p:cNvPr id="29" name="menu-go-0" descr="preencoded.png">    </p:cNvPr>
          <p:cNvPicPr>
            <a:picLocks noChangeAspect="1"/>
          </p:cNvPicPr>
          <p:nvPr/>
        </p:nvPicPr>
        <p:blipFill>
          <a:blip r:embed="rId4"/>
          <a:stretch>
            <a:fillRect/>
          </a:stretch>
        </p:blipFill>
        <p:spPr>
          <a:xfrm>
            <a:off x="6492240" y="2432304"/>
            <a:ext cx="274320" cy="274320"/>
          </a:xfrm>
          <a:prstGeom prst="rect">
            <a:avLst/>
          </a:prstGeom>
        </p:spPr>
      </p:pic>
      <p:pic>
        <p:nvPicPr>
          <p:cNvPr id="30" name="hot-A fake “agent” asks for your UPI PIN" descr="A “bank officer” asks for your OTP">
            <a:hlinkClick r:id="rId6" tooltip="A fake “agent” asks for your UPI PIN" action="ppaction://hlinksldjump"/>
          </p:cNvPr>
          <p:cNvPicPr>
            <a:picLocks noChangeAspect="1"/>
          </p:cNvPicPr>
          <p:nvPr/>
        </p:nvPicPr>
        <p:blipFill>
          <a:blip r:embed="rId5"/>
          <a:stretch>
            <a:fillRect/>
          </a:stretch>
        </p:blipFill>
        <p:spPr>
          <a:xfrm>
            <a:off x="731520" y="2103120"/>
            <a:ext cx="6309360" cy="932688"/>
          </a:xfrm>
          <a:prstGeom prst="rect">
            <a:avLst/>
          </a:prstGeom>
        </p:spPr>
      </p:pic>
      <p:sp>
        <p:nvSpPr>
          <p:cNvPr id="31" name="menu-card-1"/>
          <p:cNvSpPr/>
          <p:nvPr/>
        </p:nvSpPr>
        <p:spPr>
          <a:xfrm>
            <a:off x="731520" y="3218688"/>
            <a:ext cx="6309360" cy="932688"/>
          </a:xfrm>
          <a:prstGeom prst="roundRect">
            <a:avLst>
              <a:gd name="adj" fmla="val 21569"/>
            </a:avLst>
          </a:prstGeom>
          <a:solidFill>
            <a:srgbClr val="16283A"/>
          </a:solidFill>
          <a:ln w="15875">
            <a:solidFill>
              <a:srgbClr val="2F4A63"/>
            </a:solidFill>
            <a:prstDash val="solid"/>
          </a:ln>
        </p:spPr>
      </p:sp>
      <p:sp>
        <p:nvSpPr>
          <p:cNvPr id="32" name="menu-badge-1"/>
          <p:cNvSpPr/>
          <p:nvPr/>
        </p:nvSpPr>
        <p:spPr>
          <a:xfrm>
            <a:off x="960120" y="3392424"/>
            <a:ext cx="585216" cy="585216"/>
          </a:xfrm>
          <a:prstGeom prst="roundRect">
            <a:avLst>
              <a:gd name="adj" fmla="val 25000"/>
            </a:avLst>
          </a:prstGeom>
          <a:solidFill>
            <a:srgbClr val="FFF4DC"/>
          </a:solidFill>
          <a:ln w="12700">
            <a:solidFill>
              <a:srgbClr val="FFF4DC"/>
            </a:solidFill>
            <a:prstDash val="solid"/>
          </a:ln>
        </p:spPr>
      </p:sp>
      <p:pic>
        <p:nvPicPr>
          <p:cNvPr id="33" name="menu-icon-1" descr="preencoded.png">    </p:cNvPr>
          <p:cNvPicPr>
            <a:picLocks noChangeAspect="1"/>
          </p:cNvPicPr>
          <p:nvPr/>
        </p:nvPicPr>
        <p:blipFill>
          <a:blip r:embed="rId7"/>
          <a:stretch>
            <a:fillRect/>
          </a:stretch>
        </p:blipFill>
        <p:spPr>
          <a:xfrm>
            <a:off x="1088136" y="3520440"/>
            <a:ext cx="329184" cy="329184"/>
          </a:xfrm>
          <a:prstGeom prst="rect">
            <a:avLst/>
          </a:prstGeom>
        </p:spPr>
      </p:pic>
      <p:sp>
        <p:nvSpPr>
          <p:cNvPr id="34" name="menu-title-1"/>
          <p:cNvSpPr txBox="1"/>
          <p:nvPr/>
        </p:nvSpPr>
        <p:spPr>
          <a:xfrm>
            <a:off x="1783080" y="3374136"/>
            <a:ext cx="4572000" cy="365760"/>
          </a:xfrm>
          <a:prstGeom prst="rect">
            <a:avLst/>
          </a:prstGeom>
          <a:noFill/>
          <a:ln/>
        </p:spPr>
        <p:txBody>
          <a:bodyPr wrap="square" lIns="0" tIns="0" rIns="0" bIns="0" rtlCol="0" anchor="t"/>
          <a:lstStyle/>
          <a:p>
            <a:pPr indent="0" marL="0">
              <a:buNone/>
            </a:pPr>
            <a:r>
              <a:rPr lang="en-US" sz="1800" b="1" dirty="0">
                <a:solidFill>
                  <a:srgbClr val="FFFFFF"/>
                </a:solidFill>
                <a:latin typeface="Segoe UI" pitchFamily="34" charset="0"/>
                <a:ea typeface="Segoe UI" pitchFamily="34" charset="-122"/>
                <a:cs typeface="Segoe UI" pitchFamily="34" charset="-120"/>
              </a:rPr>
              <a:t>A refund “agent” wants your PIN</a:t>
            </a:r>
            <a:endParaRPr lang="en-US" sz="1800" dirty="0"/>
          </a:p>
        </p:txBody>
      </p:sp>
      <p:sp>
        <p:nvSpPr>
          <p:cNvPr id="35" name="menu-sub-1"/>
          <p:cNvSpPr txBox="1"/>
          <p:nvPr/>
        </p:nvSpPr>
        <p:spPr>
          <a:xfrm>
            <a:off x="1783080" y="3739896"/>
            <a:ext cx="4572000" cy="274320"/>
          </a:xfrm>
          <a:prstGeom prst="rect">
            <a:avLst/>
          </a:prstGeom>
          <a:noFill/>
          <a:ln/>
        </p:spPr>
        <p:txBody>
          <a:bodyPr wrap="square" lIns="0" tIns="0" rIns="0" bIns="0" rtlCol="0" anchor="t"/>
          <a:lstStyle/>
          <a:p>
            <a:pPr indent="0" marL="0">
              <a:buNone/>
            </a:pPr>
            <a:r>
              <a:rPr lang="en-US" sz="1300" dirty="0">
                <a:solidFill>
                  <a:srgbClr val="A9B6C3"/>
                </a:solidFill>
                <a:latin typeface="Segoe UI" pitchFamily="34" charset="0"/>
                <a:ea typeface="Segoe UI" pitchFamily="34" charset="-122"/>
                <a:cs typeface="Segoe UI" pitchFamily="34" charset="-120"/>
              </a:rPr>
              <a:t>Refund scam</a:t>
            </a:r>
            <a:endParaRPr lang="en-US" sz="1300" dirty="0"/>
          </a:p>
        </p:txBody>
      </p:sp>
      <p:pic>
        <p:nvPicPr>
          <p:cNvPr id="36" name="menu-go-1" descr="preencoded.png">    </p:cNvPr>
          <p:cNvPicPr>
            <a:picLocks noChangeAspect="1"/>
          </p:cNvPicPr>
          <p:nvPr/>
        </p:nvPicPr>
        <p:blipFill>
          <a:blip r:embed="rId8"/>
          <a:stretch>
            <a:fillRect/>
          </a:stretch>
        </p:blipFill>
        <p:spPr>
          <a:xfrm>
            <a:off x="6492240" y="3547872"/>
            <a:ext cx="274320" cy="274320"/>
          </a:xfrm>
          <a:prstGeom prst="rect">
            <a:avLst/>
          </a:prstGeom>
        </p:spPr>
      </p:pic>
      <p:pic>
        <p:nvPicPr>
          <p:cNvPr id="37" name="hot-A caller asks for your OTP" descr="A refund “agent” wants your PIN">
            <a:hlinkClick r:id="rId10" tooltip="A caller asks for your OTP" action="ppaction://hlinksldjump"/>
          </p:cNvPr>
          <p:cNvPicPr>
            <a:picLocks noChangeAspect="1"/>
          </p:cNvPicPr>
          <p:nvPr/>
        </p:nvPicPr>
        <p:blipFill>
          <a:blip r:embed="rId9"/>
          <a:stretch>
            <a:fillRect/>
          </a:stretch>
        </p:blipFill>
        <p:spPr>
          <a:xfrm>
            <a:off x="731520" y="3218688"/>
            <a:ext cx="6309360" cy="932688"/>
          </a:xfrm>
          <a:prstGeom prst="rect">
            <a:avLst/>
          </a:prstGeom>
        </p:spPr>
      </p:pic>
      <p:sp>
        <p:nvSpPr>
          <p:cNvPr id="38" name="menu-card-2"/>
          <p:cNvSpPr/>
          <p:nvPr/>
        </p:nvSpPr>
        <p:spPr>
          <a:xfrm>
            <a:off x="731520" y="4334256"/>
            <a:ext cx="6309360" cy="932688"/>
          </a:xfrm>
          <a:prstGeom prst="roundRect">
            <a:avLst>
              <a:gd name="adj" fmla="val 21569"/>
            </a:avLst>
          </a:prstGeom>
          <a:solidFill>
            <a:srgbClr val="16283A"/>
          </a:solidFill>
          <a:ln w="15875">
            <a:solidFill>
              <a:srgbClr val="2F4A63"/>
            </a:solidFill>
            <a:prstDash val="solid"/>
          </a:ln>
        </p:spPr>
      </p:sp>
      <p:sp>
        <p:nvSpPr>
          <p:cNvPr id="39" name="menu-badge-2"/>
          <p:cNvSpPr/>
          <p:nvPr/>
        </p:nvSpPr>
        <p:spPr>
          <a:xfrm>
            <a:off x="960120" y="4507992"/>
            <a:ext cx="585216" cy="585216"/>
          </a:xfrm>
          <a:prstGeom prst="roundRect">
            <a:avLst>
              <a:gd name="adj" fmla="val 25000"/>
            </a:avLst>
          </a:prstGeom>
          <a:solidFill>
            <a:srgbClr val="E3EDF5"/>
          </a:solidFill>
          <a:ln w="12700">
            <a:solidFill>
              <a:srgbClr val="E3EDF5"/>
            </a:solidFill>
            <a:prstDash val="solid"/>
          </a:ln>
        </p:spPr>
      </p:sp>
      <p:pic>
        <p:nvPicPr>
          <p:cNvPr id="40" name="menu-icon-2" descr="preencoded.png">    </p:cNvPr>
          <p:cNvPicPr>
            <a:picLocks noChangeAspect="1"/>
          </p:cNvPicPr>
          <p:nvPr/>
        </p:nvPicPr>
        <p:blipFill>
          <a:blip r:embed="rId11"/>
          <a:stretch>
            <a:fillRect/>
          </a:stretch>
        </p:blipFill>
        <p:spPr>
          <a:xfrm>
            <a:off x="1088136" y="4636008"/>
            <a:ext cx="329184" cy="329184"/>
          </a:xfrm>
          <a:prstGeom prst="rect">
            <a:avLst/>
          </a:prstGeom>
        </p:spPr>
      </p:pic>
      <p:sp>
        <p:nvSpPr>
          <p:cNvPr id="41" name="menu-title-2"/>
          <p:cNvSpPr txBox="1"/>
          <p:nvPr/>
        </p:nvSpPr>
        <p:spPr>
          <a:xfrm>
            <a:off x="1783080" y="4489704"/>
            <a:ext cx="4572000" cy="365760"/>
          </a:xfrm>
          <a:prstGeom prst="rect">
            <a:avLst/>
          </a:prstGeom>
          <a:noFill/>
          <a:ln/>
        </p:spPr>
        <p:txBody>
          <a:bodyPr wrap="square" lIns="0" tIns="0" rIns="0" bIns="0" rtlCol="0" anchor="t"/>
          <a:lstStyle/>
          <a:p>
            <a:pPr indent="0" marL="0">
              <a:buNone/>
            </a:pPr>
            <a:r>
              <a:rPr lang="en-US" sz="1800" b="1" dirty="0">
                <a:solidFill>
                  <a:srgbClr val="FFFFFF"/>
                </a:solidFill>
                <a:latin typeface="Segoe UI" pitchFamily="34" charset="0"/>
                <a:ea typeface="Segoe UI" pitchFamily="34" charset="-122"/>
                <a:cs typeface="Segoe UI" pitchFamily="34" charset="-120"/>
              </a:rPr>
              <a:t>An ordinary call</a:t>
            </a:r>
            <a:endParaRPr lang="en-US" sz="1800" dirty="0"/>
          </a:p>
        </p:txBody>
      </p:sp>
      <p:sp>
        <p:nvSpPr>
          <p:cNvPr id="42" name="menu-sub-2"/>
          <p:cNvSpPr txBox="1"/>
          <p:nvPr/>
        </p:nvSpPr>
        <p:spPr>
          <a:xfrm>
            <a:off x="1783080" y="4855464"/>
            <a:ext cx="4572000" cy="274320"/>
          </a:xfrm>
          <a:prstGeom prst="rect">
            <a:avLst/>
          </a:prstGeom>
          <a:noFill/>
          <a:ln/>
        </p:spPr>
        <p:txBody>
          <a:bodyPr wrap="square" lIns="0" tIns="0" rIns="0" bIns="0" rtlCol="0" anchor="t"/>
          <a:lstStyle/>
          <a:p>
            <a:pPr indent="0" marL="0">
              <a:buNone/>
            </a:pPr>
            <a:r>
              <a:rPr lang="en-US" sz="1300" dirty="0">
                <a:solidFill>
                  <a:srgbClr val="A9B6C3"/>
                </a:solidFill>
                <a:latin typeface="Segoe UI" pitchFamily="34" charset="0"/>
                <a:ea typeface="Segoe UI" pitchFamily="34" charset="-122"/>
                <a:cs typeface="Segoe UI" pitchFamily="34" charset="-120"/>
              </a:rPr>
              <a:t>No payment requests</a:t>
            </a:r>
            <a:endParaRPr lang="en-US" sz="1300" dirty="0"/>
          </a:p>
        </p:txBody>
      </p:sp>
      <p:pic>
        <p:nvPicPr>
          <p:cNvPr id="43" name="menu-go-2" descr="preencoded.png">    </p:cNvPr>
          <p:cNvPicPr>
            <a:picLocks noChangeAspect="1"/>
          </p:cNvPicPr>
          <p:nvPr/>
        </p:nvPicPr>
        <p:blipFill>
          <a:blip r:embed="rId12"/>
          <a:stretch>
            <a:fillRect/>
          </a:stretch>
        </p:blipFill>
        <p:spPr>
          <a:xfrm>
            <a:off x="6492240" y="4663440"/>
            <a:ext cx="274320" cy="274320"/>
          </a:xfrm>
          <a:prstGeom prst="rect">
            <a:avLst/>
          </a:prstGeom>
        </p:spPr>
      </p:pic>
      <p:pic>
        <p:nvPicPr>
          <p:cNvPr id="44" name="hot-An ordinary call" descr="An ordinary call">
            <a:hlinkClick r:id="rId14" tooltip="An ordinary call" action="ppaction://hlinksldjump"/>
          </p:cNvPr>
          <p:cNvPicPr>
            <a:picLocks noChangeAspect="1"/>
          </p:cNvPicPr>
          <p:nvPr/>
        </p:nvPicPr>
        <p:blipFill>
          <a:blip r:embed="rId13"/>
          <a:stretch>
            <a:fillRect/>
          </a:stretch>
        </p:blipFill>
        <p:spPr>
          <a:xfrm>
            <a:off x="731520" y="4334256"/>
            <a:ext cx="6309360" cy="932688"/>
          </a:xfrm>
          <a:prstGeom prst="rect">
            <a:avLst/>
          </a:prstGeom>
        </p:spPr>
      </p:pic>
      <p:sp>
        <p:nvSpPr>
          <p:cNvPr id="45" name="menu-skip"/>
          <p:cNvSpPr txBox="1"/>
          <p:nvPr/>
        </p:nvSpPr>
        <p:spPr>
          <a:xfrm>
            <a:off x="731520" y="5623560"/>
            <a:ext cx="2926080" cy="365760"/>
          </a:xfrm>
          <a:prstGeom prst="rect">
            <a:avLst/>
          </a:prstGeom>
          <a:noFill/>
          <a:ln/>
        </p:spPr>
        <p:txBody>
          <a:bodyPr wrap="square" lIns="0" tIns="0" rIns="0" bIns="0" rtlCol="0" anchor="t"/>
          <a:lstStyle/>
          <a:p>
            <a:pPr indent="0" marL="0">
              <a:buNone/>
            </a:pPr>
            <a:r>
              <a:rPr lang="en-US" sz="1500" b="1" dirty="0">
                <a:solidFill>
                  <a:srgbClr val="7DB8E8"/>
                </a:solidFill>
                <a:latin typeface="Segoe UI" pitchFamily="34" charset="0"/>
                <a:ea typeface="Segoe UI" pitchFamily="34" charset="-122"/>
                <a:cs typeface="Segoe UI" pitchFamily="34" charset="-120"/>
              </a:rPr>
              <a:t>Skip to how it works</a:t>
            </a:r>
            <a:endParaRPr lang="en-US" sz="1500" dirty="0"/>
          </a:p>
        </p:txBody>
      </p:sp>
      <p:pic>
        <p:nvPicPr>
          <p:cNvPr id="46" name="hot-Skip to how it works" descr="Skip to how it works">
            <a:hlinkClick r:id="rId16" tooltip="Skip to how it works" action="ppaction://hlinksldjump"/>
          </p:cNvPr>
          <p:cNvPicPr>
            <a:picLocks noChangeAspect="1"/>
          </p:cNvPicPr>
          <p:nvPr/>
        </p:nvPicPr>
        <p:blipFill>
          <a:blip r:embed="rId15"/>
          <a:stretch>
            <a:fillRect/>
          </a:stretch>
        </p:blipFill>
        <p:spPr>
          <a:xfrm>
            <a:off x="731520" y="5532120"/>
            <a:ext cx="2926080" cy="54864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phone"/>
          <p:cNvSpPr/>
          <p:nvPr/>
        </p:nvSpPr>
        <p:spPr>
          <a:xfrm>
            <a:off x="8001000" y="411480"/>
            <a:ext cx="3017520" cy="6035040"/>
          </a:xfrm>
          <a:prstGeom prst="roundRect">
            <a:avLst>
              <a:gd name="adj" fmla="val 14545"/>
            </a:avLst>
          </a:prstGeom>
          <a:solidFill>
            <a:srgbClr val="0A131D"/>
          </a:solidFill>
          <a:ln w="19050">
            <a:solidFill>
              <a:srgbClr val="2E4257"/>
            </a:solidFill>
            <a:prstDash val="solid"/>
          </a:ln>
        </p:spPr>
      </p:sp>
      <p:sp>
        <p:nvSpPr>
          <p:cNvPr id="3" name="!!screen"/>
          <p:cNvSpPr/>
          <p:nvPr/>
        </p:nvSpPr>
        <p:spPr>
          <a:xfrm>
            <a:off x="8092440" y="502920"/>
            <a:ext cx="2834640" cy="5852160"/>
          </a:xfrm>
          <a:prstGeom prst="roundRect">
            <a:avLst>
              <a:gd name="adj" fmla="val 12903"/>
            </a:avLst>
          </a:prstGeom>
          <a:solidFill>
            <a:srgbClr val="0E1A27"/>
          </a:solidFill>
          <a:ln w="12700">
            <a:solidFill>
              <a:srgbClr val="0E1A27"/>
            </a:solidFill>
            <a:prstDash val="solid"/>
          </a:ln>
        </p:spPr>
      </p:sp>
      <p:sp>
        <p:nvSpPr>
          <p:cNvPr id="4" name="!!p-top"/>
          <p:cNvSpPr txBox="1"/>
          <p:nvPr/>
        </p:nvSpPr>
        <p:spPr>
          <a:xfrm>
            <a:off x="8183880" y="749808"/>
            <a:ext cx="2651760" cy="274320"/>
          </a:xfrm>
          <a:prstGeom prst="rect">
            <a:avLst/>
          </a:prstGeom>
          <a:noFill/>
          <a:ln/>
        </p:spPr>
        <p:txBody>
          <a:bodyPr wrap="square" lIns="0" tIns="0" rIns="0" bIns="0" rtlCol="0" anchor="t"/>
          <a:lstStyle/>
          <a:p>
            <a:pPr algn="ctr" indent="0" marL="0">
              <a:buNone/>
            </a:pPr>
            <a:r>
              <a:rPr lang="en-US" sz="1100" dirty="0">
                <a:solidFill>
                  <a:srgbClr val="A9B6C3"/>
                </a:solidFill>
                <a:latin typeface="Segoe UI" pitchFamily="34" charset="0"/>
                <a:ea typeface="Segoe UI" pitchFamily="34" charset="-122"/>
                <a:cs typeface="Segoe UI" pitchFamily="34" charset="-120"/>
              </a:rPr>
              <a:t>Incoming call</a:t>
            </a:r>
            <a:endParaRPr lang="en-US" sz="1100" dirty="0"/>
          </a:p>
        </p:txBody>
      </p:sp>
      <p:sp>
        <p:nvSpPr>
          <p:cNvPr id="5" name="!!halo-r3"/>
          <p:cNvSpPr/>
          <p:nvPr/>
        </p:nvSpPr>
        <p:spPr>
          <a:xfrm>
            <a:off x="8315325" y="1091565"/>
            <a:ext cx="2388870" cy="2388870"/>
          </a:xfrm>
          <a:prstGeom prst="ellipse">
            <a:avLst/>
          </a:prstGeom>
          <a:solidFill>
            <a:srgbClr val="7DB8E8">
              <a:alpha val="0"/>
            </a:srgbClr>
          </a:solidFill>
          <a:ln w="26543">
            <a:solidFill>
              <a:srgbClr val="7DB8E8">
                <a:alpha val="34000"/>
              </a:srgbClr>
            </a:solidFill>
            <a:prstDash val="solid"/>
          </a:ln>
        </p:spPr>
      </p:sp>
      <p:sp>
        <p:nvSpPr>
          <p:cNvPr id="6" name="!!halo-r2"/>
          <p:cNvSpPr/>
          <p:nvPr/>
        </p:nvSpPr>
        <p:spPr>
          <a:xfrm>
            <a:off x="8597646" y="1373886"/>
            <a:ext cx="1824228" cy="1824228"/>
          </a:xfrm>
          <a:prstGeom prst="ellipse">
            <a:avLst/>
          </a:prstGeom>
          <a:solidFill>
            <a:srgbClr val="7DB8E8">
              <a:alpha val="0"/>
            </a:srgbClr>
          </a:solidFill>
          <a:ln w="26543">
            <a:solidFill>
              <a:srgbClr val="7DB8E8">
                <a:alpha val="56000"/>
              </a:srgbClr>
            </a:solidFill>
            <a:prstDash val="solid"/>
          </a:ln>
        </p:spPr>
      </p:sp>
      <p:sp>
        <p:nvSpPr>
          <p:cNvPr id="7" name="!!halo-r1"/>
          <p:cNvSpPr/>
          <p:nvPr/>
        </p:nvSpPr>
        <p:spPr>
          <a:xfrm>
            <a:off x="8858250" y="1634490"/>
            <a:ext cx="1303020" cy="1303020"/>
          </a:xfrm>
          <a:prstGeom prst="ellipse">
            <a:avLst/>
          </a:prstGeom>
          <a:solidFill>
            <a:srgbClr val="7DB8E8">
              <a:alpha val="0"/>
            </a:srgbClr>
          </a:solidFill>
          <a:ln w="26543">
            <a:solidFill>
              <a:srgbClr val="7DB8E8">
                <a:alpha val="80000"/>
              </a:srgbClr>
            </a:solidFill>
            <a:prstDash val="solid"/>
          </a:ln>
        </p:spPr>
      </p:sp>
      <p:sp>
        <p:nvSpPr>
          <p:cNvPr id="8" name="!!halo-core"/>
          <p:cNvSpPr/>
          <p:nvPr/>
        </p:nvSpPr>
        <p:spPr>
          <a:xfrm>
            <a:off x="9075420" y="1851660"/>
            <a:ext cx="868680" cy="868680"/>
          </a:xfrm>
          <a:prstGeom prst="ellipse">
            <a:avLst/>
          </a:prstGeom>
          <a:solidFill>
            <a:srgbClr val="1B3550"/>
          </a:solidFill>
          <a:ln w="12700">
            <a:solidFill>
              <a:srgbClr val="1B3550"/>
            </a:solidFill>
            <a:prstDash val="solid"/>
          </a:ln>
        </p:spPr>
      </p:sp>
      <p:pic>
        <p:nvPicPr>
          <p:cNvPr id="9" name="!!halo-icon" descr="Scam check">    </p:cNvPr>
          <p:cNvPicPr>
            <a:picLocks noChangeAspect="1"/>
          </p:cNvPicPr>
          <p:nvPr/>
        </p:nvPicPr>
        <p:blipFill>
          <a:blip r:embed="rId1"/>
          <a:stretch>
            <a:fillRect/>
          </a:stretch>
        </p:blipFill>
        <p:spPr>
          <a:xfrm>
            <a:off x="9283903" y="2060143"/>
            <a:ext cx="451714" cy="451714"/>
          </a:xfrm>
          <a:prstGeom prst="rect">
            <a:avLst/>
          </a:prstGeom>
        </p:spPr>
      </p:pic>
      <p:sp>
        <p:nvSpPr>
          <p:cNvPr id="10" name="!!p-title"/>
          <p:cNvSpPr txBox="1"/>
          <p:nvPr/>
        </p:nvSpPr>
        <p:spPr>
          <a:xfrm>
            <a:off x="8183880" y="3611880"/>
            <a:ext cx="2651760" cy="384048"/>
          </a:xfrm>
          <a:prstGeom prst="rect">
            <a:avLst/>
          </a:prstGeom>
          <a:noFill/>
          <a:ln/>
        </p:spPr>
        <p:txBody>
          <a:bodyPr wrap="square" lIns="0" tIns="0" rIns="0" bIns="0" rtlCol="0" anchor="t"/>
          <a:lstStyle/>
          <a:p>
            <a:pPr algn="ctr" indent="0" marL="0">
              <a:buNone/>
            </a:pPr>
            <a:r>
              <a:rPr lang="en-US" sz="1700" b="1" dirty="0">
                <a:solidFill>
                  <a:srgbClr val="FFFFFF"/>
                </a:solidFill>
                <a:latin typeface="Segoe UI" pitchFamily="34" charset="0"/>
                <a:ea typeface="Segoe UI" pitchFamily="34" charset="-122"/>
                <a:cs typeface="Segoe UI" pitchFamily="34" charset="-120"/>
              </a:rPr>
              <a:t>Unknown number</a:t>
            </a:r>
            <a:endParaRPr lang="en-US" sz="1700" dirty="0"/>
          </a:p>
        </p:txBody>
      </p:sp>
      <p:sp>
        <p:nvSpPr>
          <p:cNvPr id="11" name="!!p-sub"/>
          <p:cNvSpPr txBox="1"/>
          <p:nvPr/>
        </p:nvSpPr>
        <p:spPr>
          <a:xfrm>
            <a:off x="8183880" y="4005072"/>
            <a:ext cx="2651760" cy="274320"/>
          </a:xfrm>
          <a:prstGeom prst="rect">
            <a:avLst/>
          </a:prstGeom>
          <a:noFill/>
          <a:ln/>
        </p:spPr>
        <p:txBody>
          <a:bodyPr wrap="square" lIns="0" tIns="0" rIns="0" bIns="0" rtlCol="0" anchor="t"/>
          <a:lstStyle/>
          <a:p>
            <a:pPr algn="ctr" indent="0" marL="0">
              <a:buNone/>
            </a:pPr>
            <a:r>
              <a:rPr lang="en-US" sz="1100" dirty="0">
                <a:solidFill>
                  <a:srgbClr val="A9B6C3"/>
                </a:solidFill>
                <a:latin typeface="Segoe UI" pitchFamily="34" charset="0"/>
                <a:ea typeface="Segoe UI" pitchFamily="34" charset="-122"/>
                <a:cs typeface="Segoe UI" pitchFamily="34" charset="-120"/>
              </a:rPr>
              <a:t>+91 98XXX XXX21</a:t>
            </a:r>
            <a:endParaRPr lang="en-US" sz="1100" dirty="0"/>
          </a:p>
        </p:txBody>
      </p:sp>
      <p:sp>
        <p:nvSpPr>
          <p:cNvPr id="12" name="!!p-card"/>
          <p:cNvSpPr txBox="1"/>
          <p:nvPr/>
        </p:nvSpPr>
        <p:spPr>
          <a:xfrm>
            <a:off x="8321040" y="4434840"/>
            <a:ext cx="2377440" cy="347472"/>
          </a:xfrm>
          <a:prstGeom prst="roundRect">
            <a:avLst>
              <a:gd name="adj" fmla="val 50000"/>
            </a:avLst>
          </a:prstGeom>
          <a:solidFill>
            <a:srgbClr val="21384F"/>
          </a:solidFill>
          <a:ln/>
        </p:spPr>
        <p:txBody>
          <a:bodyPr wrap="square" lIns="0" tIns="0" rIns="0" bIns="0" rtlCol="0" anchor="ctr"/>
          <a:lstStyle/>
          <a:p>
            <a:pPr algn="ctr" indent="0" marL="0">
              <a:buNone/>
            </a:pPr>
            <a:r>
              <a:rPr lang="en-US" sz="900" b="1" dirty="0">
                <a:solidFill>
                  <a:srgbClr val="CFE4F6"/>
                </a:solidFill>
                <a:latin typeface="Segoe UI" pitchFamily="34" charset="0"/>
                <a:ea typeface="Segoe UI" pitchFamily="34" charset="-122"/>
                <a:cs typeface="Segoe UI" pitchFamily="34" charset="-120"/>
              </a:rPr>
              <a:t>Scam check will listen with you</a:t>
            </a:r>
            <a:endParaRPr lang="en-US" sz="900" dirty="0"/>
          </a:p>
        </p:txBody>
      </p:sp>
      <p:sp>
        <p:nvSpPr>
          <p:cNvPr id="13" name="!!p-btn-a"/>
          <p:cNvSpPr/>
          <p:nvPr/>
        </p:nvSpPr>
        <p:spPr>
          <a:xfrm>
            <a:off x="8540496" y="5157216"/>
            <a:ext cx="658368" cy="658368"/>
          </a:xfrm>
          <a:prstGeom prst="ellipse">
            <a:avLst/>
          </a:prstGeom>
          <a:solidFill>
            <a:srgbClr val="D92D20"/>
          </a:solidFill>
          <a:ln w="12700">
            <a:solidFill>
              <a:srgbClr val="D92D20"/>
            </a:solidFill>
            <a:prstDash val="solid"/>
          </a:ln>
        </p:spPr>
      </p:sp>
      <p:pic>
        <p:nvPicPr>
          <p:cNvPr id="14" name="!!p-btn-a-icon" descr="Decline">    </p:cNvPr>
          <p:cNvPicPr>
            <a:picLocks noChangeAspect="1"/>
          </p:cNvPicPr>
          <p:nvPr/>
        </p:nvPicPr>
        <p:blipFill>
          <a:blip r:embed="rId2"/>
          <a:stretch>
            <a:fillRect/>
          </a:stretch>
        </p:blipFill>
        <p:spPr>
          <a:xfrm>
            <a:off x="8721547" y="5338267"/>
            <a:ext cx="296266" cy="296266"/>
          </a:xfrm>
          <a:prstGeom prst="rect">
            <a:avLst/>
          </a:prstGeom>
        </p:spPr>
      </p:pic>
      <p:sp>
        <p:nvSpPr>
          <p:cNvPr id="15" name="!!p-btn-a-label"/>
          <p:cNvSpPr txBox="1"/>
          <p:nvPr/>
        </p:nvSpPr>
        <p:spPr>
          <a:xfrm>
            <a:off x="8321040" y="587044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Decline</a:t>
            </a:r>
            <a:endParaRPr lang="en-US" sz="1000" dirty="0"/>
          </a:p>
        </p:txBody>
      </p:sp>
      <p:sp>
        <p:nvSpPr>
          <p:cNvPr id="16" name="!!p-btn-c"/>
          <p:cNvSpPr/>
          <p:nvPr/>
        </p:nvSpPr>
        <p:spPr>
          <a:xfrm>
            <a:off x="9820656" y="5157216"/>
            <a:ext cx="658368" cy="658368"/>
          </a:xfrm>
          <a:prstGeom prst="ellipse">
            <a:avLst/>
          </a:prstGeom>
          <a:solidFill>
            <a:srgbClr val="2E7BC0"/>
          </a:solidFill>
          <a:ln w="12700">
            <a:solidFill>
              <a:srgbClr val="2E7BC0"/>
            </a:solidFill>
            <a:prstDash val="solid"/>
          </a:ln>
        </p:spPr>
      </p:sp>
      <p:pic>
        <p:nvPicPr>
          <p:cNvPr id="17" name="!!p-btn-c-icon" descr="Answer">    </p:cNvPr>
          <p:cNvPicPr>
            <a:picLocks noChangeAspect="1"/>
          </p:cNvPicPr>
          <p:nvPr/>
        </p:nvPicPr>
        <p:blipFill>
          <a:blip r:embed="rId3"/>
          <a:stretch>
            <a:fillRect/>
          </a:stretch>
        </p:blipFill>
        <p:spPr>
          <a:xfrm>
            <a:off x="10001707" y="5338267"/>
            <a:ext cx="296266" cy="296266"/>
          </a:xfrm>
          <a:prstGeom prst="rect">
            <a:avLst/>
          </a:prstGeom>
        </p:spPr>
      </p:pic>
      <p:sp>
        <p:nvSpPr>
          <p:cNvPr id="18" name="!!p-btn-c-label"/>
          <p:cNvSpPr txBox="1"/>
          <p:nvPr/>
        </p:nvSpPr>
        <p:spPr>
          <a:xfrm>
            <a:off x="9601200" y="587044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Answer</a:t>
            </a:r>
            <a:endParaRPr lang="en-US" sz="1000" dirty="0"/>
          </a:p>
        </p:txBody>
      </p:sp>
      <p:sp>
        <p:nvSpPr>
          <p:cNvPr id="19" name="!!step-num"/>
          <p:cNvSpPr txBox="1"/>
          <p:nvPr/>
        </p:nvSpPr>
        <p:spPr>
          <a:xfrm>
            <a:off x="731520" y="1417320"/>
            <a:ext cx="6400800" cy="365760"/>
          </a:xfrm>
          <a:prstGeom prst="rect">
            <a:avLst/>
          </a:prstGeom>
          <a:noFill/>
          <a:ln/>
        </p:spPr>
        <p:txBody>
          <a:bodyPr wrap="square" lIns="0" tIns="0" rIns="0" bIns="0" rtlCol="0" anchor="t"/>
          <a:lstStyle/>
          <a:p>
            <a:pPr indent="0" marL="0">
              <a:buNone/>
            </a:pPr>
            <a:r>
              <a:rPr lang="en-US" sz="1400" b="1" spc="200" kern="0" dirty="0">
                <a:solidFill>
                  <a:srgbClr val="7DB8E8"/>
                </a:solidFill>
                <a:latin typeface="Segoe UI" pitchFamily="34" charset="0"/>
                <a:ea typeface="Segoe UI" pitchFamily="34" charset="-122"/>
                <a:cs typeface="Segoe UI" pitchFamily="34" charset="-120"/>
              </a:rPr>
              <a:t>1 · THE PHONE RINGS</a:t>
            </a:r>
            <a:endParaRPr lang="en-US" sz="1400" dirty="0"/>
          </a:p>
        </p:txBody>
      </p:sp>
      <p:sp>
        <p:nvSpPr>
          <p:cNvPr id="20" name="!!step-title"/>
          <p:cNvSpPr txBox="1"/>
          <p:nvPr/>
        </p:nvSpPr>
        <p:spPr>
          <a:xfrm>
            <a:off x="731520" y="1828800"/>
            <a:ext cx="6583680" cy="1737360"/>
          </a:xfrm>
          <a:prstGeom prst="rect">
            <a:avLst/>
          </a:prstGeom>
          <a:noFill/>
          <a:ln/>
        </p:spPr>
        <p:txBody>
          <a:bodyPr wrap="square" lIns="0" tIns="0" rIns="0" bIns="0" rtlCol="0" anchor="t"/>
          <a:lstStyle/>
          <a:p>
            <a:pPr indent="0" marL="0">
              <a:buNone/>
            </a:pPr>
            <a:r>
              <a:rPr lang="en-US" sz="3800" b="1" dirty="0">
                <a:solidFill>
                  <a:srgbClr val="FFFFFF"/>
                </a:solidFill>
                <a:latin typeface="Segoe UI" pitchFamily="34" charset="0"/>
                <a:ea typeface="Segoe UI" pitchFamily="34" charset="-122"/>
                <a:cs typeface="Segoe UI" pitchFamily="34" charset="-120"/>
              </a:rPr>
              <a:t>The caller uses any phone</a:t>
            </a:r>
            <a:endParaRPr lang="en-US" sz="3800" dirty="0"/>
          </a:p>
        </p:txBody>
      </p:sp>
      <p:sp>
        <p:nvSpPr>
          <p:cNvPr id="21" name="!!step-body"/>
          <p:cNvSpPr txBox="1"/>
          <p:nvPr/>
        </p:nvSpPr>
        <p:spPr>
          <a:xfrm>
            <a:off x="731520" y="2788920"/>
            <a:ext cx="6217920" cy="1188720"/>
          </a:xfrm>
          <a:prstGeom prst="rect">
            <a:avLst/>
          </a:prstGeom>
          <a:noFill/>
          <a:ln/>
        </p:spPr>
        <p:txBody>
          <a:bodyPr wrap="square" lIns="0" tIns="0" rIns="0" bIns="0" rtlCol="0" anchor="t"/>
          <a:lstStyle/>
          <a:p>
            <a:pPr indent="0" marL="0">
              <a:buNone/>
            </a:pPr>
            <a:r>
              <a:rPr lang="en-US" sz="1800" dirty="0">
                <a:solidFill>
                  <a:srgbClr val="A9B6C3"/>
                </a:solidFill>
                <a:latin typeface="Segoe UI" pitchFamily="34" charset="0"/>
                <a:ea typeface="Segoe UI" pitchFamily="34" charset="-122"/>
                <a:cs typeface="Segoe UI" pitchFamily="34" charset="-120"/>
              </a:rPr>
              <a:t>No app on their side, just the default dialer. Our user answers in Edgerunners.</a:t>
            </a:r>
            <a:endParaRPr lang="en-US" sz="1800" dirty="0"/>
          </a:p>
        </p:txBody>
      </p:sp>
      <p:sp>
        <p:nvSpPr>
          <p:cNvPr id="22" name="!!step-hint"/>
          <p:cNvSpPr txBox="1"/>
          <p:nvPr/>
        </p:nvSpPr>
        <p:spPr>
          <a:xfrm>
            <a:off x="731520" y="5897880"/>
            <a:ext cx="6400800" cy="320040"/>
          </a:xfrm>
          <a:prstGeom prst="rect">
            <a:avLst/>
          </a:prstGeom>
          <a:noFill/>
          <a:ln/>
        </p:spPr>
        <p:txBody>
          <a:bodyPr wrap="square" lIns="0" tIns="0" rIns="0" bIns="0" rtlCol="0" anchor="t"/>
          <a:lstStyle/>
          <a:p>
            <a:pPr indent="0" marL="0">
              <a:buNone/>
            </a:pPr>
            <a:r>
              <a:rPr lang="en-US" sz="1300" i="1" dirty="0">
                <a:solidFill>
                  <a:srgbClr val="7DB8E8"/>
                </a:solidFill>
                <a:latin typeface="Segoe UI" pitchFamily="34" charset="0"/>
                <a:ea typeface="Segoe UI" pitchFamily="34" charset="-122"/>
                <a:cs typeface="Segoe UI" pitchFamily="34" charset="-120"/>
              </a:rPr>
              <a:t>Click Answer on the phone</a:t>
            </a:r>
            <a:endParaRPr lang="en-US" sz="1300" dirty="0"/>
          </a:p>
        </p:txBody>
      </p:sp>
      <p:pic>
        <p:nvPicPr>
          <p:cNvPr id="23" name="hot-Answer" descr="Answer">
            <a:hlinkClick r:id="rId5" tooltip="Answer" action="ppaction://hlinksldjump"/>
          </p:cNvPr>
          <p:cNvPicPr>
            <a:picLocks noChangeAspect="1"/>
          </p:cNvPicPr>
          <p:nvPr/>
        </p:nvPicPr>
        <p:blipFill>
          <a:blip r:embed="rId4"/>
          <a:stretch>
            <a:fillRect/>
          </a:stretch>
        </p:blipFill>
        <p:spPr>
          <a:xfrm>
            <a:off x="9738360" y="5074920"/>
            <a:ext cx="822960" cy="9144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hone"/>
          <p:cNvSpPr/>
          <p:nvPr/>
        </p:nvSpPr>
        <p:spPr>
          <a:xfrm>
            <a:off x="8001000" y="411480"/>
            <a:ext cx="3017520" cy="6035040"/>
          </a:xfrm>
          <a:prstGeom prst="roundRect">
            <a:avLst>
              <a:gd name="adj" fmla="val 14545"/>
            </a:avLst>
          </a:prstGeom>
          <a:solidFill>
            <a:srgbClr val="0A131D"/>
          </a:solidFill>
          <a:ln w="19050">
            <a:solidFill>
              <a:srgbClr val="2E4257"/>
            </a:solidFill>
            <a:prstDash val="solid"/>
          </a:ln>
        </p:spPr>
      </p:sp>
      <p:sp>
        <p:nvSpPr>
          <p:cNvPr id="3" name="!!screen"/>
          <p:cNvSpPr/>
          <p:nvPr/>
        </p:nvSpPr>
        <p:spPr>
          <a:xfrm>
            <a:off x="8092440" y="502920"/>
            <a:ext cx="2834640" cy="5852160"/>
          </a:xfrm>
          <a:prstGeom prst="roundRect">
            <a:avLst>
              <a:gd name="adj" fmla="val 12903"/>
            </a:avLst>
          </a:prstGeom>
          <a:solidFill>
            <a:srgbClr val="0E1A27"/>
          </a:solidFill>
          <a:ln w="12700">
            <a:solidFill>
              <a:srgbClr val="0E1A27"/>
            </a:solidFill>
            <a:prstDash val="solid"/>
          </a:ln>
        </p:spPr>
      </p:sp>
      <p:sp>
        <p:nvSpPr>
          <p:cNvPr id="4" name="!!p-top"/>
          <p:cNvSpPr txBox="1"/>
          <p:nvPr/>
        </p:nvSpPr>
        <p:spPr>
          <a:xfrm>
            <a:off x="8183880" y="713232"/>
            <a:ext cx="2651760" cy="310896"/>
          </a:xfrm>
          <a:prstGeom prst="rect">
            <a:avLst/>
          </a:prstGeom>
          <a:noFill/>
          <a:ln/>
        </p:spPr>
        <p:txBody>
          <a:bodyPr wrap="square" lIns="0" tIns="0" rIns="0" bIns="0" rtlCol="0" anchor="t"/>
          <a:lstStyle/>
          <a:p>
            <a:pPr algn="ctr" indent="0" marL="0">
              <a:buNone/>
            </a:pPr>
            <a:r>
              <a:rPr lang="en-US" sz="1400" b="1" dirty="0">
                <a:solidFill>
                  <a:srgbClr val="FFFFFF"/>
                </a:solidFill>
                <a:latin typeface="Segoe UI" pitchFamily="34" charset="0"/>
                <a:ea typeface="Segoe UI" pitchFamily="34" charset="-122"/>
                <a:cs typeface="Segoe UI" pitchFamily="34" charset="-120"/>
              </a:rPr>
              <a:t>Unknown number</a:t>
            </a:r>
            <a:endParaRPr lang="en-US" sz="1400" dirty="0"/>
          </a:p>
        </p:txBody>
      </p:sp>
      <p:sp>
        <p:nvSpPr>
          <p:cNvPr id="5" name="!!p-clock"/>
          <p:cNvSpPr txBox="1"/>
          <p:nvPr/>
        </p:nvSpPr>
        <p:spPr>
          <a:xfrm>
            <a:off x="8183880" y="1005840"/>
            <a:ext cx="2651760" cy="237744"/>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0:04</a:t>
            </a:r>
            <a:endParaRPr lang="en-US" sz="1000" dirty="0"/>
          </a:p>
        </p:txBody>
      </p:sp>
      <p:sp>
        <p:nvSpPr>
          <p:cNvPr id="6" name="!!halo-r3"/>
          <p:cNvSpPr/>
          <p:nvPr/>
        </p:nvSpPr>
        <p:spPr>
          <a:xfrm>
            <a:off x="8378190" y="1200150"/>
            <a:ext cx="2263140" cy="2263140"/>
          </a:xfrm>
          <a:prstGeom prst="ellipse">
            <a:avLst/>
          </a:prstGeom>
          <a:solidFill>
            <a:srgbClr val="7DB8E8">
              <a:alpha val="0"/>
            </a:srgbClr>
          </a:solidFill>
          <a:ln w="25146">
            <a:solidFill>
              <a:srgbClr val="7DB8E8">
                <a:alpha val="20000"/>
              </a:srgbClr>
            </a:solidFill>
            <a:prstDash val="solid"/>
          </a:ln>
        </p:spPr>
      </p:sp>
      <p:sp>
        <p:nvSpPr>
          <p:cNvPr id="7" name="!!halo-r2"/>
          <p:cNvSpPr/>
          <p:nvPr/>
        </p:nvSpPr>
        <p:spPr>
          <a:xfrm>
            <a:off x="8645652" y="1467612"/>
            <a:ext cx="1728216" cy="1728216"/>
          </a:xfrm>
          <a:prstGeom prst="ellipse">
            <a:avLst/>
          </a:prstGeom>
          <a:solidFill>
            <a:srgbClr val="7DB8E8">
              <a:alpha val="0"/>
            </a:srgbClr>
          </a:solidFill>
          <a:ln w="25146">
            <a:solidFill>
              <a:srgbClr val="7DB8E8">
                <a:alpha val="38000"/>
              </a:srgbClr>
            </a:solidFill>
            <a:prstDash val="solid"/>
          </a:ln>
        </p:spPr>
      </p:sp>
      <p:sp>
        <p:nvSpPr>
          <p:cNvPr id="8" name="!!halo-r1"/>
          <p:cNvSpPr/>
          <p:nvPr/>
        </p:nvSpPr>
        <p:spPr>
          <a:xfrm>
            <a:off x="8892540" y="1714500"/>
            <a:ext cx="1234440" cy="1234440"/>
          </a:xfrm>
          <a:prstGeom prst="ellipse">
            <a:avLst/>
          </a:prstGeom>
          <a:solidFill>
            <a:srgbClr val="7DB8E8">
              <a:alpha val="0"/>
            </a:srgbClr>
          </a:solidFill>
          <a:ln w="25146">
            <a:solidFill>
              <a:srgbClr val="7DB8E8">
                <a:alpha val="62000"/>
              </a:srgbClr>
            </a:solidFill>
            <a:prstDash val="solid"/>
          </a:ln>
        </p:spPr>
      </p:sp>
      <p:sp>
        <p:nvSpPr>
          <p:cNvPr id="9" name="!!halo-core"/>
          <p:cNvSpPr/>
          <p:nvPr/>
        </p:nvSpPr>
        <p:spPr>
          <a:xfrm>
            <a:off x="9098280" y="1920240"/>
            <a:ext cx="822960" cy="822960"/>
          </a:xfrm>
          <a:prstGeom prst="ellipse">
            <a:avLst/>
          </a:prstGeom>
          <a:solidFill>
            <a:srgbClr val="1B3550"/>
          </a:solidFill>
          <a:ln w="12700">
            <a:solidFill>
              <a:srgbClr val="1B3550"/>
            </a:solidFill>
            <a:prstDash val="solid"/>
          </a:ln>
        </p:spPr>
      </p:sp>
      <p:pic>
        <p:nvPicPr>
          <p:cNvPr id="10" name="!!halo-icon" descr="Scam check">    </p:cNvPr>
          <p:cNvPicPr>
            <a:picLocks noChangeAspect="1"/>
          </p:cNvPicPr>
          <p:nvPr/>
        </p:nvPicPr>
        <p:blipFill>
          <a:blip r:embed="rId1"/>
          <a:stretch>
            <a:fillRect/>
          </a:stretch>
        </p:blipFill>
        <p:spPr>
          <a:xfrm>
            <a:off x="9295790" y="2117750"/>
            <a:ext cx="427939" cy="427939"/>
          </a:xfrm>
          <a:prstGeom prst="rect">
            <a:avLst/>
          </a:prstGeom>
        </p:spPr>
      </p:pic>
      <p:sp>
        <p:nvSpPr>
          <p:cNvPr id="11" name="!!p-card"/>
          <p:cNvSpPr/>
          <p:nvPr/>
        </p:nvSpPr>
        <p:spPr>
          <a:xfrm>
            <a:off x="8229600" y="3611880"/>
            <a:ext cx="2560320" cy="1325880"/>
          </a:xfrm>
          <a:prstGeom prst="roundRect">
            <a:avLst>
              <a:gd name="adj" fmla="val 11034"/>
            </a:avLst>
          </a:prstGeom>
          <a:solidFill>
            <a:srgbClr val="16283A"/>
          </a:solidFill>
          <a:ln w="15875">
            <a:solidFill>
              <a:srgbClr val="2F4A63"/>
            </a:solidFill>
            <a:prstDash val="solid"/>
          </a:ln>
        </p:spPr>
      </p:sp>
      <p:sp>
        <p:nvSpPr>
          <p:cNvPr id="12" name="!!p-card-title"/>
          <p:cNvSpPr txBox="1"/>
          <p:nvPr/>
        </p:nvSpPr>
        <p:spPr>
          <a:xfrm>
            <a:off x="8385048" y="3721608"/>
            <a:ext cx="2249424" cy="274320"/>
          </a:xfrm>
          <a:prstGeom prst="rect">
            <a:avLst/>
          </a:prstGeom>
          <a:noFill/>
          <a:ln/>
        </p:spPr>
        <p:txBody>
          <a:bodyPr wrap="square" lIns="0" tIns="0" rIns="0" bIns="0" rtlCol="0" anchor="t"/>
          <a:lstStyle/>
          <a:p>
            <a:pPr indent="0" marL="0">
              <a:buNone/>
            </a:pPr>
            <a:r>
              <a:rPr lang="en-US" sz="1200" b="1" dirty="0">
                <a:solidFill>
                  <a:srgbClr val="E8F1F9"/>
                </a:solidFill>
                <a:latin typeface="Segoe UI" pitchFamily="34" charset="0"/>
                <a:ea typeface="Segoe UI" pitchFamily="34" charset="-122"/>
                <a:cs typeface="Segoe UI" pitchFamily="34" charset="-120"/>
              </a:rPr>
              <a:t>Listening with you</a:t>
            </a:r>
            <a:endParaRPr lang="en-US" sz="1200" dirty="0"/>
          </a:p>
        </p:txBody>
      </p:sp>
      <p:sp>
        <p:nvSpPr>
          <p:cNvPr id="13" name="!!p-card-sub"/>
          <p:cNvSpPr txBox="1"/>
          <p:nvPr/>
        </p:nvSpPr>
        <p:spPr>
          <a:xfrm>
            <a:off x="8385048" y="4023360"/>
            <a:ext cx="2249424" cy="420624"/>
          </a:xfrm>
          <a:prstGeom prst="rect">
            <a:avLst/>
          </a:prstGeom>
          <a:noFill/>
          <a:ln/>
        </p:spPr>
        <p:txBody>
          <a:bodyPr wrap="square" lIns="0" tIns="0" rIns="0" bIns="0" rtlCol="0" anchor="t"/>
          <a:lstStyle/>
          <a:p>
            <a:pPr indent="0" marL="0">
              <a:buNone/>
            </a:pPr>
            <a:r>
              <a:rPr lang="en-US" sz="950" dirty="0">
                <a:solidFill>
                  <a:srgbClr val="E8F1F9"/>
                </a:solidFill>
                <a:latin typeface="Segoe UI" pitchFamily="34" charset="0"/>
                <a:ea typeface="Segoe UI" pitchFamily="34" charset="-122"/>
                <a:cs typeface="Segoe UI" pitchFamily="34" charset="-120"/>
              </a:rPr>
              <a:t>We'll warn you if they ask for a QR scan, UPI PIN or OTP.</a:t>
            </a:r>
            <a:endParaRPr lang="en-US" sz="950" dirty="0"/>
          </a:p>
        </p:txBody>
      </p:sp>
      <p:sp>
        <p:nvSpPr>
          <p:cNvPr id="14" name="!!p-btn-a"/>
          <p:cNvSpPr/>
          <p:nvPr/>
        </p:nvSpPr>
        <p:spPr>
          <a:xfrm>
            <a:off x="8403336" y="5202936"/>
            <a:ext cx="566928" cy="566928"/>
          </a:xfrm>
          <a:prstGeom prst="ellipse">
            <a:avLst/>
          </a:prstGeom>
          <a:solidFill>
            <a:srgbClr val="FFFFFF">
              <a:alpha val="8000"/>
            </a:srgbClr>
          </a:solidFill>
          <a:ln w="12700">
            <a:solidFill>
              <a:srgbClr val="3A4E63"/>
            </a:solidFill>
            <a:prstDash val="solid"/>
          </a:ln>
        </p:spPr>
      </p:sp>
      <p:pic>
        <p:nvPicPr>
          <p:cNvPr id="15" name="!!p-btn-a-icon" descr="Mute">    </p:cNvPr>
          <p:cNvPicPr>
            <a:picLocks noChangeAspect="1"/>
          </p:cNvPicPr>
          <p:nvPr/>
        </p:nvPicPr>
        <p:blipFill>
          <a:blip r:embed="rId2"/>
          <a:stretch>
            <a:fillRect/>
          </a:stretch>
        </p:blipFill>
        <p:spPr>
          <a:xfrm>
            <a:off x="8559241" y="5358841"/>
            <a:ext cx="255118" cy="255118"/>
          </a:xfrm>
          <a:prstGeom prst="rect">
            <a:avLst/>
          </a:prstGeom>
        </p:spPr>
      </p:pic>
      <p:sp>
        <p:nvSpPr>
          <p:cNvPr id="16" name="!!p-btn-a-label"/>
          <p:cNvSpPr txBox="1"/>
          <p:nvPr/>
        </p:nvSpPr>
        <p:spPr>
          <a:xfrm>
            <a:off x="8138160" y="582472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Mute</a:t>
            </a:r>
            <a:endParaRPr lang="en-US" sz="1000" dirty="0"/>
          </a:p>
        </p:txBody>
      </p:sp>
      <p:sp>
        <p:nvSpPr>
          <p:cNvPr id="17" name="!!p-btn-b"/>
          <p:cNvSpPr/>
          <p:nvPr/>
        </p:nvSpPr>
        <p:spPr>
          <a:xfrm>
            <a:off x="9226296" y="5202936"/>
            <a:ext cx="566928" cy="566928"/>
          </a:xfrm>
          <a:prstGeom prst="ellipse">
            <a:avLst/>
          </a:prstGeom>
          <a:solidFill>
            <a:srgbClr val="FFFFFF">
              <a:alpha val="8000"/>
            </a:srgbClr>
          </a:solidFill>
          <a:ln w="12700">
            <a:solidFill>
              <a:srgbClr val="3A4E63"/>
            </a:solidFill>
            <a:prstDash val="solid"/>
          </a:ln>
        </p:spPr>
      </p:sp>
      <p:pic>
        <p:nvPicPr>
          <p:cNvPr id="18" name="!!p-btn-b-icon" descr="Speaker">    </p:cNvPr>
          <p:cNvPicPr>
            <a:picLocks noChangeAspect="1"/>
          </p:cNvPicPr>
          <p:nvPr/>
        </p:nvPicPr>
        <p:blipFill>
          <a:blip r:embed="rId3"/>
          <a:stretch>
            <a:fillRect/>
          </a:stretch>
        </p:blipFill>
        <p:spPr>
          <a:xfrm>
            <a:off x="9382201" y="5358841"/>
            <a:ext cx="255118" cy="255118"/>
          </a:xfrm>
          <a:prstGeom prst="rect">
            <a:avLst/>
          </a:prstGeom>
        </p:spPr>
      </p:pic>
      <p:sp>
        <p:nvSpPr>
          <p:cNvPr id="19" name="!!p-btn-b-label"/>
          <p:cNvSpPr txBox="1"/>
          <p:nvPr/>
        </p:nvSpPr>
        <p:spPr>
          <a:xfrm>
            <a:off x="8961120" y="582472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Speaker</a:t>
            </a:r>
            <a:endParaRPr lang="en-US" sz="1000" dirty="0"/>
          </a:p>
        </p:txBody>
      </p:sp>
      <p:sp>
        <p:nvSpPr>
          <p:cNvPr id="20" name="!!p-btn-c"/>
          <p:cNvSpPr/>
          <p:nvPr/>
        </p:nvSpPr>
        <p:spPr>
          <a:xfrm>
            <a:off x="10049256" y="5202936"/>
            <a:ext cx="566928" cy="566928"/>
          </a:xfrm>
          <a:prstGeom prst="ellipse">
            <a:avLst/>
          </a:prstGeom>
          <a:solidFill>
            <a:srgbClr val="D92D20"/>
          </a:solidFill>
          <a:ln w="12700">
            <a:solidFill>
              <a:srgbClr val="D92D20"/>
            </a:solidFill>
            <a:prstDash val="solid"/>
          </a:ln>
        </p:spPr>
      </p:sp>
      <p:pic>
        <p:nvPicPr>
          <p:cNvPr id="21" name="!!p-btn-c-icon" descr="End">    </p:cNvPr>
          <p:cNvPicPr>
            <a:picLocks noChangeAspect="1"/>
          </p:cNvPicPr>
          <p:nvPr/>
        </p:nvPicPr>
        <p:blipFill>
          <a:blip r:embed="rId4"/>
          <a:stretch>
            <a:fillRect/>
          </a:stretch>
        </p:blipFill>
        <p:spPr>
          <a:xfrm>
            <a:off x="10205161" y="5358841"/>
            <a:ext cx="255118" cy="255118"/>
          </a:xfrm>
          <a:prstGeom prst="rect">
            <a:avLst/>
          </a:prstGeom>
        </p:spPr>
      </p:pic>
      <p:sp>
        <p:nvSpPr>
          <p:cNvPr id="22" name="!!p-btn-c-label"/>
          <p:cNvSpPr txBox="1"/>
          <p:nvPr/>
        </p:nvSpPr>
        <p:spPr>
          <a:xfrm>
            <a:off x="9784080" y="582472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End</a:t>
            </a:r>
            <a:endParaRPr lang="en-US" sz="1000" dirty="0"/>
          </a:p>
        </p:txBody>
      </p:sp>
      <p:sp>
        <p:nvSpPr>
          <p:cNvPr id="23" name="!!step-num"/>
          <p:cNvSpPr txBox="1"/>
          <p:nvPr/>
        </p:nvSpPr>
        <p:spPr>
          <a:xfrm>
            <a:off x="731520" y="1417320"/>
            <a:ext cx="6400800" cy="365760"/>
          </a:xfrm>
          <a:prstGeom prst="rect">
            <a:avLst/>
          </a:prstGeom>
          <a:noFill/>
          <a:ln/>
        </p:spPr>
        <p:txBody>
          <a:bodyPr wrap="square" lIns="0" tIns="0" rIns="0" bIns="0" rtlCol="0" anchor="t"/>
          <a:lstStyle/>
          <a:p>
            <a:pPr indent="0" marL="0">
              <a:buNone/>
            </a:pPr>
            <a:r>
              <a:rPr lang="en-US" sz="1400" b="1" spc="200" kern="0" dirty="0">
                <a:solidFill>
                  <a:srgbClr val="7DB8E8"/>
                </a:solidFill>
                <a:latin typeface="Segoe UI" pitchFamily="34" charset="0"/>
                <a:ea typeface="Segoe UI" pitchFamily="34" charset="-122"/>
                <a:cs typeface="Segoe UI" pitchFamily="34" charset="-120"/>
              </a:rPr>
              <a:t>2 · LISTENING</a:t>
            </a:r>
            <a:endParaRPr lang="en-US" sz="1400" dirty="0"/>
          </a:p>
        </p:txBody>
      </p:sp>
      <p:sp>
        <p:nvSpPr>
          <p:cNvPr id="24" name="!!step-title"/>
          <p:cNvSpPr txBox="1"/>
          <p:nvPr/>
        </p:nvSpPr>
        <p:spPr>
          <a:xfrm>
            <a:off x="731520" y="1828800"/>
            <a:ext cx="6583680" cy="1737360"/>
          </a:xfrm>
          <a:prstGeom prst="rect">
            <a:avLst/>
          </a:prstGeom>
          <a:noFill/>
          <a:ln/>
        </p:spPr>
        <p:txBody>
          <a:bodyPr wrap="square" lIns="0" tIns="0" rIns="0" bIns="0" rtlCol="0" anchor="t"/>
          <a:lstStyle/>
          <a:p>
            <a:pPr indent="0" marL="0">
              <a:buNone/>
            </a:pPr>
            <a:r>
              <a:rPr lang="en-US" sz="3800" b="1" dirty="0">
                <a:solidFill>
                  <a:srgbClr val="FFFFFF"/>
                </a:solidFill>
                <a:latin typeface="Segoe UI" pitchFamily="34" charset="0"/>
                <a:ea typeface="Segoe UI" pitchFamily="34" charset="-122"/>
                <a:cs typeface="Segoe UI" pitchFamily="34" charset="-120"/>
              </a:rPr>
              <a:t>The halo breathes while it listens</a:t>
            </a:r>
            <a:endParaRPr lang="en-US" sz="3800" dirty="0"/>
          </a:p>
        </p:txBody>
      </p:sp>
      <p:sp>
        <p:nvSpPr>
          <p:cNvPr id="25" name="!!step-body"/>
          <p:cNvSpPr txBox="1"/>
          <p:nvPr/>
        </p:nvSpPr>
        <p:spPr>
          <a:xfrm>
            <a:off x="731520" y="3611880"/>
            <a:ext cx="6217920" cy="1188720"/>
          </a:xfrm>
          <a:prstGeom prst="rect">
            <a:avLst/>
          </a:prstGeom>
          <a:noFill/>
          <a:ln/>
        </p:spPr>
        <p:txBody>
          <a:bodyPr wrap="square" lIns="0" tIns="0" rIns="0" bIns="0" rtlCol="0" anchor="t"/>
          <a:lstStyle/>
          <a:p>
            <a:pPr indent="0" marL="0">
              <a:buNone/>
            </a:pPr>
            <a:r>
              <a:rPr lang="en-US" sz="1800" dirty="0">
                <a:solidFill>
                  <a:srgbClr val="A9B6C3"/>
                </a:solidFill>
                <a:latin typeface="Segoe UI" pitchFamily="34" charset="0"/>
                <a:ea typeface="Segoe UI" pitchFamily="34" charset="-122"/>
                <a:cs typeface="Segoe UI" pitchFamily="34" charset="-120"/>
              </a:rPr>
              <a:t>You can forget it's there. Nothing happens unless the caller asks for a payment, PIN or OTP.</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advTm="3500">
        <p159:morph option="byObject"/>
      </p:transition>
    </mc:Choice>
    <mc:Fallback>
      <p:transition spd="slow" advTm="35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phone"/>
          <p:cNvSpPr/>
          <p:nvPr/>
        </p:nvSpPr>
        <p:spPr>
          <a:xfrm>
            <a:off x="8001000" y="411480"/>
            <a:ext cx="3017520" cy="6035040"/>
          </a:xfrm>
          <a:prstGeom prst="roundRect">
            <a:avLst>
              <a:gd name="adj" fmla="val 14545"/>
            </a:avLst>
          </a:prstGeom>
          <a:solidFill>
            <a:srgbClr val="0A131D"/>
          </a:solidFill>
          <a:ln w="19050">
            <a:solidFill>
              <a:srgbClr val="2E4257"/>
            </a:solidFill>
            <a:prstDash val="solid"/>
          </a:ln>
        </p:spPr>
      </p:sp>
      <p:sp>
        <p:nvSpPr>
          <p:cNvPr id="3" name="!!screen"/>
          <p:cNvSpPr/>
          <p:nvPr/>
        </p:nvSpPr>
        <p:spPr>
          <a:xfrm>
            <a:off x="8092440" y="502920"/>
            <a:ext cx="2834640" cy="5852160"/>
          </a:xfrm>
          <a:prstGeom prst="roundRect">
            <a:avLst>
              <a:gd name="adj" fmla="val 12903"/>
            </a:avLst>
          </a:prstGeom>
          <a:solidFill>
            <a:srgbClr val="0E1A27"/>
          </a:solidFill>
          <a:ln w="12700">
            <a:solidFill>
              <a:srgbClr val="0E1A27"/>
            </a:solidFill>
            <a:prstDash val="solid"/>
          </a:ln>
        </p:spPr>
      </p:sp>
      <p:sp>
        <p:nvSpPr>
          <p:cNvPr id="4" name="!!p-top"/>
          <p:cNvSpPr txBox="1"/>
          <p:nvPr/>
        </p:nvSpPr>
        <p:spPr>
          <a:xfrm>
            <a:off x="8183880" y="713232"/>
            <a:ext cx="2651760" cy="310896"/>
          </a:xfrm>
          <a:prstGeom prst="rect">
            <a:avLst/>
          </a:prstGeom>
          <a:noFill/>
          <a:ln/>
        </p:spPr>
        <p:txBody>
          <a:bodyPr wrap="square" lIns="0" tIns="0" rIns="0" bIns="0" rtlCol="0" anchor="t"/>
          <a:lstStyle/>
          <a:p>
            <a:pPr algn="ctr" indent="0" marL="0">
              <a:buNone/>
            </a:pPr>
            <a:r>
              <a:rPr lang="en-US" sz="1400" b="1" dirty="0">
                <a:solidFill>
                  <a:srgbClr val="FFFFFF"/>
                </a:solidFill>
                <a:latin typeface="Segoe UI" pitchFamily="34" charset="0"/>
                <a:ea typeface="Segoe UI" pitchFamily="34" charset="-122"/>
                <a:cs typeface="Segoe UI" pitchFamily="34" charset="-120"/>
              </a:rPr>
              <a:t>Unknown number</a:t>
            </a:r>
            <a:endParaRPr lang="en-US" sz="1400" dirty="0"/>
          </a:p>
        </p:txBody>
      </p:sp>
      <p:sp>
        <p:nvSpPr>
          <p:cNvPr id="5" name="!!p-clock"/>
          <p:cNvSpPr txBox="1"/>
          <p:nvPr/>
        </p:nvSpPr>
        <p:spPr>
          <a:xfrm>
            <a:off x="8183880" y="1005840"/>
            <a:ext cx="2651760" cy="237744"/>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0:21</a:t>
            </a:r>
            <a:endParaRPr lang="en-US" sz="1000" dirty="0"/>
          </a:p>
        </p:txBody>
      </p:sp>
      <p:sp>
        <p:nvSpPr>
          <p:cNvPr id="6" name="!!halo-r3"/>
          <p:cNvSpPr/>
          <p:nvPr/>
        </p:nvSpPr>
        <p:spPr>
          <a:xfrm>
            <a:off x="8378190" y="1200150"/>
            <a:ext cx="2263140" cy="2263140"/>
          </a:xfrm>
          <a:prstGeom prst="ellipse">
            <a:avLst/>
          </a:prstGeom>
          <a:solidFill>
            <a:srgbClr val="F5B83D">
              <a:alpha val="0"/>
            </a:srgbClr>
          </a:solidFill>
          <a:ln w="25146">
            <a:solidFill>
              <a:srgbClr val="F5B83D">
                <a:alpha val="30000"/>
              </a:srgbClr>
            </a:solidFill>
            <a:prstDash val="solid"/>
          </a:ln>
        </p:spPr>
      </p:sp>
      <p:sp>
        <p:nvSpPr>
          <p:cNvPr id="7" name="!!halo-r2"/>
          <p:cNvSpPr/>
          <p:nvPr/>
        </p:nvSpPr>
        <p:spPr>
          <a:xfrm>
            <a:off x="8645652" y="1467612"/>
            <a:ext cx="1728216" cy="1728216"/>
          </a:xfrm>
          <a:prstGeom prst="ellipse">
            <a:avLst/>
          </a:prstGeom>
          <a:solidFill>
            <a:srgbClr val="F5B83D">
              <a:alpha val="0"/>
            </a:srgbClr>
          </a:solidFill>
          <a:ln w="25146">
            <a:solidFill>
              <a:srgbClr val="F5B83D">
                <a:alpha val="58000"/>
              </a:srgbClr>
            </a:solidFill>
            <a:prstDash val="solid"/>
          </a:ln>
        </p:spPr>
      </p:sp>
      <p:sp>
        <p:nvSpPr>
          <p:cNvPr id="8" name="!!halo-r1"/>
          <p:cNvSpPr/>
          <p:nvPr/>
        </p:nvSpPr>
        <p:spPr>
          <a:xfrm>
            <a:off x="8892540" y="1714500"/>
            <a:ext cx="1234440" cy="1234440"/>
          </a:xfrm>
          <a:prstGeom prst="ellipse">
            <a:avLst/>
          </a:prstGeom>
          <a:solidFill>
            <a:srgbClr val="F5B83D">
              <a:alpha val="0"/>
            </a:srgbClr>
          </a:solidFill>
          <a:ln w="25146">
            <a:solidFill>
              <a:srgbClr val="F5B83D">
                <a:alpha val="90000"/>
              </a:srgbClr>
            </a:solidFill>
            <a:prstDash val="solid"/>
          </a:ln>
        </p:spPr>
      </p:sp>
      <p:sp>
        <p:nvSpPr>
          <p:cNvPr id="9" name="!!halo-core"/>
          <p:cNvSpPr/>
          <p:nvPr/>
        </p:nvSpPr>
        <p:spPr>
          <a:xfrm>
            <a:off x="9098280" y="1920240"/>
            <a:ext cx="822960" cy="822960"/>
          </a:xfrm>
          <a:prstGeom prst="ellipse">
            <a:avLst/>
          </a:prstGeom>
          <a:solidFill>
            <a:srgbClr val="3A2A08"/>
          </a:solidFill>
          <a:ln w="12700">
            <a:solidFill>
              <a:srgbClr val="3A2A08"/>
            </a:solidFill>
            <a:prstDash val="solid"/>
          </a:ln>
        </p:spPr>
      </p:sp>
      <p:pic>
        <p:nvPicPr>
          <p:cNvPr id="10" name="!!halo-icon" descr="Scam check">    </p:cNvPr>
          <p:cNvPicPr>
            <a:picLocks noChangeAspect="1"/>
          </p:cNvPicPr>
          <p:nvPr/>
        </p:nvPicPr>
        <p:blipFill>
          <a:blip r:embed="rId1"/>
          <a:stretch>
            <a:fillRect/>
          </a:stretch>
        </p:blipFill>
        <p:spPr>
          <a:xfrm>
            <a:off x="9295790" y="2117750"/>
            <a:ext cx="427939" cy="427939"/>
          </a:xfrm>
          <a:prstGeom prst="rect">
            <a:avLst/>
          </a:prstGeom>
        </p:spPr>
      </p:pic>
      <p:sp>
        <p:nvSpPr>
          <p:cNvPr id="11" name="!!p-card"/>
          <p:cNvSpPr/>
          <p:nvPr/>
        </p:nvSpPr>
        <p:spPr>
          <a:xfrm>
            <a:off x="8229600" y="3611880"/>
            <a:ext cx="2560320" cy="1325880"/>
          </a:xfrm>
          <a:prstGeom prst="roundRect">
            <a:avLst>
              <a:gd name="adj" fmla="val 11034"/>
            </a:avLst>
          </a:prstGeom>
          <a:solidFill>
            <a:srgbClr val="2A2412"/>
          </a:solidFill>
          <a:ln w="15875">
            <a:solidFill>
              <a:srgbClr val="F5B83D"/>
            </a:solidFill>
            <a:prstDash val="solid"/>
          </a:ln>
        </p:spPr>
      </p:sp>
      <p:sp>
        <p:nvSpPr>
          <p:cNvPr id="12" name="!!p-card-title"/>
          <p:cNvSpPr txBox="1"/>
          <p:nvPr/>
        </p:nvSpPr>
        <p:spPr>
          <a:xfrm>
            <a:off x="8385048" y="3721608"/>
            <a:ext cx="2249424" cy="274320"/>
          </a:xfrm>
          <a:prstGeom prst="rect">
            <a:avLst/>
          </a:prstGeom>
          <a:noFill/>
          <a:ln/>
        </p:spPr>
        <p:txBody>
          <a:bodyPr wrap="square" lIns="0" tIns="0" rIns="0" bIns="0" rtlCol="0" anchor="t"/>
          <a:lstStyle/>
          <a:p>
            <a:pPr indent="0" marL="0">
              <a:buNone/>
            </a:pPr>
            <a:r>
              <a:rPr lang="en-US" sz="1200" b="1" dirty="0">
                <a:solidFill>
                  <a:srgbClr val="FFE3A6"/>
                </a:solidFill>
                <a:latin typeface="Segoe UI" pitchFamily="34" charset="0"/>
                <a:ea typeface="Segoe UI" pitchFamily="34" charset="-122"/>
                <a:cs typeface="Segoe UI" pitchFamily="34" charset="-120"/>
              </a:rPr>
              <a:t>Checking a payment request…</a:t>
            </a:r>
            <a:endParaRPr lang="en-US" sz="1200" dirty="0"/>
          </a:p>
        </p:txBody>
      </p:sp>
      <p:sp>
        <p:nvSpPr>
          <p:cNvPr id="13" name="!!p-card-sub"/>
          <p:cNvSpPr txBox="1"/>
          <p:nvPr/>
        </p:nvSpPr>
        <p:spPr>
          <a:xfrm>
            <a:off x="8385048" y="4023360"/>
            <a:ext cx="2249424" cy="420624"/>
          </a:xfrm>
          <a:prstGeom prst="rect">
            <a:avLst/>
          </a:prstGeom>
          <a:noFill/>
          <a:ln/>
        </p:spPr>
        <p:txBody>
          <a:bodyPr wrap="square" lIns="0" tIns="0" rIns="0" bIns="0" rtlCol="0" anchor="t"/>
          <a:lstStyle/>
          <a:p>
            <a:pPr indent="0" marL="0">
              <a:buNone/>
            </a:pPr>
            <a:r>
              <a:rPr lang="en-US" sz="950" dirty="0">
                <a:solidFill>
                  <a:srgbClr val="FFE3A6"/>
                </a:solidFill>
                <a:latin typeface="Segoe UI" pitchFamily="34" charset="0"/>
                <a:ea typeface="Segoe UI" pitchFamily="34" charset="-122"/>
                <a:cs typeface="Segoe UI" pitchFamily="34" charset="-120"/>
              </a:rPr>
              <a:t>Don't scan, pay or share anything yet.</a:t>
            </a:r>
            <a:endParaRPr lang="en-US" sz="950" dirty="0"/>
          </a:p>
        </p:txBody>
      </p:sp>
      <p:sp>
        <p:nvSpPr>
          <p:cNvPr id="14" name="!!p-chip"/>
          <p:cNvSpPr txBox="1"/>
          <p:nvPr/>
        </p:nvSpPr>
        <p:spPr>
          <a:xfrm>
            <a:off x="8385048" y="4507992"/>
            <a:ext cx="2249424" cy="292608"/>
          </a:xfrm>
          <a:prstGeom prst="roundRect">
            <a:avLst>
              <a:gd name="adj" fmla="val 50000"/>
            </a:avLst>
          </a:prstGeom>
          <a:solidFill>
            <a:srgbClr val="F5B83D"/>
          </a:solidFill>
          <a:ln/>
        </p:spPr>
        <p:txBody>
          <a:bodyPr wrap="square" lIns="0" tIns="0" rIns="0" bIns="0" rtlCol="0" anchor="ctr"/>
          <a:lstStyle/>
          <a:p>
            <a:pPr algn="ctr" indent="0" marL="0">
              <a:buNone/>
            </a:pPr>
            <a:r>
              <a:rPr lang="en-US" sz="900" b="1" dirty="0">
                <a:solidFill>
                  <a:srgbClr val="2B1D00"/>
                </a:solidFill>
                <a:latin typeface="Segoe UI" pitchFamily="34" charset="0"/>
                <a:ea typeface="Segoe UI" pitchFamily="34" charset="-122"/>
                <a:cs typeface="Segoe UI" pitchFamily="34" charset="-120"/>
              </a:rPr>
              <a:t>Heard: OTP to “cancel” a charge</a:t>
            </a:r>
            <a:endParaRPr lang="en-US" sz="900" dirty="0"/>
          </a:p>
        </p:txBody>
      </p:sp>
      <p:sp>
        <p:nvSpPr>
          <p:cNvPr id="15" name="!!p-btn-a"/>
          <p:cNvSpPr/>
          <p:nvPr/>
        </p:nvSpPr>
        <p:spPr>
          <a:xfrm>
            <a:off x="8403336" y="5202936"/>
            <a:ext cx="566928" cy="566928"/>
          </a:xfrm>
          <a:prstGeom prst="ellipse">
            <a:avLst/>
          </a:prstGeom>
          <a:solidFill>
            <a:srgbClr val="FFFFFF">
              <a:alpha val="8000"/>
            </a:srgbClr>
          </a:solidFill>
          <a:ln w="12700">
            <a:solidFill>
              <a:srgbClr val="3A4E63"/>
            </a:solidFill>
            <a:prstDash val="solid"/>
          </a:ln>
        </p:spPr>
      </p:sp>
      <p:pic>
        <p:nvPicPr>
          <p:cNvPr id="16" name="!!p-btn-a-icon" descr="Mute">    </p:cNvPr>
          <p:cNvPicPr>
            <a:picLocks noChangeAspect="1"/>
          </p:cNvPicPr>
          <p:nvPr/>
        </p:nvPicPr>
        <p:blipFill>
          <a:blip r:embed="rId2"/>
          <a:stretch>
            <a:fillRect/>
          </a:stretch>
        </p:blipFill>
        <p:spPr>
          <a:xfrm>
            <a:off x="8559241" y="5358841"/>
            <a:ext cx="255118" cy="255118"/>
          </a:xfrm>
          <a:prstGeom prst="rect">
            <a:avLst/>
          </a:prstGeom>
        </p:spPr>
      </p:pic>
      <p:sp>
        <p:nvSpPr>
          <p:cNvPr id="17" name="!!p-btn-a-label"/>
          <p:cNvSpPr txBox="1"/>
          <p:nvPr/>
        </p:nvSpPr>
        <p:spPr>
          <a:xfrm>
            <a:off x="8138160" y="582472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Mute</a:t>
            </a:r>
            <a:endParaRPr lang="en-US" sz="1000" dirty="0"/>
          </a:p>
        </p:txBody>
      </p:sp>
      <p:sp>
        <p:nvSpPr>
          <p:cNvPr id="18" name="!!p-btn-b"/>
          <p:cNvSpPr/>
          <p:nvPr/>
        </p:nvSpPr>
        <p:spPr>
          <a:xfrm>
            <a:off x="9226296" y="5202936"/>
            <a:ext cx="566928" cy="566928"/>
          </a:xfrm>
          <a:prstGeom prst="ellipse">
            <a:avLst/>
          </a:prstGeom>
          <a:solidFill>
            <a:srgbClr val="FFFFFF">
              <a:alpha val="8000"/>
            </a:srgbClr>
          </a:solidFill>
          <a:ln w="12700">
            <a:solidFill>
              <a:srgbClr val="3A4E63"/>
            </a:solidFill>
            <a:prstDash val="solid"/>
          </a:ln>
        </p:spPr>
      </p:sp>
      <p:pic>
        <p:nvPicPr>
          <p:cNvPr id="19" name="!!p-btn-b-icon" descr="Speaker">    </p:cNvPr>
          <p:cNvPicPr>
            <a:picLocks noChangeAspect="1"/>
          </p:cNvPicPr>
          <p:nvPr/>
        </p:nvPicPr>
        <p:blipFill>
          <a:blip r:embed="rId3"/>
          <a:stretch>
            <a:fillRect/>
          </a:stretch>
        </p:blipFill>
        <p:spPr>
          <a:xfrm>
            <a:off x="9382201" y="5358841"/>
            <a:ext cx="255118" cy="255118"/>
          </a:xfrm>
          <a:prstGeom prst="rect">
            <a:avLst/>
          </a:prstGeom>
        </p:spPr>
      </p:pic>
      <p:sp>
        <p:nvSpPr>
          <p:cNvPr id="20" name="!!p-btn-b-label"/>
          <p:cNvSpPr txBox="1"/>
          <p:nvPr/>
        </p:nvSpPr>
        <p:spPr>
          <a:xfrm>
            <a:off x="8961120" y="582472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Speaker</a:t>
            </a:r>
            <a:endParaRPr lang="en-US" sz="1000" dirty="0"/>
          </a:p>
        </p:txBody>
      </p:sp>
      <p:sp>
        <p:nvSpPr>
          <p:cNvPr id="21" name="!!p-btn-c"/>
          <p:cNvSpPr/>
          <p:nvPr/>
        </p:nvSpPr>
        <p:spPr>
          <a:xfrm>
            <a:off x="10049256" y="5202936"/>
            <a:ext cx="566928" cy="566928"/>
          </a:xfrm>
          <a:prstGeom prst="ellipse">
            <a:avLst/>
          </a:prstGeom>
          <a:solidFill>
            <a:srgbClr val="D92D20"/>
          </a:solidFill>
          <a:ln w="12700">
            <a:solidFill>
              <a:srgbClr val="D92D20"/>
            </a:solidFill>
            <a:prstDash val="solid"/>
          </a:ln>
        </p:spPr>
      </p:sp>
      <p:pic>
        <p:nvPicPr>
          <p:cNvPr id="22" name="!!p-btn-c-icon" descr="End">    </p:cNvPr>
          <p:cNvPicPr>
            <a:picLocks noChangeAspect="1"/>
          </p:cNvPicPr>
          <p:nvPr/>
        </p:nvPicPr>
        <p:blipFill>
          <a:blip r:embed="rId4"/>
          <a:stretch>
            <a:fillRect/>
          </a:stretch>
        </p:blipFill>
        <p:spPr>
          <a:xfrm>
            <a:off x="10205161" y="5358841"/>
            <a:ext cx="255118" cy="255118"/>
          </a:xfrm>
          <a:prstGeom prst="rect">
            <a:avLst/>
          </a:prstGeom>
        </p:spPr>
      </p:pic>
      <p:sp>
        <p:nvSpPr>
          <p:cNvPr id="23" name="!!p-btn-c-label"/>
          <p:cNvSpPr txBox="1"/>
          <p:nvPr/>
        </p:nvSpPr>
        <p:spPr>
          <a:xfrm>
            <a:off x="9784080" y="582472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End</a:t>
            </a:r>
            <a:endParaRPr lang="en-US" sz="1000" dirty="0"/>
          </a:p>
        </p:txBody>
      </p:sp>
      <p:sp>
        <p:nvSpPr>
          <p:cNvPr id="24" name="!!step-num"/>
          <p:cNvSpPr txBox="1"/>
          <p:nvPr/>
        </p:nvSpPr>
        <p:spPr>
          <a:xfrm>
            <a:off x="731520" y="1417320"/>
            <a:ext cx="6400800" cy="365760"/>
          </a:xfrm>
          <a:prstGeom prst="rect">
            <a:avLst/>
          </a:prstGeom>
          <a:noFill/>
          <a:ln/>
        </p:spPr>
        <p:txBody>
          <a:bodyPr wrap="square" lIns="0" tIns="0" rIns="0" bIns="0" rtlCol="0" anchor="t"/>
          <a:lstStyle/>
          <a:p>
            <a:pPr indent="0" marL="0">
              <a:buNone/>
            </a:pPr>
            <a:r>
              <a:rPr lang="en-US" sz="1400" b="1" spc="200" kern="0" dirty="0">
                <a:solidFill>
                  <a:srgbClr val="7DB8E8"/>
                </a:solidFill>
                <a:latin typeface="Segoe UI" pitchFamily="34" charset="0"/>
                <a:ea typeface="Segoe UI" pitchFamily="34" charset="-122"/>
                <a:cs typeface="Segoe UI" pitchFamily="34" charset="-120"/>
              </a:rPr>
              <a:t>3 · THEY ASK</a:t>
            </a:r>
            <a:endParaRPr lang="en-US" sz="1400" dirty="0"/>
          </a:p>
        </p:txBody>
      </p:sp>
      <p:sp>
        <p:nvSpPr>
          <p:cNvPr id="25" name="!!step-title"/>
          <p:cNvSpPr txBox="1"/>
          <p:nvPr/>
        </p:nvSpPr>
        <p:spPr>
          <a:xfrm>
            <a:off x="731520" y="1828800"/>
            <a:ext cx="6583680" cy="1737360"/>
          </a:xfrm>
          <a:prstGeom prst="rect">
            <a:avLst/>
          </a:prstGeom>
          <a:noFill/>
          <a:ln/>
        </p:spPr>
        <p:txBody>
          <a:bodyPr wrap="square" lIns="0" tIns="0" rIns="0" bIns="0" rtlCol="0" anchor="t"/>
          <a:lstStyle/>
          <a:p>
            <a:pPr indent="0" marL="0">
              <a:buNone/>
            </a:pPr>
            <a:r>
              <a:rPr lang="en-US" sz="3800" b="1" dirty="0">
                <a:solidFill>
                  <a:srgbClr val="FFFFFF"/>
                </a:solidFill>
                <a:latin typeface="Segoe UI" pitchFamily="34" charset="0"/>
                <a:ea typeface="Segoe UI" pitchFamily="34" charset="-122"/>
                <a:cs typeface="Segoe UI" pitchFamily="34" charset="-120"/>
              </a:rPr>
              <a:t>A chime, a buzz, an amber halo</a:t>
            </a:r>
            <a:endParaRPr lang="en-US" sz="3800" dirty="0"/>
          </a:p>
        </p:txBody>
      </p:sp>
      <p:sp>
        <p:nvSpPr>
          <p:cNvPr id="26" name="!!step-body"/>
          <p:cNvSpPr txBox="1"/>
          <p:nvPr/>
        </p:nvSpPr>
        <p:spPr>
          <a:xfrm>
            <a:off x="731520" y="3611880"/>
            <a:ext cx="6217920" cy="1188720"/>
          </a:xfrm>
          <a:prstGeom prst="rect">
            <a:avLst/>
          </a:prstGeom>
          <a:noFill/>
          <a:ln/>
        </p:spPr>
        <p:txBody>
          <a:bodyPr wrap="square" lIns="0" tIns="0" rIns="0" bIns="0" rtlCol="0" anchor="t"/>
          <a:lstStyle/>
          <a:p>
            <a:pPr indent="0" marL="0">
              <a:buNone/>
            </a:pPr>
            <a:r>
              <a:rPr lang="en-US" sz="1800" dirty="0">
                <a:solidFill>
                  <a:srgbClr val="A9B6C3"/>
                </a:solidFill>
                <a:latin typeface="Segoe UI" pitchFamily="34" charset="0"/>
                <a:ea typeface="Segoe UI" pitchFamily="34" charset="-122"/>
                <a:cs typeface="Segoe UI" pitchFamily="34" charset="-120"/>
              </a:rPr>
              <a:t>Our target: within 2 seconds of the request, from an instant phrase check. The AI check confirms the level next.</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advTm="3200">
        <p159:morph option="byObject"/>
      </p:transition>
    </mc:Choice>
    <mc:Fallback>
      <p:transition spd="slow" advTm="32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halo-r3"/>
          <p:cNvSpPr/>
          <p:nvPr/>
        </p:nvSpPr>
        <p:spPr>
          <a:xfrm>
            <a:off x="-3962552" y="-6629400"/>
            <a:ext cx="20116800" cy="20116800"/>
          </a:xfrm>
          <a:prstGeom prst="ellipse">
            <a:avLst/>
          </a:prstGeom>
          <a:solidFill>
            <a:srgbClr val="8F1D16">
              <a:alpha val="0"/>
            </a:srgbClr>
          </a:solidFill>
          <a:ln w="12700">
            <a:solidFill>
              <a:srgbClr val="8F1D16">
                <a:alpha val="0"/>
              </a:srgbClr>
            </a:solidFill>
            <a:prstDash val="solid"/>
          </a:ln>
        </p:spPr>
      </p:sp>
      <p:sp>
        <p:nvSpPr>
          <p:cNvPr id="3" name="!!halo-r2"/>
          <p:cNvSpPr/>
          <p:nvPr/>
        </p:nvSpPr>
        <p:spPr>
          <a:xfrm>
            <a:off x="-2819552" y="-5486400"/>
            <a:ext cx="17830800" cy="17830800"/>
          </a:xfrm>
          <a:prstGeom prst="ellipse">
            <a:avLst/>
          </a:prstGeom>
          <a:solidFill>
            <a:srgbClr val="8F1D16">
              <a:alpha val="0"/>
            </a:srgbClr>
          </a:solidFill>
          <a:ln w="12700">
            <a:solidFill>
              <a:srgbClr val="8F1D16">
                <a:alpha val="0"/>
              </a:srgbClr>
            </a:solidFill>
            <a:prstDash val="solid"/>
          </a:ln>
        </p:spPr>
      </p:sp>
      <p:sp>
        <p:nvSpPr>
          <p:cNvPr id="4" name="!!halo-r1"/>
          <p:cNvSpPr/>
          <p:nvPr/>
        </p:nvSpPr>
        <p:spPr>
          <a:xfrm>
            <a:off x="-1950872" y="-4617720"/>
            <a:ext cx="16093440" cy="16093440"/>
          </a:xfrm>
          <a:prstGeom prst="ellipse">
            <a:avLst/>
          </a:prstGeom>
          <a:solidFill>
            <a:srgbClr val="8F1D16">
              <a:alpha val="0"/>
            </a:srgbClr>
          </a:solidFill>
          <a:ln w="12700">
            <a:solidFill>
              <a:srgbClr val="8F1D16">
                <a:alpha val="0"/>
              </a:srgbClr>
            </a:solidFill>
            <a:prstDash val="solid"/>
          </a:ln>
        </p:spPr>
      </p:sp>
      <p:sp>
        <p:nvSpPr>
          <p:cNvPr id="5" name="!!halo-core"/>
          <p:cNvSpPr/>
          <p:nvPr/>
        </p:nvSpPr>
        <p:spPr>
          <a:xfrm>
            <a:off x="-1447952" y="-4114800"/>
            <a:ext cx="15087600" cy="15087600"/>
          </a:xfrm>
          <a:prstGeom prst="ellipse">
            <a:avLst/>
          </a:prstGeom>
          <a:solidFill>
            <a:srgbClr val="8F1D16"/>
          </a:solidFill>
          <a:ln w="12700">
            <a:solidFill>
              <a:srgbClr val="8F1D16"/>
            </a:solidFill>
            <a:prstDash val="solid"/>
          </a:ln>
        </p:spPr>
      </p:sp>
      <p:pic>
        <p:nvPicPr>
          <p:cNvPr id="6" name="al-icon" descr="preencoded.png">    </p:cNvPr>
          <p:cNvPicPr>
            <a:picLocks noChangeAspect="1"/>
          </p:cNvPicPr>
          <p:nvPr/>
        </p:nvPicPr>
        <p:blipFill>
          <a:blip r:embed="rId1"/>
          <a:stretch>
            <a:fillRect/>
          </a:stretch>
        </p:blipFill>
        <p:spPr>
          <a:xfrm>
            <a:off x="731520" y="566928"/>
            <a:ext cx="384048" cy="384048"/>
          </a:xfrm>
          <a:prstGeom prst="rect">
            <a:avLst/>
          </a:prstGeom>
        </p:spPr>
      </p:pic>
      <p:sp>
        <p:nvSpPr>
          <p:cNvPr id="7" name="al-level"/>
          <p:cNvSpPr txBox="1"/>
          <p:nvPr/>
        </p:nvSpPr>
        <p:spPr>
          <a:xfrm>
            <a:off x="1207008" y="603504"/>
            <a:ext cx="2743200" cy="329184"/>
          </a:xfrm>
          <a:prstGeom prst="rect">
            <a:avLst/>
          </a:prstGeom>
          <a:noFill/>
          <a:ln/>
        </p:spPr>
        <p:txBody>
          <a:bodyPr wrap="square" lIns="0" tIns="0" rIns="0" bIns="0" rtlCol="0" anchor="t"/>
          <a:lstStyle/>
          <a:p>
            <a:pPr indent="0" marL="0">
              <a:buNone/>
            </a:pPr>
            <a:r>
              <a:rPr lang="en-US" sz="1600" b="1" spc="300" kern="0" dirty="0">
                <a:solidFill>
                  <a:srgbClr val="FFFFFF"/>
                </a:solidFill>
                <a:latin typeface="Segoe UI" pitchFamily="34" charset="0"/>
                <a:ea typeface="Segoe UI" pitchFamily="34" charset="-122"/>
                <a:cs typeface="Segoe UI" pitchFamily="34" charset="-120"/>
              </a:rPr>
              <a:t>HIGH RISK</a:t>
            </a:r>
            <a:endParaRPr lang="en-US" sz="1600" dirty="0"/>
          </a:p>
        </p:txBody>
      </p:sp>
      <p:sp>
        <p:nvSpPr>
          <p:cNvPr id="8" name="al-auto"/>
          <p:cNvSpPr txBox="1"/>
          <p:nvPr/>
        </p:nvSpPr>
        <p:spPr>
          <a:xfrm>
            <a:off x="2926080" y="630936"/>
            <a:ext cx="2743200" cy="292608"/>
          </a:xfrm>
          <a:prstGeom prst="rect">
            <a:avLst/>
          </a:prstGeom>
          <a:noFill/>
          <a:ln/>
        </p:spPr>
        <p:txBody>
          <a:bodyPr wrap="square" lIns="0" tIns="0" rIns="0" bIns="0" rtlCol="0" anchor="t"/>
          <a:lstStyle/>
          <a:p>
            <a:pPr indent="0" marL="0">
              <a:buNone/>
            </a:pPr>
            <a:r>
              <a:rPr lang="en-US" sz="1300" dirty="0">
                <a:solidFill>
                  <a:srgbClr val="F6CFCB"/>
                </a:solidFill>
                <a:latin typeface="Segoe UI" pitchFamily="34" charset="0"/>
                <a:ea typeface="Segoe UI" pitchFamily="34" charset="-122"/>
                <a:cs typeface="Segoe UI" pitchFamily="34" charset="-120"/>
              </a:rPr>
              <a:t>Automatic check</a:t>
            </a:r>
            <a:endParaRPr lang="en-US" sz="1300" dirty="0"/>
          </a:p>
        </p:txBody>
      </p:sp>
      <p:sp>
        <p:nvSpPr>
          <p:cNvPr id="9" name="al-title"/>
          <p:cNvSpPr txBox="1"/>
          <p:nvPr/>
        </p:nvSpPr>
        <p:spPr>
          <a:xfrm>
            <a:off x="731520" y="1234440"/>
            <a:ext cx="6949440" cy="1188720"/>
          </a:xfrm>
          <a:prstGeom prst="rect">
            <a:avLst/>
          </a:prstGeom>
          <a:noFill/>
          <a:ln/>
        </p:spPr>
        <p:txBody>
          <a:bodyPr wrap="square" lIns="0" tIns="0" rIns="0" bIns="0" rtlCol="0" anchor="t"/>
          <a:lstStyle/>
          <a:p>
            <a:pPr indent="0" marL="0">
              <a:buNone/>
            </a:pPr>
            <a:r>
              <a:rPr lang="en-US" sz="3600" b="1" dirty="0">
                <a:solidFill>
                  <a:srgbClr val="FFFFFF"/>
                </a:solidFill>
                <a:latin typeface="Segoe UI" pitchFamily="34" charset="0"/>
                <a:ea typeface="Segoe UI" pitchFamily="34" charset="-122"/>
                <a:cs typeface="Segoe UI" pitchFamily="34" charset="-120"/>
              </a:rPr>
              <a:t>They asked for your OTP to “cancel” a transaction.</a:t>
            </a:r>
            <a:endParaRPr lang="en-US" sz="3600" dirty="0"/>
          </a:p>
        </p:txBody>
      </p:sp>
      <p:sp>
        <p:nvSpPr>
          <p:cNvPr id="10" name="al-truth-bg"/>
          <p:cNvSpPr/>
          <p:nvPr/>
        </p:nvSpPr>
        <p:spPr>
          <a:xfrm>
            <a:off x="731520" y="3337560"/>
            <a:ext cx="6766560" cy="1261872"/>
          </a:xfrm>
          <a:prstGeom prst="roundRect">
            <a:avLst>
              <a:gd name="adj" fmla="val 14493"/>
            </a:avLst>
          </a:prstGeom>
          <a:solidFill>
            <a:srgbClr val="FFFFFF">
              <a:alpha val="12000"/>
            </a:srgbClr>
          </a:solidFill>
          <a:ln w="12700">
            <a:solidFill>
              <a:srgbClr val="FFFFFF">
                <a:alpha val="0"/>
              </a:srgbClr>
            </a:solidFill>
            <a:prstDash val="solid"/>
          </a:ln>
        </p:spPr>
      </p:sp>
      <p:sp>
        <p:nvSpPr>
          <p:cNvPr id="11" name="al-truth-label"/>
          <p:cNvSpPr txBox="1"/>
          <p:nvPr/>
        </p:nvSpPr>
        <p:spPr>
          <a:xfrm>
            <a:off x="1005840" y="3493008"/>
            <a:ext cx="4572000" cy="274320"/>
          </a:xfrm>
          <a:prstGeom prst="rect">
            <a:avLst/>
          </a:prstGeom>
          <a:noFill/>
          <a:ln/>
        </p:spPr>
        <p:txBody>
          <a:bodyPr wrap="square" lIns="0" tIns="0" rIns="0" bIns="0" rtlCol="0" anchor="t"/>
          <a:lstStyle/>
          <a:p>
            <a:pPr indent="0" marL="0">
              <a:buNone/>
            </a:pPr>
            <a:r>
              <a:rPr lang="en-US" sz="1200" b="1" spc="300" kern="0" dirty="0">
                <a:solidFill>
                  <a:srgbClr val="F6CFCB"/>
                </a:solidFill>
                <a:latin typeface="Segoe UI" pitchFamily="34" charset="0"/>
                <a:ea typeface="Segoe UI" pitchFamily="34" charset="-122"/>
                <a:cs typeface="Segoe UI" pitchFamily="34" charset="-120"/>
              </a:rPr>
              <a:t>THE TRUTH</a:t>
            </a:r>
            <a:endParaRPr lang="en-US" sz="1200" dirty="0"/>
          </a:p>
        </p:txBody>
      </p:sp>
      <p:sp>
        <p:nvSpPr>
          <p:cNvPr id="12" name="al-truth"/>
          <p:cNvSpPr txBox="1"/>
          <p:nvPr/>
        </p:nvSpPr>
        <p:spPr>
          <a:xfrm>
            <a:off x="1005840" y="3794760"/>
            <a:ext cx="6309360" cy="731520"/>
          </a:xfrm>
          <a:prstGeom prst="rect">
            <a:avLst/>
          </a:prstGeom>
          <a:noFill/>
          <a:ln/>
        </p:spPr>
        <p:txBody>
          <a:bodyPr wrap="square" lIns="0" tIns="0" rIns="0" bIns="0" rtlCol="0" anchor="t"/>
          <a:lstStyle/>
          <a:p>
            <a:pPr indent="0" marL="0">
              <a:buNone/>
            </a:pPr>
            <a:r>
              <a:rPr lang="en-US" sz="1800" dirty="0">
                <a:solidFill>
                  <a:srgbClr val="FFFFFF"/>
                </a:solidFill>
                <a:latin typeface="Segoe UI" pitchFamily="34" charset="0"/>
                <a:ea typeface="Segoe UI" pitchFamily="34" charset="-122"/>
                <a:cs typeface="Segoe UI" pitchFamily="34" charset="-120"/>
              </a:rPr>
              <a:t>Banks never ask you to read out an OTP to cancel a payment. That code approves it.</a:t>
            </a:r>
            <a:endParaRPr lang="en-US" sz="1800" dirty="0"/>
          </a:p>
        </p:txBody>
      </p:sp>
      <p:sp>
        <p:nvSpPr>
          <p:cNvPr id="13" name="al-next-label"/>
          <p:cNvSpPr txBox="1"/>
          <p:nvPr/>
        </p:nvSpPr>
        <p:spPr>
          <a:xfrm>
            <a:off x="731520" y="4846320"/>
            <a:ext cx="4572000" cy="274320"/>
          </a:xfrm>
          <a:prstGeom prst="rect">
            <a:avLst/>
          </a:prstGeom>
          <a:noFill/>
          <a:ln/>
        </p:spPr>
        <p:txBody>
          <a:bodyPr wrap="square" lIns="0" tIns="0" rIns="0" bIns="0" rtlCol="0" anchor="t"/>
          <a:lstStyle/>
          <a:p>
            <a:pPr indent="0" marL="0">
              <a:buNone/>
            </a:pPr>
            <a:r>
              <a:rPr lang="en-US" sz="1200" b="1" spc="300" kern="0" dirty="0">
                <a:solidFill>
                  <a:srgbClr val="F6CFCB"/>
                </a:solidFill>
                <a:latin typeface="Segoe UI" pitchFamily="34" charset="0"/>
                <a:ea typeface="Segoe UI" pitchFamily="34" charset="-122"/>
                <a:cs typeface="Segoe UI" pitchFamily="34" charset="-120"/>
              </a:rPr>
              <a:t>DO THIS NOW</a:t>
            </a:r>
            <a:endParaRPr lang="en-US" sz="1200" dirty="0"/>
          </a:p>
        </p:txBody>
      </p:sp>
      <p:sp>
        <p:nvSpPr>
          <p:cNvPr id="14" name="al-next"/>
          <p:cNvSpPr txBox="1"/>
          <p:nvPr/>
        </p:nvSpPr>
        <p:spPr>
          <a:xfrm>
            <a:off x="731520" y="5138928"/>
            <a:ext cx="7223760" cy="640080"/>
          </a:xfrm>
          <a:prstGeom prst="rect">
            <a:avLst/>
          </a:prstGeom>
          <a:noFill/>
          <a:ln/>
        </p:spPr>
        <p:txBody>
          <a:bodyPr wrap="square" lIns="0" tIns="0" rIns="0" bIns="0" rtlCol="0" anchor="t"/>
          <a:lstStyle/>
          <a:p>
            <a:pPr indent="0" marL="0">
              <a:buNone/>
            </a:pPr>
            <a:r>
              <a:rPr lang="en-US" sz="2000" b="1" dirty="0">
                <a:solidFill>
                  <a:srgbClr val="FFFFFF"/>
                </a:solidFill>
                <a:latin typeface="Segoe UI" pitchFamily="34" charset="0"/>
                <a:ea typeface="Segoe UI" pitchFamily="34" charset="-122"/>
                <a:cs typeface="Segoe UI" pitchFamily="34" charset="-120"/>
              </a:rPr>
              <a:t>End the call. Call the number printed on the back of your card.</a:t>
            </a:r>
            <a:endParaRPr lang="en-US" sz="2000" dirty="0"/>
          </a:p>
        </p:txBody>
      </p:sp>
      <p:pic>
        <p:nvPicPr>
          <p:cNvPr id="15" name="al-voice-icon" descr="preencoded.png">    </p:cNvPr>
          <p:cNvPicPr>
            <a:picLocks noChangeAspect="1"/>
          </p:cNvPicPr>
          <p:nvPr/>
        </p:nvPicPr>
        <p:blipFill>
          <a:blip r:embed="rId2"/>
          <a:stretch>
            <a:fillRect/>
          </a:stretch>
        </p:blipFill>
        <p:spPr>
          <a:xfrm>
            <a:off x="731520" y="6126480"/>
            <a:ext cx="274320" cy="274320"/>
          </a:xfrm>
          <a:prstGeom prst="rect">
            <a:avLst/>
          </a:prstGeom>
        </p:spPr>
      </p:pic>
      <p:sp>
        <p:nvSpPr>
          <p:cNvPr id="16" name="al-voice"/>
          <p:cNvSpPr txBox="1"/>
          <p:nvPr/>
        </p:nvSpPr>
        <p:spPr>
          <a:xfrm>
            <a:off x="1097280" y="6144768"/>
            <a:ext cx="6400800" cy="274320"/>
          </a:xfrm>
          <a:prstGeom prst="rect">
            <a:avLst/>
          </a:prstGeom>
          <a:noFill/>
          <a:ln/>
        </p:spPr>
        <p:txBody>
          <a:bodyPr wrap="square" lIns="0" tIns="0" rIns="0" bIns="0" rtlCol="0" anchor="t"/>
          <a:lstStyle/>
          <a:p>
            <a:pPr indent="0" marL="0">
              <a:buNone/>
            </a:pPr>
            <a:r>
              <a:rPr lang="en-US" sz="1400" dirty="0">
                <a:solidFill>
                  <a:srgbClr val="F6CFCB"/>
                </a:solidFill>
                <a:latin typeface="Segoe UI" pitchFamily="34" charset="0"/>
                <a:ea typeface="Segoe UI" pitchFamily="34" charset="-122"/>
                <a:cs typeface="Segoe UI" pitchFamily="34" charset="-120"/>
              </a:rPr>
              <a:t>A spoken warning plays in your ear. The caller hears nothing.</a:t>
            </a:r>
            <a:endParaRPr lang="en-US" sz="1400" dirty="0"/>
          </a:p>
        </p:txBody>
      </p:sp>
      <p:sp>
        <p:nvSpPr>
          <p:cNvPr id="17" name="al-glyph-bg"/>
          <p:cNvSpPr/>
          <p:nvPr/>
        </p:nvSpPr>
        <p:spPr>
          <a:xfrm>
            <a:off x="8778240" y="822960"/>
            <a:ext cx="2103120" cy="2103120"/>
          </a:xfrm>
          <a:prstGeom prst="roundRect">
            <a:avLst>
              <a:gd name="adj" fmla="val 21739"/>
            </a:avLst>
          </a:prstGeom>
          <a:solidFill>
            <a:srgbClr val="FFFFFF">
              <a:alpha val="0"/>
            </a:srgbClr>
          </a:solidFill>
          <a:ln w="38100">
            <a:solidFill>
              <a:srgbClr val="FFFFFF"/>
            </a:solidFill>
            <a:prstDash val="solid"/>
          </a:ln>
        </p:spPr>
      </p:sp>
      <p:pic>
        <p:nvPicPr>
          <p:cNvPr id="18" name="al-glyph" descr="preencoded.png">    </p:cNvPr>
          <p:cNvPicPr>
            <a:picLocks noChangeAspect="1"/>
          </p:cNvPicPr>
          <p:nvPr/>
        </p:nvPicPr>
        <p:blipFill>
          <a:blip r:embed="rId3"/>
          <a:stretch>
            <a:fillRect/>
          </a:stretch>
        </p:blipFill>
        <p:spPr>
          <a:xfrm>
            <a:off x="9189720" y="1234440"/>
            <a:ext cx="1280160" cy="1280160"/>
          </a:xfrm>
          <a:prstGeom prst="rect">
            <a:avLst/>
          </a:prstGeom>
        </p:spPr>
      </p:pic>
      <p:sp>
        <p:nvSpPr>
          <p:cNvPr id="19" name="al-cross"/>
          <p:cNvSpPr/>
          <p:nvPr/>
        </p:nvSpPr>
        <p:spPr>
          <a:xfrm flipH="1">
            <a:off x="9098280" y="1143000"/>
            <a:ext cx="1463040" cy="1463040"/>
          </a:xfrm>
          <a:prstGeom prst="line">
            <a:avLst/>
          </a:prstGeom>
          <a:noFill/>
          <a:ln w="63500">
            <a:solidFill>
              <a:srgbClr val="FFFFFF"/>
            </a:solidFill>
            <a:prstDash val="solid"/>
          </a:ln>
        </p:spPr>
      </p:sp>
      <p:sp>
        <p:nvSpPr>
          <p:cNvPr id="20" name="al-end"/>
          <p:cNvSpPr txBox="1"/>
          <p:nvPr/>
        </p:nvSpPr>
        <p:spPr>
          <a:xfrm>
            <a:off x="8183880" y="3931920"/>
            <a:ext cx="3291840" cy="868680"/>
          </a:xfrm>
          <a:prstGeom prst="roundRect">
            <a:avLst>
              <a:gd name="adj" fmla="val 25263"/>
            </a:avLst>
          </a:prstGeom>
          <a:solidFill>
            <a:srgbClr val="FFFFFF"/>
          </a:solidFill>
          <a:ln/>
        </p:spPr>
        <p:txBody>
          <a:bodyPr wrap="square" lIns="0" tIns="0" rIns="0" bIns="0" rtlCol="0" anchor="ctr"/>
          <a:lstStyle/>
          <a:p>
            <a:pPr algn="ctr" indent="0" marL="0">
              <a:buNone/>
            </a:pPr>
            <a:r>
              <a:rPr lang="en-US" sz="2200" b="1" dirty="0">
                <a:solidFill>
                  <a:srgbClr val="8F1D16"/>
                </a:solidFill>
                <a:latin typeface="Segoe UI" pitchFamily="34" charset="0"/>
                <a:ea typeface="Segoe UI" pitchFamily="34" charset="-122"/>
                <a:cs typeface="Segoe UI" pitchFamily="34" charset="-120"/>
              </a:rPr>
              <a:t>End call</a:t>
            </a:r>
            <a:endParaRPr lang="en-US" sz="2200" dirty="0"/>
          </a:p>
        </p:txBody>
      </p:sp>
      <p:sp>
        <p:nvSpPr>
          <p:cNvPr id="21" name="al-hold"/>
          <p:cNvSpPr txBox="1"/>
          <p:nvPr/>
        </p:nvSpPr>
        <p:spPr>
          <a:xfrm>
            <a:off x="8183880" y="4983480"/>
            <a:ext cx="3291840" cy="731520"/>
          </a:xfrm>
          <a:prstGeom prst="roundRect">
            <a:avLst>
              <a:gd name="adj" fmla="val 30000"/>
            </a:avLst>
          </a:prstGeom>
          <a:solidFill>
            <a:srgbClr val="8F1D16"/>
          </a:solidFill>
          <a:ln w="25400">
            <a:solidFill>
              <a:srgbClr val="FFFFFF"/>
            </a:solidFill>
          </a:ln>
        </p:spPr>
        <p:txBody>
          <a:bodyPr wrap="square" lIns="0" tIns="0" rIns="0" bIns="0" rtlCol="0" anchor="ctr"/>
          <a:lstStyle/>
          <a:p>
            <a:pPr algn="ctr" indent="0" marL="0">
              <a:buNone/>
            </a:pPr>
            <a:r>
              <a:rPr lang="en-US" sz="1700" b="1" dirty="0">
                <a:solidFill>
                  <a:srgbClr val="FFFFFF"/>
                </a:solidFill>
                <a:latin typeface="Segoe UI" pitchFamily="34" charset="0"/>
                <a:ea typeface="Segoe UI" pitchFamily="34" charset="-122"/>
                <a:cs typeface="Segoe UI" pitchFamily="34" charset="-120"/>
              </a:rPr>
              <a:t>Hold to keep talking</a:t>
            </a:r>
            <a:endParaRPr lang="en-US" sz="1700" dirty="0"/>
          </a:p>
        </p:txBody>
      </p:sp>
      <p:sp>
        <p:nvSpPr>
          <p:cNvPr id="22" name="al-hold-note"/>
          <p:cNvSpPr txBox="1"/>
          <p:nvPr/>
        </p:nvSpPr>
        <p:spPr>
          <a:xfrm>
            <a:off x="8183880" y="5852160"/>
            <a:ext cx="3291840" cy="457200"/>
          </a:xfrm>
          <a:prstGeom prst="rect">
            <a:avLst/>
          </a:prstGeom>
          <a:noFill/>
          <a:ln/>
        </p:spPr>
        <p:txBody>
          <a:bodyPr wrap="square" lIns="0" tIns="0" rIns="0" bIns="0" rtlCol="0" anchor="t"/>
          <a:lstStyle/>
          <a:p>
            <a:pPr algn="ctr" indent="0" marL="0">
              <a:buNone/>
            </a:pPr>
            <a:r>
              <a:rPr lang="en-US" sz="1100" dirty="0">
                <a:solidFill>
                  <a:srgbClr val="F6CFCB"/>
                </a:solidFill>
                <a:latin typeface="Segoe UI" pitchFamily="34" charset="0"/>
                <a:ea typeface="Segoe UI" pitchFamily="34" charset="-122"/>
                <a:cs typeface="Segoe UI" pitchFamily="34" charset="-120"/>
              </a:rPr>
              <a:t>End is one tap. Keeping on takes a deliberate hold.</a:t>
            </a:r>
            <a:endParaRPr lang="en-US" sz="1100" dirty="0"/>
          </a:p>
        </p:txBody>
      </p:sp>
      <p:pic>
        <p:nvPicPr>
          <p:cNvPr id="23" name="hot-End call" descr="End call">
            <a:hlinkClick r:id="rId5" tooltip="End call" action="ppaction://hlinksldjump"/>
          </p:cNvPr>
          <p:cNvPicPr>
            <a:picLocks noChangeAspect="1"/>
          </p:cNvPicPr>
          <p:nvPr/>
        </p:nvPicPr>
        <p:blipFill>
          <a:blip r:embed="rId4"/>
          <a:stretch>
            <a:fillRect/>
          </a:stretch>
        </p:blipFill>
        <p:spPr>
          <a:xfrm>
            <a:off x="8183880" y="3931920"/>
            <a:ext cx="3291840" cy="868680"/>
          </a:xfrm>
          <a:prstGeom prst="rect">
            <a:avLst/>
          </a:prstGeom>
        </p:spPr>
      </p:pic>
      <p:sp>
        <p:nvSpPr>
          <p:cNvPr id="24" name="al-said-label"/>
          <p:cNvSpPr txBox="1"/>
          <p:nvPr/>
        </p:nvSpPr>
        <p:spPr>
          <a:xfrm>
            <a:off x="731520" y="2487168"/>
            <a:ext cx="3657600" cy="228600"/>
          </a:xfrm>
          <a:prstGeom prst="rect">
            <a:avLst/>
          </a:prstGeom>
          <a:noFill/>
          <a:ln>
            <a:noFill/>
          </a:ln>
        </p:spPr>
        <p:txBody>
          <a:bodyPr wrap="square" lIns="0" tIns="0" rIns="0" bIns="0" rtlCol="0" anchor="t"/>
          <a:lstStyle/>
          <a:p>
            <a:pPr indent="0" marL="0">
              <a:buNone/>
            </a:pPr>
            <a:r>
              <a:rPr lang="en-US" sz="1200" b="1" spc="300" kern="0" dirty="0">
                <a:solidFill>
                  <a:srgbClr val="F6CFCB"/>
                </a:solidFill>
                <a:latin typeface="Segoe UI" pitchFamily="34" charset="0"/>
                <a:ea typeface="Segoe UI" pitchFamily="34" charset="-122"/>
                <a:cs typeface="Segoe UI" pitchFamily="34" charset="-120"/>
              </a:rPr>
              <a:t>WHAT THEY SAID</a:t>
            </a:r>
          </a:p>
        </p:txBody>
      </p:sp>
      <p:sp>
        <p:nvSpPr>
          <p:cNvPr id="25" name="al-chip-0" descr="Wants a code or PIN"/>
          <p:cNvSpPr txBox="1"/>
          <p:nvPr/>
        </p:nvSpPr>
        <p:spPr>
          <a:xfrm>
            <a:off x="731520" y="2743200"/>
            <a:ext cx="2240280" cy="347472"/>
          </a:xfrm>
          <a:prstGeom prst="roundRect">
            <a:avLst>
              <a:gd name="adj" fmla="val 50000"/>
            </a:avLst>
          </a:prstGeom>
          <a:solidFill>
            <a:srgbClr val="FFFFFF">
              <a:alpha val="14000"/>
            </a:srgbClr>
          </a:solidFill>
          <a:ln>
            <a:noFill/>
          </a:ln>
        </p:spPr>
        <p:txBody>
          <a:bodyPr wrap="non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Wants a code or PIN</a:t>
            </a:r>
          </a:p>
        </p:txBody>
      </p:sp>
      <p:sp>
        <p:nvSpPr>
          <p:cNvPr id="26" name="al-chip-1" descr="Claims to be your bank"/>
          <p:cNvSpPr txBox="1"/>
          <p:nvPr/>
        </p:nvSpPr>
        <p:spPr>
          <a:xfrm>
            <a:off x="3108960" y="2743200"/>
            <a:ext cx="2514600" cy="347472"/>
          </a:xfrm>
          <a:prstGeom prst="roundRect">
            <a:avLst>
              <a:gd name="adj" fmla="val 50000"/>
            </a:avLst>
          </a:prstGeom>
          <a:solidFill>
            <a:srgbClr val="FFFFFF">
              <a:alpha val="14000"/>
            </a:srgbClr>
          </a:solidFill>
          <a:ln>
            <a:noFill/>
          </a:ln>
        </p:spPr>
        <p:txBody>
          <a:bodyPr wrap="non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Claims to be your bank</a:t>
            </a:r>
          </a:p>
        </p:txBody>
      </p:sp>
      <p:sp>
        <p:nvSpPr>
          <p:cNvPr id="27" name="al-chip-2" descr="Pressuring you"/>
          <p:cNvSpPr txBox="1"/>
          <p:nvPr/>
        </p:nvSpPr>
        <p:spPr>
          <a:xfrm>
            <a:off x="5760720" y="2743200"/>
            <a:ext cx="1783080" cy="347472"/>
          </a:xfrm>
          <a:prstGeom prst="roundRect">
            <a:avLst>
              <a:gd name="adj" fmla="val 50000"/>
            </a:avLst>
          </a:prstGeom>
          <a:solidFill>
            <a:srgbClr val="FFFFFF">
              <a:alpha val="14000"/>
            </a:srgbClr>
          </a:solidFill>
          <a:ln>
            <a:noFill/>
          </a:ln>
        </p:spPr>
        <p:txBody>
          <a:bodyPr wrap="non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Pressuring you</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halo-r3"/>
          <p:cNvSpPr/>
          <p:nvPr/>
        </p:nvSpPr>
        <p:spPr>
          <a:xfrm>
            <a:off x="10664190" y="240030"/>
            <a:ext cx="1257300" cy="1257300"/>
          </a:xfrm>
          <a:prstGeom prst="ellipse">
            <a:avLst/>
          </a:prstGeom>
          <a:solidFill>
            <a:srgbClr val="226192">
              <a:alpha val="0"/>
            </a:srgbClr>
          </a:solidFill>
          <a:ln w="13970">
            <a:solidFill>
              <a:srgbClr val="226192">
                <a:alpha val="18000"/>
              </a:srgbClr>
            </a:solidFill>
            <a:prstDash val="solid"/>
          </a:ln>
        </p:spPr>
      </p:sp>
      <p:sp>
        <p:nvSpPr>
          <p:cNvPr id="3" name="!!halo-r2"/>
          <p:cNvSpPr/>
          <p:nvPr/>
        </p:nvSpPr>
        <p:spPr>
          <a:xfrm>
            <a:off x="10812780" y="388620"/>
            <a:ext cx="960120" cy="960120"/>
          </a:xfrm>
          <a:prstGeom prst="ellipse">
            <a:avLst/>
          </a:prstGeom>
          <a:solidFill>
            <a:srgbClr val="226192">
              <a:alpha val="0"/>
            </a:srgbClr>
          </a:solidFill>
          <a:ln w="13970">
            <a:solidFill>
              <a:srgbClr val="226192">
                <a:alpha val="36000"/>
              </a:srgbClr>
            </a:solidFill>
            <a:prstDash val="solid"/>
          </a:ln>
        </p:spPr>
      </p:sp>
      <p:sp>
        <p:nvSpPr>
          <p:cNvPr id="4" name="!!halo-r1"/>
          <p:cNvSpPr/>
          <p:nvPr/>
        </p:nvSpPr>
        <p:spPr>
          <a:xfrm>
            <a:off x="10949940" y="525780"/>
            <a:ext cx="685800" cy="685800"/>
          </a:xfrm>
          <a:prstGeom prst="ellipse">
            <a:avLst/>
          </a:prstGeom>
          <a:solidFill>
            <a:srgbClr val="226192">
              <a:alpha val="0"/>
            </a:srgbClr>
          </a:solidFill>
          <a:ln w="13970">
            <a:solidFill>
              <a:srgbClr val="226192">
                <a:alpha val="60000"/>
              </a:srgbClr>
            </a:solidFill>
            <a:prstDash val="solid"/>
          </a:ln>
        </p:spPr>
      </p:sp>
      <p:sp>
        <p:nvSpPr>
          <p:cNvPr id="5" name="!!halo-core"/>
          <p:cNvSpPr/>
          <p:nvPr/>
        </p:nvSpPr>
        <p:spPr>
          <a:xfrm>
            <a:off x="11064240" y="640080"/>
            <a:ext cx="457200" cy="457200"/>
          </a:xfrm>
          <a:prstGeom prst="ellipse">
            <a:avLst/>
          </a:prstGeom>
          <a:solidFill>
            <a:srgbClr val="226192"/>
          </a:solidFill>
          <a:ln w="12700">
            <a:solidFill>
              <a:srgbClr val="226192"/>
            </a:solidFill>
            <a:prstDash val="solid"/>
          </a:ln>
        </p:spPr>
      </p:sp>
      <p:pic>
        <p:nvPicPr>
          <p:cNvPr id="6" name="!!halo-icon" descr="Scam check">    </p:cNvPr>
          <p:cNvPicPr>
            <a:picLocks noChangeAspect="1"/>
          </p:cNvPicPr>
          <p:nvPr/>
        </p:nvPicPr>
        <p:blipFill>
          <a:blip r:embed="rId1"/>
          <a:stretch>
            <a:fillRect/>
          </a:stretch>
        </p:blipFill>
        <p:spPr>
          <a:xfrm>
            <a:off x="11173968" y="749808"/>
            <a:ext cx="237744" cy="237744"/>
          </a:xfrm>
          <a:prstGeom prst="rect">
            <a:avLst/>
          </a:prstGeom>
        </p:spPr>
      </p:pic>
      <p:sp>
        <p:nvSpPr>
          <p:cNvPr id="7" name="!!kicker"/>
          <p:cNvSpPr txBox="1"/>
          <p:nvPr/>
        </p:nvSpPr>
        <p:spPr>
          <a:xfrm>
            <a:off x="731520" y="685800"/>
            <a:ext cx="5486400" cy="320040"/>
          </a:xfrm>
          <a:prstGeom prst="rect">
            <a:avLst/>
          </a:prstGeom>
          <a:noFill/>
          <a:ln/>
        </p:spPr>
        <p:txBody>
          <a:bodyPr wrap="square" lIns="0" tIns="0" rIns="0" bIns="0" rtlCol="0" anchor="t"/>
          <a:lstStyle/>
          <a:p>
            <a:pPr indent="0" marL="0">
              <a:buNone/>
            </a:pPr>
            <a:r>
              <a:rPr lang="en-US" sz="1400" b="1" spc="200" kern="0" dirty="0">
                <a:solidFill>
                  <a:srgbClr val="226192"/>
                </a:solidFill>
                <a:latin typeface="Segoe UI" pitchFamily="34" charset="0"/>
                <a:ea typeface="Segoe UI" pitchFamily="34" charset="-122"/>
                <a:cs typeface="Segoe UI" pitchFamily="34" charset="-120"/>
              </a:rPr>
              <a:t>CALL STORY</a:t>
            </a:r>
            <a:endParaRPr lang="en-US" sz="1400" dirty="0"/>
          </a:p>
        </p:txBody>
      </p:sp>
      <p:sp>
        <p:nvSpPr>
          <p:cNvPr id="8" name="!!headline"/>
          <p:cNvSpPr txBox="1"/>
          <p:nvPr/>
        </p:nvSpPr>
        <p:spPr>
          <a:xfrm>
            <a:off x="731520" y="1051560"/>
            <a:ext cx="9601200" cy="731520"/>
          </a:xfrm>
          <a:prstGeom prst="rect">
            <a:avLst/>
          </a:prstGeom>
          <a:noFill/>
          <a:ln/>
        </p:spPr>
        <p:txBody>
          <a:bodyPr wrap="square" lIns="0" tIns="0" rIns="0" bIns="0" rtlCol="0" anchor="t"/>
          <a:lstStyle/>
          <a:p>
            <a:pPr indent="0" marL="0">
              <a:buNone/>
            </a:pPr>
            <a:r>
              <a:rPr lang="en-US" sz="3600" b="1" dirty="0">
                <a:solidFill>
                  <a:srgbClr val="1F2937"/>
                </a:solidFill>
                <a:latin typeface="Segoe UI" pitchFamily="34" charset="0"/>
                <a:ea typeface="Segoe UI" pitchFamily="34" charset="-122"/>
                <a:cs typeface="Segoe UI" pitchFamily="34" charset="-120"/>
              </a:rPr>
              <a:t>We stepped in the moment they asked</a:t>
            </a:r>
            <a:endParaRPr lang="en-US" sz="3600" dirty="0"/>
          </a:p>
        </p:txBody>
      </p:sp>
      <p:sp>
        <p:nvSpPr>
          <p:cNvPr id="9" name="story-card"/>
          <p:cNvSpPr/>
          <p:nvPr/>
        </p:nvSpPr>
        <p:spPr>
          <a:xfrm>
            <a:off x="731520" y="2148840"/>
            <a:ext cx="6766560" cy="3017520"/>
          </a:xfrm>
          <a:prstGeom prst="roundRect">
            <a:avLst>
              <a:gd name="adj" fmla="val 8485"/>
            </a:avLst>
          </a:prstGeom>
          <a:solidFill>
            <a:srgbClr val="FFFFFF"/>
          </a:solidFill>
          <a:ln w="12700">
            <a:solidFill>
              <a:srgbClr val="E6E8EB"/>
            </a:solidFill>
            <a:prstDash val="solid"/>
          </a:ln>
        </p:spPr>
      </p:sp>
      <p:sp>
        <p:nvSpPr>
          <p:cNvPr id="10" name="story-bar"/>
          <p:cNvSpPr/>
          <p:nvPr/>
        </p:nvSpPr>
        <p:spPr>
          <a:xfrm>
            <a:off x="1097280" y="2606040"/>
            <a:ext cx="6035040" cy="128016"/>
          </a:xfrm>
          <a:prstGeom prst="roundRect">
            <a:avLst>
              <a:gd name="adj" fmla="val 50000"/>
            </a:avLst>
          </a:prstGeom>
          <a:solidFill>
            <a:srgbClr val="E3EDF5"/>
          </a:solidFill>
          <a:ln w="12700">
            <a:solidFill>
              <a:srgbClr val="E3EDF5"/>
            </a:solidFill>
            <a:prstDash val="solid"/>
          </a:ln>
        </p:spPr>
      </p:sp>
      <p:sp>
        <p:nvSpPr>
          <p:cNvPr id="11" name="story-dot-0"/>
          <p:cNvSpPr/>
          <p:nvPr/>
        </p:nvSpPr>
        <p:spPr>
          <a:xfrm>
            <a:off x="4710989" y="2542032"/>
            <a:ext cx="256032" cy="256032"/>
          </a:xfrm>
          <a:prstGeom prst="ellipse">
            <a:avLst/>
          </a:prstGeom>
          <a:solidFill>
            <a:srgbClr val="E8A317"/>
          </a:solidFill>
          <a:ln w="25400">
            <a:solidFill>
              <a:srgbClr val="FFFFFF"/>
            </a:solidFill>
            <a:prstDash val="solid"/>
          </a:ln>
        </p:spPr>
      </p:sp>
      <p:sp>
        <p:nvSpPr>
          <p:cNvPr id="12" name="story-key-0"/>
          <p:cNvSpPr/>
          <p:nvPr/>
        </p:nvSpPr>
        <p:spPr>
          <a:xfrm>
            <a:off x="1097280" y="3310128"/>
            <a:ext cx="182880" cy="182880"/>
          </a:xfrm>
          <a:prstGeom prst="ellipse">
            <a:avLst/>
          </a:prstGeom>
          <a:solidFill>
            <a:srgbClr val="E8A317"/>
          </a:solidFill>
          <a:ln w="12700">
            <a:solidFill>
              <a:srgbClr val="E8A317"/>
            </a:solidFill>
            <a:prstDash val="solid"/>
          </a:ln>
        </p:spPr>
      </p:sp>
      <p:sp>
        <p:nvSpPr>
          <p:cNvPr id="13" name="story-time-0"/>
          <p:cNvSpPr txBox="1"/>
          <p:nvPr/>
        </p:nvSpPr>
        <p:spPr>
          <a:xfrm>
            <a:off x="1417320" y="3227832"/>
            <a:ext cx="731520" cy="36576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0:21</a:t>
            </a:r>
            <a:endParaRPr lang="en-US" sz="1500" dirty="0"/>
          </a:p>
        </p:txBody>
      </p:sp>
      <p:sp>
        <p:nvSpPr>
          <p:cNvPr id="14" name="story-label-0"/>
          <p:cNvSpPr txBox="1"/>
          <p:nvPr/>
        </p:nvSpPr>
        <p:spPr>
          <a:xfrm>
            <a:off x="2194560" y="3227832"/>
            <a:ext cx="4846320" cy="365760"/>
          </a:xfrm>
          <a:prstGeom prst="rect">
            <a:avLst/>
          </a:prstGeom>
          <a:noFill/>
          <a:ln/>
        </p:spPr>
        <p:txBody>
          <a:bodyPr wrap="square" lIns="0" tIns="0" rIns="0" bIns="0" rtlCol="0" anchor="t"/>
          <a:lstStyle/>
          <a:p>
            <a:pPr indent="0" marL="0">
              <a:buNone/>
            </a:pPr>
            <a:r>
              <a:rPr lang="en-US" sz="1700" b="1" dirty="0">
                <a:solidFill>
                  <a:srgbClr val="1F2937"/>
                </a:solidFill>
                <a:latin typeface="Segoe UI" pitchFamily="34" charset="0"/>
                <a:ea typeface="Segoe UI" pitchFamily="34" charset="-122"/>
                <a:cs typeface="Segoe UI" pitchFamily="34" charset="-120"/>
              </a:rPr>
              <a:t>Asked for your OTP</a:t>
            </a:r>
            <a:endParaRPr lang="en-US" sz="1700" dirty="0"/>
          </a:p>
        </p:txBody>
      </p:sp>
      <p:sp>
        <p:nvSpPr>
          <p:cNvPr id="15" name="story-dot-1"/>
          <p:cNvSpPr/>
          <p:nvPr/>
        </p:nvSpPr>
        <p:spPr>
          <a:xfrm>
            <a:off x="5314493" y="2542032"/>
            <a:ext cx="256032" cy="256032"/>
          </a:xfrm>
          <a:prstGeom prst="ellipse">
            <a:avLst/>
          </a:prstGeom>
          <a:solidFill>
            <a:srgbClr val="D92D20"/>
          </a:solidFill>
          <a:ln w="25400">
            <a:solidFill>
              <a:srgbClr val="FFFFFF"/>
            </a:solidFill>
            <a:prstDash val="solid"/>
          </a:ln>
        </p:spPr>
      </p:sp>
      <p:sp>
        <p:nvSpPr>
          <p:cNvPr id="16" name="story-key-1"/>
          <p:cNvSpPr/>
          <p:nvPr/>
        </p:nvSpPr>
        <p:spPr>
          <a:xfrm>
            <a:off x="1097280" y="3858768"/>
            <a:ext cx="182880" cy="182880"/>
          </a:xfrm>
          <a:prstGeom prst="ellipse">
            <a:avLst/>
          </a:prstGeom>
          <a:solidFill>
            <a:srgbClr val="D92D20"/>
          </a:solidFill>
          <a:ln w="12700">
            <a:solidFill>
              <a:srgbClr val="D92D20"/>
            </a:solidFill>
            <a:prstDash val="solid"/>
          </a:ln>
        </p:spPr>
      </p:sp>
      <p:sp>
        <p:nvSpPr>
          <p:cNvPr id="17" name="story-time-1"/>
          <p:cNvSpPr txBox="1"/>
          <p:nvPr/>
        </p:nvSpPr>
        <p:spPr>
          <a:xfrm>
            <a:off x="1417320" y="3776472"/>
            <a:ext cx="731520" cy="36576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0:24</a:t>
            </a:r>
            <a:endParaRPr lang="en-US" sz="1500" dirty="0"/>
          </a:p>
        </p:txBody>
      </p:sp>
      <p:sp>
        <p:nvSpPr>
          <p:cNvPr id="18" name="story-label-1"/>
          <p:cNvSpPr txBox="1"/>
          <p:nvPr/>
        </p:nvSpPr>
        <p:spPr>
          <a:xfrm>
            <a:off x="2194560" y="3776472"/>
            <a:ext cx="4846320" cy="365760"/>
          </a:xfrm>
          <a:prstGeom prst="rect">
            <a:avLst/>
          </a:prstGeom>
          <a:noFill/>
          <a:ln/>
        </p:spPr>
        <p:txBody>
          <a:bodyPr wrap="square" lIns="0" tIns="0" rIns="0" bIns="0" rtlCol="0" anchor="t"/>
          <a:lstStyle/>
          <a:p>
            <a:pPr indent="0" marL="0">
              <a:buNone/>
            </a:pPr>
            <a:r>
              <a:rPr lang="en-US" sz="1700" b="1" dirty="0">
                <a:solidFill>
                  <a:srgbClr val="1F2937"/>
                </a:solidFill>
                <a:latin typeface="Segoe UI" pitchFamily="34" charset="0"/>
                <a:ea typeface="Segoe UI" pitchFamily="34" charset="-122"/>
                <a:cs typeface="Segoe UI" pitchFamily="34" charset="-120"/>
              </a:rPr>
              <a:t>High risk confirmed</a:t>
            </a:r>
            <a:endParaRPr lang="en-US" sz="1700" dirty="0"/>
          </a:p>
        </p:txBody>
      </p:sp>
      <p:sp>
        <p:nvSpPr>
          <p:cNvPr id="19" name="story-dot-2"/>
          <p:cNvSpPr/>
          <p:nvPr/>
        </p:nvSpPr>
        <p:spPr>
          <a:xfrm>
            <a:off x="5917997" y="2542032"/>
            <a:ext cx="256032" cy="256032"/>
          </a:xfrm>
          <a:prstGeom prst="ellipse">
            <a:avLst/>
          </a:prstGeom>
          <a:solidFill>
            <a:srgbClr val="226192"/>
          </a:solidFill>
          <a:ln w="25400">
            <a:solidFill>
              <a:srgbClr val="FFFFFF"/>
            </a:solidFill>
            <a:prstDash val="solid"/>
          </a:ln>
        </p:spPr>
      </p:sp>
      <p:sp>
        <p:nvSpPr>
          <p:cNvPr id="20" name="story-key-2"/>
          <p:cNvSpPr/>
          <p:nvPr/>
        </p:nvSpPr>
        <p:spPr>
          <a:xfrm>
            <a:off x="1097280" y="4407408"/>
            <a:ext cx="182880" cy="182880"/>
          </a:xfrm>
          <a:prstGeom prst="ellipse">
            <a:avLst/>
          </a:prstGeom>
          <a:solidFill>
            <a:srgbClr val="226192"/>
          </a:solidFill>
          <a:ln w="12700">
            <a:solidFill>
              <a:srgbClr val="226192"/>
            </a:solidFill>
            <a:prstDash val="solid"/>
          </a:ln>
        </p:spPr>
      </p:sp>
      <p:sp>
        <p:nvSpPr>
          <p:cNvPr id="21" name="story-time-2"/>
          <p:cNvSpPr txBox="1"/>
          <p:nvPr/>
        </p:nvSpPr>
        <p:spPr>
          <a:xfrm>
            <a:off x="1417320" y="4325112"/>
            <a:ext cx="731520" cy="36576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0:27</a:t>
            </a:r>
            <a:endParaRPr lang="en-US" sz="1500" dirty="0"/>
          </a:p>
        </p:txBody>
      </p:sp>
      <p:sp>
        <p:nvSpPr>
          <p:cNvPr id="22" name="story-label-2"/>
          <p:cNvSpPr txBox="1"/>
          <p:nvPr/>
        </p:nvSpPr>
        <p:spPr>
          <a:xfrm>
            <a:off x="2194560" y="4325112"/>
            <a:ext cx="4846320" cy="365760"/>
          </a:xfrm>
          <a:prstGeom prst="rect">
            <a:avLst/>
          </a:prstGeom>
          <a:noFill/>
          <a:ln/>
        </p:spPr>
        <p:txBody>
          <a:bodyPr wrap="square" lIns="0" tIns="0" rIns="0" bIns="0" rtlCol="0" anchor="t"/>
          <a:lstStyle/>
          <a:p>
            <a:pPr indent="0" marL="0">
              <a:buNone/>
            </a:pPr>
            <a:r>
              <a:rPr lang="en-US" sz="1700" b="1" dirty="0">
                <a:solidFill>
                  <a:srgbClr val="1F2937"/>
                </a:solidFill>
                <a:latin typeface="Segoe UI" pitchFamily="34" charset="0"/>
                <a:ea typeface="Segoe UI" pitchFamily="34" charset="-122"/>
                <a:cs typeface="Segoe UI" pitchFamily="34" charset="-120"/>
              </a:rPr>
              <a:t>You ended the call</a:t>
            </a:r>
            <a:endParaRPr lang="en-US" sz="1700" dirty="0"/>
          </a:p>
        </p:txBody>
      </p:sp>
      <p:sp>
        <p:nvSpPr>
          <p:cNvPr id="23" name="story-lock-bg"/>
          <p:cNvSpPr/>
          <p:nvPr/>
        </p:nvSpPr>
        <p:spPr>
          <a:xfrm>
            <a:off x="8001000" y="2148840"/>
            <a:ext cx="3474720" cy="3017520"/>
          </a:xfrm>
          <a:prstGeom prst="roundRect">
            <a:avLst>
              <a:gd name="adj" fmla="val 8485"/>
            </a:avLst>
          </a:prstGeom>
          <a:solidFill>
            <a:srgbClr val="E3EDF5"/>
          </a:solidFill>
          <a:ln w="12700">
            <a:solidFill>
              <a:srgbClr val="E3EDF5"/>
            </a:solidFill>
            <a:prstDash val="solid"/>
          </a:ln>
        </p:spPr>
      </p:sp>
      <p:pic>
        <p:nvPicPr>
          <p:cNvPr id="24" name="story-lock-icon" descr="preencoded.png">    </p:cNvPr>
          <p:cNvPicPr>
            <a:picLocks noChangeAspect="1"/>
          </p:cNvPicPr>
          <p:nvPr/>
        </p:nvPicPr>
        <p:blipFill>
          <a:blip r:embed="rId2"/>
          <a:stretch>
            <a:fillRect/>
          </a:stretch>
        </p:blipFill>
        <p:spPr>
          <a:xfrm>
            <a:off x="8366760" y="2514600"/>
            <a:ext cx="457200" cy="457200"/>
          </a:xfrm>
          <a:prstGeom prst="rect">
            <a:avLst/>
          </a:prstGeom>
        </p:spPr>
      </p:pic>
      <p:sp>
        <p:nvSpPr>
          <p:cNvPr id="25" name="story-lock-title"/>
          <p:cNvSpPr txBox="1"/>
          <p:nvPr/>
        </p:nvSpPr>
        <p:spPr>
          <a:xfrm>
            <a:off x="8366760" y="3108960"/>
            <a:ext cx="2834640" cy="411480"/>
          </a:xfrm>
          <a:prstGeom prst="rect">
            <a:avLst/>
          </a:prstGeom>
          <a:noFill/>
          <a:ln/>
        </p:spPr>
        <p:txBody>
          <a:bodyPr wrap="square" lIns="0" tIns="0" rIns="0" bIns="0" rtlCol="0" anchor="t"/>
          <a:lstStyle/>
          <a:p>
            <a:pPr indent="0" marL="0">
              <a:buNone/>
            </a:pPr>
            <a:r>
              <a:rPr lang="en-US" sz="2000" b="1" dirty="0">
                <a:solidFill>
                  <a:srgbClr val="123A58"/>
                </a:solidFill>
                <a:latin typeface="Segoe UI" pitchFamily="34" charset="0"/>
                <a:ea typeface="Segoe UI" pitchFamily="34" charset="-122"/>
                <a:cs typeface="Segoe UI" pitchFamily="34" charset="-120"/>
              </a:rPr>
              <a:t>Nothing recorded</a:t>
            </a:r>
            <a:endParaRPr lang="en-US" sz="2000" dirty="0"/>
          </a:p>
        </p:txBody>
      </p:sp>
      <p:sp>
        <p:nvSpPr>
          <p:cNvPr id="26" name="!!subline"/>
          <p:cNvSpPr txBox="1"/>
          <p:nvPr/>
        </p:nvSpPr>
        <p:spPr>
          <a:xfrm>
            <a:off x="8366760" y="3566160"/>
            <a:ext cx="2834640" cy="1188720"/>
          </a:xfrm>
          <a:prstGeom prst="rect">
            <a:avLst/>
          </a:prstGeom>
          <a:noFill/>
          <a:ln/>
        </p:spPr>
        <p:txBody>
          <a:bodyPr wrap="square" lIns="0" tIns="0" rIns="0" bIns="0" rtlCol="0" anchor="t"/>
          <a:lstStyle/>
          <a:p>
            <a:pPr indent="0" marL="0">
              <a:buNone/>
            </a:pPr>
            <a:r>
              <a:rPr lang="en-US" sz="1500" dirty="0">
                <a:solidFill>
                  <a:srgbClr val="123A58"/>
                </a:solidFill>
                <a:latin typeface="Segoe UI" pitchFamily="34" charset="0"/>
                <a:ea typeface="Segoe UI" pitchFamily="34" charset="-122"/>
                <a:cs typeface="Segoe UI" pitchFamily="34" charset="-120"/>
              </a:rPr>
              <a:t>No audio. No transcript. Only these moments, kept on your phone.</a:t>
            </a:r>
            <a:endParaRPr lang="en-US" sz="1500" dirty="0"/>
          </a:p>
        </p:txBody>
      </p:sp>
      <p:sp>
        <p:nvSpPr>
          <p:cNvPr id="27" name="btn-Try another call"/>
          <p:cNvSpPr txBox="1"/>
          <p:nvPr/>
        </p:nvSpPr>
        <p:spPr>
          <a:xfrm>
            <a:off x="731520" y="5577840"/>
            <a:ext cx="2743200" cy="566928"/>
          </a:xfrm>
          <a:prstGeom prst="roundRect">
            <a:avLst>
              <a:gd name="adj" fmla="val 29032"/>
            </a:avLst>
          </a:prstGeom>
          <a:solidFill>
            <a:srgbClr val="FAFAF8"/>
          </a:solidFill>
          <a:ln w="19050">
            <a:solidFill>
              <a:srgbClr val="226192"/>
            </a:solidFill>
          </a:ln>
        </p:spPr>
        <p:txBody>
          <a:bodyPr wrap="square" lIns="0" tIns="0" rIns="0" bIns="0" rtlCol="0" anchor="ctr"/>
          <a:lstStyle/>
          <a:p>
            <a:pPr algn="ctr" indent="0" marL="0">
              <a:buNone/>
            </a:pPr>
            <a:r>
              <a:rPr lang="en-US" sz="1600" b="1" dirty="0">
                <a:solidFill>
                  <a:srgbClr val="226192"/>
                </a:solidFill>
                <a:latin typeface="Segoe UI" pitchFamily="34" charset="0"/>
                <a:ea typeface="Segoe UI" pitchFamily="34" charset="-122"/>
                <a:cs typeface="Segoe UI" pitchFamily="34" charset="-120"/>
              </a:rPr>
              <a:t>Try another call</a:t>
            </a:r>
            <a:endParaRPr lang="en-US" sz="1600" dirty="0"/>
          </a:p>
        </p:txBody>
      </p:sp>
      <p:pic>
        <p:nvPicPr>
          <p:cNvPr id="28" name="hot-Try another call" descr="Try another call">
            <a:hlinkClick r:id="rId4" tooltip="Try another call" action="ppaction://hlinksldjump"/>
          </p:cNvPr>
          <p:cNvPicPr>
            <a:picLocks noChangeAspect="1"/>
          </p:cNvPicPr>
          <p:nvPr/>
        </p:nvPicPr>
        <p:blipFill>
          <a:blip r:embed="rId3"/>
          <a:stretch>
            <a:fillRect/>
          </a:stretch>
        </p:blipFill>
        <p:spPr>
          <a:xfrm>
            <a:off x="731520" y="5577840"/>
            <a:ext cx="2743200" cy="566928"/>
          </a:xfrm>
          <a:prstGeom prst="rect">
            <a:avLst/>
          </a:prstGeom>
        </p:spPr>
      </p:pic>
      <p:sp>
        <p:nvSpPr>
          <p:cNvPr id="29" name="btn-Continue"/>
          <p:cNvSpPr txBox="1"/>
          <p:nvPr/>
        </p:nvSpPr>
        <p:spPr>
          <a:xfrm>
            <a:off x="3657600" y="5577840"/>
            <a:ext cx="2194560" cy="566928"/>
          </a:xfrm>
          <a:prstGeom prst="roundRect">
            <a:avLst>
              <a:gd name="adj" fmla="val 29032"/>
            </a:avLst>
          </a:prstGeom>
          <a:solidFill>
            <a:srgbClr val="226192"/>
          </a:solidFill>
          <a:ln w="19050">
            <a:solidFill>
              <a:srgbClr val="226192"/>
            </a:solid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Continue</a:t>
            </a:r>
            <a:endParaRPr lang="en-US" sz="1600" dirty="0"/>
          </a:p>
        </p:txBody>
      </p:sp>
      <p:pic>
        <p:nvPicPr>
          <p:cNvPr id="30" name="hot-Continue" descr="Continue">
            <a:hlinkClick r:id="rId6" tooltip="Continue" action="ppaction://hlinksldjump"/>
          </p:cNvPr>
          <p:cNvPicPr>
            <a:picLocks noChangeAspect="1"/>
          </p:cNvPicPr>
          <p:nvPr/>
        </p:nvPicPr>
        <p:blipFill>
          <a:blip r:embed="rId5"/>
          <a:stretch>
            <a:fillRect/>
          </a:stretch>
        </p:blipFill>
        <p:spPr>
          <a:xfrm>
            <a:off x="3657600" y="5577840"/>
            <a:ext cx="2194560" cy="56692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phone"/>
          <p:cNvSpPr/>
          <p:nvPr/>
        </p:nvSpPr>
        <p:spPr>
          <a:xfrm>
            <a:off x="8001000" y="411480"/>
            <a:ext cx="3017520" cy="6035040"/>
          </a:xfrm>
          <a:prstGeom prst="roundRect">
            <a:avLst>
              <a:gd name="adj" fmla="val 14545"/>
            </a:avLst>
          </a:prstGeom>
          <a:solidFill>
            <a:srgbClr val="0A131D"/>
          </a:solidFill>
          <a:ln w="19050">
            <a:solidFill>
              <a:srgbClr val="2E4257"/>
            </a:solidFill>
            <a:prstDash val="solid"/>
          </a:ln>
        </p:spPr>
      </p:sp>
      <p:sp>
        <p:nvSpPr>
          <p:cNvPr id="3" name="!!screen"/>
          <p:cNvSpPr/>
          <p:nvPr/>
        </p:nvSpPr>
        <p:spPr>
          <a:xfrm>
            <a:off x="8092440" y="502920"/>
            <a:ext cx="2834640" cy="5852160"/>
          </a:xfrm>
          <a:prstGeom prst="roundRect">
            <a:avLst>
              <a:gd name="adj" fmla="val 12903"/>
            </a:avLst>
          </a:prstGeom>
          <a:solidFill>
            <a:srgbClr val="0E1A27"/>
          </a:solidFill>
          <a:ln w="12700">
            <a:solidFill>
              <a:srgbClr val="0E1A27"/>
            </a:solidFill>
            <a:prstDash val="solid"/>
          </a:ln>
        </p:spPr>
      </p:sp>
      <p:sp>
        <p:nvSpPr>
          <p:cNvPr id="4" name="!!p-top"/>
          <p:cNvSpPr txBox="1"/>
          <p:nvPr/>
        </p:nvSpPr>
        <p:spPr>
          <a:xfrm>
            <a:off x="8183880" y="713232"/>
            <a:ext cx="2651760" cy="310896"/>
          </a:xfrm>
          <a:prstGeom prst="rect">
            <a:avLst/>
          </a:prstGeom>
          <a:noFill/>
          <a:ln/>
        </p:spPr>
        <p:txBody>
          <a:bodyPr wrap="square" lIns="0" tIns="0" rIns="0" bIns="0" rtlCol="0" anchor="t"/>
          <a:lstStyle/>
          <a:p>
            <a:pPr algn="ctr" indent="0" marL="0">
              <a:buNone/>
            </a:pPr>
            <a:r>
              <a:rPr lang="en-US" sz="1400" b="1" dirty="0">
                <a:solidFill>
                  <a:srgbClr val="FFFFFF"/>
                </a:solidFill>
                <a:latin typeface="Segoe UI" pitchFamily="34" charset="0"/>
                <a:ea typeface="Segoe UI" pitchFamily="34" charset="-122"/>
                <a:cs typeface="Segoe UI" pitchFamily="34" charset="-120"/>
              </a:rPr>
              <a:t>Unknown number</a:t>
            </a:r>
            <a:endParaRPr lang="en-US" sz="1400" dirty="0"/>
          </a:p>
        </p:txBody>
      </p:sp>
      <p:sp>
        <p:nvSpPr>
          <p:cNvPr id="5" name="!!p-clock"/>
          <p:cNvSpPr txBox="1"/>
          <p:nvPr/>
        </p:nvSpPr>
        <p:spPr>
          <a:xfrm>
            <a:off x="8183880" y="1005840"/>
            <a:ext cx="2651760" cy="237744"/>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0:38</a:t>
            </a:r>
            <a:endParaRPr lang="en-US" sz="1000" dirty="0"/>
          </a:p>
        </p:txBody>
      </p:sp>
      <p:sp>
        <p:nvSpPr>
          <p:cNvPr id="6" name="!!halo-r3"/>
          <p:cNvSpPr/>
          <p:nvPr/>
        </p:nvSpPr>
        <p:spPr>
          <a:xfrm>
            <a:off x="8378190" y="1200150"/>
            <a:ext cx="2263140" cy="2263140"/>
          </a:xfrm>
          <a:prstGeom prst="ellipse">
            <a:avLst/>
          </a:prstGeom>
          <a:solidFill>
            <a:srgbClr val="F5B83D">
              <a:alpha val="0"/>
            </a:srgbClr>
          </a:solidFill>
          <a:ln w="25146">
            <a:solidFill>
              <a:srgbClr val="F5B83D">
                <a:alpha val="30000"/>
              </a:srgbClr>
            </a:solidFill>
            <a:prstDash val="solid"/>
          </a:ln>
        </p:spPr>
      </p:sp>
      <p:sp>
        <p:nvSpPr>
          <p:cNvPr id="7" name="!!halo-r2"/>
          <p:cNvSpPr/>
          <p:nvPr/>
        </p:nvSpPr>
        <p:spPr>
          <a:xfrm>
            <a:off x="8645652" y="1467612"/>
            <a:ext cx="1728216" cy="1728216"/>
          </a:xfrm>
          <a:prstGeom prst="ellipse">
            <a:avLst/>
          </a:prstGeom>
          <a:solidFill>
            <a:srgbClr val="F5B83D">
              <a:alpha val="0"/>
            </a:srgbClr>
          </a:solidFill>
          <a:ln w="25146">
            <a:solidFill>
              <a:srgbClr val="F5B83D">
                <a:alpha val="58000"/>
              </a:srgbClr>
            </a:solidFill>
            <a:prstDash val="solid"/>
          </a:ln>
        </p:spPr>
      </p:sp>
      <p:sp>
        <p:nvSpPr>
          <p:cNvPr id="8" name="!!halo-r1"/>
          <p:cNvSpPr/>
          <p:nvPr/>
        </p:nvSpPr>
        <p:spPr>
          <a:xfrm>
            <a:off x="8892540" y="1714500"/>
            <a:ext cx="1234440" cy="1234440"/>
          </a:xfrm>
          <a:prstGeom prst="ellipse">
            <a:avLst/>
          </a:prstGeom>
          <a:solidFill>
            <a:srgbClr val="F5B83D">
              <a:alpha val="0"/>
            </a:srgbClr>
          </a:solidFill>
          <a:ln w="25146">
            <a:solidFill>
              <a:srgbClr val="F5B83D">
                <a:alpha val="90000"/>
              </a:srgbClr>
            </a:solidFill>
            <a:prstDash val="solid"/>
          </a:ln>
        </p:spPr>
      </p:sp>
      <p:sp>
        <p:nvSpPr>
          <p:cNvPr id="9" name="!!halo-core"/>
          <p:cNvSpPr/>
          <p:nvPr/>
        </p:nvSpPr>
        <p:spPr>
          <a:xfrm>
            <a:off x="9098280" y="1920240"/>
            <a:ext cx="822960" cy="822960"/>
          </a:xfrm>
          <a:prstGeom prst="ellipse">
            <a:avLst/>
          </a:prstGeom>
          <a:solidFill>
            <a:srgbClr val="3A2A08"/>
          </a:solidFill>
          <a:ln w="12700">
            <a:solidFill>
              <a:srgbClr val="3A2A08"/>
            </a:solidFill>
            <a:prstDash val="solid"/>
          </a:ln>
        </p:spPr>
      </p:sp>
      <p:pic>
        <p:nvPicPr>
          <p:cNvPr id="10" name="!!halo-icon" descr="Scam check">    </p:cNvPr>
          <p:cNvPicPr>
            <a:picLocks noChangeAspect="1"/>
          </p:cNvPicPr>
          <p:nvPr/>
        </p:nvPicPr>
        <p:blipFill>
          <a:blip r:embed="rId1"/>
          <a:stretch>
            <a:fillRect/>
          </a:stretch>
        </p:blipFill>
        <p:spPr>
          <a:xfrm>
            <a:off x="9295790" y="2117750"/>
            <a:ext cx="427939" cy="427939"/>
          </a:xfrm>
          <a:prstGeom prst="rect">
            <a:avLst/>
          </a:prstGeom>
        </p:spPr>
      </p:pic>
      <p:sp>
        <p:nvSpPr>
          <p:cNvPr id="11" name="!!p-card"/>
          <p:cNvSpPr/>
          <p:nvPr/>
        </p:nvSpPr>
        <p:spPr>
          <a:xfrm>
            <a:off x="8229600" y="3611880"/>
            <a:ext cx="2560320" cy="1325880"/>
          </a:xfrm>
          <a:prstGeom prst="roundRect">
            <a:avLst>
              <a:gd name="adj" fmla="val 11034"/>
            </a:avLst>
          </a:prstGeom>
          <a:solidFill>
            <a:srgbClr val="2A2412"/>
          </a:solidFill>
          <a:ln w="15875">
            <a:solidFill>
              <a:srgbClr val="F5B83D"/>
            </a:solidFill>
            <a:prstDash val="solid"/>
          </a:ln>
        </p:spPr>
      </p:sp>
      <p:sp>
        <p:nvSpPr>
          <p:cNvPr id="12" name="!!p-card-title"/>
          <p:cNvSpPr txBox="1"/>
          <p:nvPr/>
        </p:nvSpPr>
        <p:spPr>
          <a:xfrm>
            <a:off x="8385048" y="3721608"/>
            <a:ext cx="2249424" cy="274320"/>
          </a:xfrm>
          <a:prstGeom prst="rect">
            <a:avLst/>
          </a:prstGeom>
          <a:noFill/>
          <a:ln/>
        </p:spPr>
        <p:txBody>
          <a:bodyPr wrap="square" lIns="0" tIns="0" rIns="0" bIns="0" rtlCol="0" anchor="t"/>
          <a:lstStyle/>
          <a:p>
            <a:pPr indent="0" marL="0">
              <a:buNone/>
            </a:pPr>
            <a:r>
              <a:rPr lang="en-US" sz="1200" b="1" dirty="0">
                <a:solidFill>
                  <a:srgbClr val="FFE3A6"/>
                </a:solidFill>
                <a:latin typeface="Segoe UI" pitchFamily="34" charset="0"/>
                <a:ea typeface="Segoe UI" pitchFamily="34" charset="-122"/>
                <a:cs typeface="Segoe UI" pitchFamily="34" charset="-120"/>
              </a:rPr>
              <a:t>Checking a payment request…</a:t>
            </a:r>
            <a:endParaRPr lang="en-US" sz="1200" dirty="0"/>
          </a:p>
        </p:txBody>
      </p:sp>
      <p:sp>
        <p:nvSpPr>
          <p:cNvPr id="13" name="!!p-card-sub"/>
          <p:cNvSpPr txBox="1"/>
          <p:nvPr/>
        </p:nvSpPr>
        <p:spPr>
          <a:xfrm>
            <a:off x="8385048" y="4023360"/>
            <a:ext cx="2249424" cy="420624"/>
          </a:xfrm>
          <a:prstGeom prst="rect">
            <a:avLst/>
          </a:prstGeom>
          <a:noFill/>
          <a:ln/>
        </p:spPr>
        <p:txBody>
          <a:bodyPr wrap="square" lIns="0" tIns="0" rIns="0" bIns="0" rtlCol="0" anchor="t"/>
          <a:lstStyle/>
          <a:p>
            <a:pPr indent="0" marL="0">
              <a:buNone/>
            </a:pPr>
            <a:r>
              <a:rPr lang="en-US" sz="950" dirty="0">
                <a:solidFill>
                  <a:srgbClr val="FFE3A6"/>
                </a:solidFill>
                <a:latin typeface="Segoe UI" pitchFamily="34" charset="0"/>
                <a:ea typeface="Segoe UI" pitchFamily="34" charset="-122"/>
                <a:cs typeface="Segoe UI" pitchFamily="34" charset="-120"/>
              </a:rPr>
              <a:t>Don't scan, pay or share anything yet.</a:t>
            </a:r>
            <a:endParaRPr lang="en-US" sz="950" dirty="0"/>
          </a:p>
        </p:txBody>
      </p:sp>
      <p:sp>
        <p:nvSpPr>
          <p:cNvPr id="14" name="!!p-chip"/>
          <p:cNvSpPr txBox="1"/>
          <p:nvPr/>
        </p:nvSpPr>
        <p:spPr>
          <a:xfrm>
            <a:off x="8385048" y="4507992"/>
            <a:ext cx="2249424" cy="292608"/>
          </a:xfrm>
          <a:prstGeom prst="roundRect">
            <a:avLst>
              <a:gd name="adj" fmla="val 50000"/>
            </a:avLst>
          </a:prstGeom>
          <a:solidFill>
            <a:srgbClr val="F5B83D"/>
          </a:solidFill>
          <a:ln/>
        </p:spPr>
        <p:txBody>
          <a:bodyPr wrap="square" lIns="0" tIns="0" rIns="0" bIns="0" rtlCol="0" anchor="ctr"/>
          <a:lstStyle/>
          <a:p>
            <a:pPr algn="ctr" indent="0" marL="0">
              <a:buNone/>
            </a:pPr>
            <a:r>
              <a:rPr lang="en-US" sz="900" b="1" dirty="0">
                <a:solidFill>
                  <a:srgbClr val="2B1D00"/>
                </a:solidFill>
                <a:latin typeface="Segoe UI" pitchFamily="34" charset="0"/>
                <a:ea typeface="Segoe UI" pitchFamily="34" charset="-122"/>
                <a:cs typeface="Segoe UI" pitchFamily="34" charset="-120"/>
              </a:rPr>
              <a:t>Heard: UPI PIN for a refund</a:t>
            </a:r>
            <a:endParaRPr lang="en-US" sz="900" dirty="0"/>
          </a:p>
        </p:txBody>
      </p:sp>
      <p:sp>
        <p:nvSpPr>
          <p:cNvPr id="15" name="!!p-btn-a"/>
          <p:cNvSpPr/>
          <p:nvPr/>
        </p:nvSpPr>
        <p:spPr>
          <a:xfrm>
            <a:off x="8403336" y="5202936"/>
            <a:ext cx="566928" cy="566928"/>
          </a:xfrm>
          <a:prstGeom prst="ellipse">
            <a:avLst/>
          </a:prstGeom>
          <a:solidFill>
            <a:srgbClr val="FFFFFF">
              <a:alpha val="8000"/>
            </a:srgbClr>
          </a:solidFill>
          <a:ln w="12700">
            <a:solidFill>
              <a:srgbClr val="3A4E63"/>
            </a:solidFill>
            <a:prstDash val="solid"/>
          </a:ln>
        </p:spPr>
      </p:sp>
      <p:pic>
        <p:nvPicPr>
          <p:cNvPr id="16" name="!!p-btn-a-icon" descr="Mute">    </p:cNvPr>
          <p:cNvPicPr>
            <a:picLocks noChangeAspect="1"/>
          </p:cNvPicPr>
          <p:nvPr/>
        </p:nvPicPr>
        <p:blipFill>
          <a:blip r:embed="rId2"/>
          <a:stretch>
            <a:fillRect/>
          </a:stretch>
        </p:blipFill>
        <p:spPr>
          <a:xfrm>
            <a:off x="8559241" y="5358841"/>
            <a:ext cx="255118" cy="255118"/>
          </a:xfrm>
          <a:prstGeom prst="rect">
            <a:avLst/>
          </a:prstGeom>
        </p:spPr>
      </p:pic>
      <p:sp>
        <p:nvSpPr>
          <p:cNvPr id="17" name="!!p-btn-a-label"/>
          <p:cNvSpPr txBox="1"/>
          <p:nvPr/>
        </p:nvSpPr>
        <p:spPr>
          <a:xfrm>
            <a:off x="8138160" y="582472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Mute</a:t>
            </a:r>
            <a:endParaRPr lang="en-US" sz="1000" dirty="0"/>
          </a:p>
        </p:txBody>
      </p:sp>
      <p:sp>
        <p:nvSpPr>
          <p:cNvPr id="18" name="!!p-btn-b"/>
          <p:cNvSpPr/>
          <p:nvPr/>
        </p:nvSpPr>
        <p:spPr>
          <a:xfrm>
            <a:off x="9226296" y="5202936"/>
            <a:ext cx="566928" cy="566928"/>
          </a:xfrm>
          <a:prstGeom prst="ellipse">
            <a:avLst/>
          </a:prstGeom>
          <a:solidFill>
            <a:srgbClr val="FFFFFF">
              <a:alpha val="8000"/>
            </a:srgbClr>
          </a:solidFill>
          <a:ln w="12700">
            <a:solidFill>
              <a:srgbClr val="3A4E63"/>
            </a:solidFill>
            <a:prstDash val="solid"/>
          </a:ln>
        </p:spPr>
      </p:sp>
      <p:pic>
        <p:nvPicPr>
          <p:cNvPr id="19" name="!!p-btn-b-icon" descr="Speaker">    </p:cNvPr>
          <p:cNvPicPr>
            <a:picLocks noChangeAspect="1"/>
          </p:cNvPicPr>
          <p:nvPr/>
        </p:nvPicPr>
        <p:blipFill>
          <a:blip r:embed="rId3"/>
          <a:stretch>
            <a:fillRect/>
          </a:stretch>
        </p:blipFill>
        <p:spPr>
          <a:xfrm>
            <a:off x="9382201" y="5358841"/>
            <a:ext cx="255118" cy="255118"/>
          </a:xfrm>
          <a:prstGeom prst="rect">
            <a:avLst/>
          </a:prstGeom>
        </p:spPr>
      </p:pic>
      <p:sp>
        <p:nvSpPr>
          <p:cNvPr id="20" name="!!p-btn-b-label"/>
          <p:cNvSpPr txBox="1"/>
          <p:nvPr/>
        </p:nvSpPr>
        <p:spPr>
          <a:xfrm>
            <a:off x="8961120" y="582472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Speaker</a:t>
            </a:r>
            <a:endParaRPr lang="en-US" sz="1000" dirty="0"/>
          </a:p>
        </p:txBody>
      </p:sp>
      <p:sp>
        <p:nvSpPr>
          <p:cNvPr id="21" name="!!p-btn-c"/>
          <p:cNvSpPr/>
          <p:nvPr/>
        </p:nvSpPr>
        <p:spPr>
          <a:xfrm>
            <a:off x="10049256" y="5202936"/>
            <a:ext cx="566928" cy="566928"/>
          </a:xfrm>
          <a:prstGeom prst="ellipse">
            <a:avLst/>
          </a:prstGeom>
          <a:solidFill>
            <a:srgbClr val="D92D20"/>
          </a:solidFill>
          <a:ln w="12700">
            <a:solidFill>
              <a:srgbClr val="D92D20"/>
            </a:solidFill>
            <a:prstDash val="solid"/>
          </a:ln>
        </p:spPr>
      </p:sp>
      <p:pic>
        <p:nvPicPr>
          <p:cNvPr id="22" name="!!p-btn-c-icon" descr="End">    </p:cNvPr>
          <p:cNvPicPr>
            <a:picLocks noChangeAspect="1"/>
          </p:cNvPicPr>
          <p:nvPr/>
        </p:nvPicPr>
        <p:blipFill>
          <a:blip r:embed="rId4"/>
          <a:stretch>
            <a:fillRect/>
          </a:stretch>
        </p:blipFill>
        <p:spPr>
          <a:xfrm>
            <a:off x="10205161" y="5358841"/>
            <a:ext cx="255118" cy="255118"/>
          </a:xfrm>
          <a:prstGeom prst="rect">
            <a:avLst/>
          </a:prstGeom>
        </p:spPr>
      </p:pic>
      <p:sp>
        <p:nvSpPr>
          <p:cNvPr id="23" name="!!p-btn-c-label"/>
          <p:cNvSpPr txBox="1"/>
          <p:nvPr/>
        </p:nvSpPr>
        <p:spPr>
          <a:xfrm>
            <a:off x="9784080" y="582472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End</a:t>
            </a:r>
            <a:endParaRPr lang="en-US" sz="1000" dirty="0"/>
          </a:p>
        </p:txBody>
      </p:sp>
      <p:sp>
        <p:nvSpPr>
          <p:cNvPr id="24" name="!!step-num"/>
          <p:cNvSpPr txBox="1"/>
          <p:nvPr/>
        </p:nvSpPr>
        <p:spPr>
          <a:xfrm>
            <a:off x="731520" y="1417320"/>
            <a:ext cx="6400800" cy="365760"/>
          </a:xfrm>
          <a:prstGeom prst="rect">
            <a:avLst/>
          </a:prstGeom>
          <a:noFill/>
          <a:ln/>
        </p:spPr>
        <p:txBody>
          <a:bodyPr wrap="square" lIns="0" tIns="0" rIns="0" bIns="0" rtlCol="0" anchor="t"/>
          <a:lstStyle/>
          <a:p>
            <a:pPr indent="0" marL="0">
              <a:buNone/>
            </a:pPr>
            <a:r>
              <a:rPr lang="en-US" sz="1400" b="1" spc="200" kern="0" dirty="0">
                <a:solidFill>
                  <a:srgbClr val="7DB8E8"/>
                </a:solidFill>
                <a:latin typeface="Segoe UI" pitchFamily="34" charset="0"/>
                <a:ea typeface="Segoe UI" pitchFamily="34" charset="-122"/>
                <a:cs typeface="Segoe UI" pitchFamily="34" charset="-120"/>
              </a:rPr>
              <a:t>THE REFUND CALL</a:t>
            </a:r>
            <a:endParaRPr lang="en-US" sz="1400" dirty="0"/>
          </a:p>
        </p:txBody>
      </p:sp>
      <p:sp>
        <p:nvSpPr>
          <p:cNvPr id="25" name="!!step-title"/>
          <p:cNvSpPr txBox="1"/>
          <p:nvPr/>
        </p:nvSpPr>
        <p:spPr>
          <a:xfrm>
            <a:off x="731520" y="1828800"/>
            <a:ext cx="6583680" cy="1737360"/>
          </a:xfrm>
          <a:prstGeom prst="rect">
            <a:avLst/>
          </a:prstGeom>
          <a:noFill/>
          <a:ln/>
        </p:spPr>
        <p:txBody>
          <a:bodyPr wrap="square" lIns="0" tIns="0" rIns="0" bIns="0" rtlCol="0" anchor="t"/>
          <a:lstStyle/>
          <a:p>
            <a:pPr indent="0" marL="0">
              <a:buNone/>
            </a:pPr>
            <a:r>
              <a:rPr lang="en-US" sz="3800" b="1" dirty="0">
                <a:solidFill>
                  <a:srgbClr val="FFFFFF"/>
                </a:solidFill>
                <a:latin typeface="Segoe UI" pitchFamily="34" charset="0"/>
                <a:ea typeface="Segoe UI" pitchFamily="34" charset="-122"/>
                <a:cs typeface="Segoe UI" pitchFamily="34" charset="-120"/>
              </a:rPr>
              <a:t>“Enter your UPI PIN to get your refund”</a:t>
            </a:r>
            <a:endParaRPr lang="en-US" sz="3800" dirty="0"/>
          </a:p>
        </p:txBody>
      </p:sp>
      <p:sp>
        <p:nvSpPr>
          <p:cNvPr id="26" name="!!step-body"/>
          <p:cNvSpPr txBox="1"/>
          <p:nvPr/>
        </p:nvSpPr>
        <p:spPr>
          <a:xfrm>
            <a:off x="731520" y="3611880"/>
            <a:ext cx="6217920" cy="1188720"/>
          </a:xfrm>
          <a:prstGeom prst="rect">
            <a:avLst/>
          </a:prstGeom>
          <a:noFill/>
          <a:ln/>
        </p:spPr>
        <p:txBody>
          <a:bodyPr wrap="square" lIns="0" tIns="0" rIns="0" bIns="0" rtlCol="0" anchor="t"/>
          <a:lstStyle/>
          <a:p>
            <a:pPr indent="0" marL="0">
              <a:buNone/>
            </a:pPr>
            <a:r>
              <a:rPr lang="en-US" sz="1800" dirty="0">
                <a:solidFill>
                  <a:srgbClr val="A9B6C3"/>
                </a:solidFill>
                <a:latin typeface="Segoe UI" pitchFamily="34" charset="0"/>
                <a:ea typeface="Segoe UI" pitchFamily="34" charset="-122"/>
                <a:cs typeface="Segoe UI" pitchFamily="34" charset="-120"/>
              </a:rPr>
              <a:t>Fake customer-care agents ask for the UPI PIN. The halo turns amber the moment they do.</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advTm="3200">
        <p159:morph option="byObject"/>
      </p:transition>
    </mc:Choice>
    <mc:Fallback>
      <p:transition spd="slow" advTm="32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halo-r3"/>
          <p:cNvSpPr/>
          <p:nvPr/>
        </p:nvSpPr>
        <p:spPr>
          <a:xfrm>
            <a:off x="-3962552" y="-6629400"/>
            <a:ext cx="20116800" cy="20116800"/>
          </a:xfrm>
          <a:prstGeom prst="ellipse">
            <a:avLst/>
          </a:prstGeom>
          <a:solidFill>
            <a:srgbClr val="8F1D16">
              <a:alpha val="0"/>
            </a:srgbClr>
          </a:solidFill>
          <a:ln w="12700">
            <a:solidFill>
              <a:srgbClr val="8F1D16">
                <a:alpha val="0"/>
              </a:srgbClr>
            </a:solidFill>
            <a:prstDash val="solid"/>
          </a:ln>
        </p:spPr>
      </p:sp>
      <p:sp>
        <p:nvSpPr>
          <p:cNvPr id="3" name="!!halo-r2"/>
          <p:cNvSpPr/>
          <p:nvPr/>
        </p:nvSpPr>
        <p:spPr>
          <a:xfrm>
            <a:off x="-2819552" y="-5486400"/>
            <a:ext cx="17830800" cy="17830800"/>
          </a:xfrm>
          <a:prstGeom prst="ellipse">
            <a:avLst/>
          </a:prstGeom>
          <a:solidFill>
            <a:srgbClr val="8F1D16">
              <a:alpha val="0"/>
            </a:srgbClr>
          </a:solidFill>
          <a:ln w="12700">
            <a:solidFill>
              <a:srgbClr val="8F1D16">
                <a:alpha val="0"/>
              </a:srgbClr>
            </a:solidFill>
            <a:prstDash val="solid"/>
          </a:ln>
        </p:spPr>
      </p:sp>
      <p:sp>
        <p:nvSpPr>
          <p:cNvPr id="4" name="!!halo-r1"/>
          <p:cNvSpPr/>
          <p:nvPr/>
        </p:nvSpPr>
        <p:spPr>
          <a:xfrm>
            <a:off x="-1950872" y="-4617720"/>
            <a:ext cx="16093440" cy="16093440"/>
          </a:xfrm>
          <a:prstGeom prst="ellipse">
            <a:avLst/>
          </a:prstGeom>
          <a:solidFill>
            <a:srgbClr val="8F1D16">
              <a:alpha val="0"/>
            </a:srgbClr>
          </a:solidFill>
          <a:ln w="12700">
            <a:solidFill>
              <a:srgbClr val="8F1D16">
                <a:alpha val="0"/>
              </a:srgbClr>
            </a:solidFill>
            <a:prstDash val="solid"/>
          </a:ln>
        </p:spPr>
      </p:sp>
      <p:sp>
        <p:nvSpPr>
          <p:cNvPr id="5" name="!!halo-core"/>
          <p:cNvSpPr/>
          <p:nvPr/>
        </p:nvSpPr>
        <p:spPr>
          <a:xfrm>
            <a:off x="-1447952" y="-4114800"/>
            <a:ext cx="15087600" cy="15087600"/>
          </a:xfrm>
          <a:prstGeom prst="ellipse">
            <a:avLst/>
          </a:prstGeom>
          <a:solidFill>
            <a:srgbClr val="8F1D16"/>
          </a:solidFill>
          <a:ln w="12700">
            <a:solidFill>
              <a:srgbClr val="8F1D16"/>
            </a:solidFill>
            <a:prstDash val="solid"/>
          </a:ln>
        </p:spPr>
      </p:sp>
      <p:pic>
        <p:nvPicPr>
          <p:cNvPr id="6" name="al-icon" descr="preencoded.png">    </p:cNvPr>
          <p:cNvPicPr>
            <a:picLocks noChangeAspect="1"/>
          </p:cNvPicPr>
          <p:nvPr/>
        </p:nvPicPr>
        <p:blipFill>
          <a:blip r:embed="rId1"/>
          <a:stretch>
            <a:fillRect/>
          </a:stretch>
        </p:blipFill>
        <p:spPr>
          <a:xfrm>
            <a:off x="731520" y="566928"/>
            <a:ext cx="384048" cy="384048"/>
          </a:xfrm>
          <a:prstGeom prst="rect">
            <a:avLst/>
          </a:prstGeom>
        </p:spPr>
      </p:pic>
      <p:sp>
        <p:nvSpPr>
          <p:cNvPr id="7" name="al-level"/>
          <p:cNvSpPr txBox="1"/>
          <p:nvPr/>
        </p:nvSpPr>
        <p:spPr>
          <a:xfrm>
            <a:off x="1207008" y="603504"/>
            <a:ext cx="2743200" cy="329184"/>
          </a:xfrm>
          <a:prstGeom prst="rect">
            <a:avLst/>
          </a:prstGeom>
          <a:noFill/>
          <a:ln/>
        </p:spPr>
        <p:txBody>
          <a:bodyPr wrap="square" lIns="0" tIns="0" rIns="0" bIns="0" rtlCol="0" anchor="t"/>
          <a:lstStyle/>
          <a:p>
            <a:pPr indent="0" marL="0">
              <a:buNone/>
            </a:pPr>
            <a:r>
              <a:rPr lang="en-US" sz="1600" b="1" spc="300" kern="0" dirty="0">
                <a:solidFill>
                  <a:srgbClr val="FFFFFF"/>
                </a:solidFill>
                <a:latin typeface="Segoe UI" pitchFamily="34" charset="0"/>
                <a:ea typeface="Segoe UI" pitchFamily="34" charset="-122"/>
                <a:cs typeface="Segoe UI" pitchFamily="34" charset="-120"/>
              </a:rPr>
              <a:t>HIGH RISK</a:t>
            </a:r>
            <a:endParaRPr lang="en-US" sz="1600" dirty="0"/>
          </a:p>
        </p:txBody>
      </p:sp>
      <p:sp>
        <p:nvSpPr>
          <p:cNvPr id="8" name="al-auto"/>
          <p:cNvSpPr txBox="1"/>
          <p:nvPr/>
        </p:nvSpPr>
        <p:spPr>
          <a:xfrm>
            <a:off x="2926080" y="630936"/>
            <a:ext cx="2743200" cy="292608"/>
          </a:xfrm>
          <a:prstGeom prst="rect">
            <a:avLst/>
          </a:prstGeom>
          <a:noFill/>
          <a:ln/>
        </p:spPr>
        <p:txBody>
          <a:bodyPr wrap="square" lIns="0" tIns="0" rIns="0" bIns="0" rtlCol="0" anchor="t"/>
          <a:lstStyle/>
          <a:p>
            <a:pPr indent="0" marL="0">
              <a:buNone/>
            </a:pPr>
            <a:r>
              <a:rPr lang="en-US" sz="1300" dirty="0">
                <a:solidFill>
                  <a:srgbClr val="F6CFCB"/>
                </a:solidFill>
                <a:latin typeface="Segoe UI" pitchFamily="34" charset="0"/>
                <a:ea typeface="Segoe UI" pitchFamily="34" charset="-122"/>
                <a:cs typeface="Segoe UI" pitchFamily="34" charset="-120"/>
              </a:rPr>
              <a:t>Automatic check</a:t>
            </a:r>
            <a:endParaRPr lang="en-US" sz="1300" dirty="0"/>
          </a:p>
        </p:txBody>
      </p:sp>
      <p:sp>
        <p:nvSpPr>
          <p:cNvPr id="9" name="al-title"/>
          <p:cNvSpPr txBox="1"/>
          <p:nvPr/>
        </p:nvSpPr>
        <p:spPr>
          <a:xfrm>
            <a:off x="731520" y="1234440"/>
            <a:ext cx="6949440" cy="1188720"/>
          </a:xfrm>
          <a:prstGeom prst="rect">
            <a:avLst/>
          </a:prstGeom>
          <a:noFill/>
          <a:ln/>
        </p:spPr>
        <p:txBody>
          <a:bodyPr wrap="square" lIns="0" tIns="0" rIns="0" bIns="0" rtlCol="0" anchor="t"/>
          <a:lstStyle/>
          <a:p>
            <a:pPr indent="0" marL="0">
              <a:buNone/>
            </a:pPr>
            <a:r>
              <a:rPr lang="en-US" sz="3600" b="1" dirty="0">
                <a:solidFill>
                  <a:srgbClr val="FFFFFF"/>
                </a:solidFill>
                <a:latin typeface="Segoe UI" pitchFamily="34" charset="0"/>
                <a:ea typeface="Segoe UI" pitchFamily="34" charset="-122"/>
                <a:cs typeface="Segoe UI" pitchFamily="34" charset="-120"/>
              </a:rPr>
              <a:t>They asked for your UPI PIN to receive a refund.</a:t>
            </a:r>
            <a:endParaRPr lang="en-US" sz="3600" dirty="0"/>
          </a:p>
        </p:txBody>
      </p:sp>
      <p:sp>
        <p:nvSpPr>
          <p:cNvPr id="10" name="al-truth-bg"/>
          <p:cNvSpPr/>
          <p:nvPr/>
        </p:nvSpPr>
        <p:spPr>
          <a:xfrm>
            <a:off x="731520" y="3337560"/>
            <a:ext cx="6766560" cy="1261872"/>
          </a:xfrm>
          <a:prstGeom prst="roundRect">
            <a:avLst>
              <a:gd name="adj" fmla="val 14493"/>
            </a:avLst>
          </a:prstGeom>
          <a:solidFill>
            <a:srgbClr val="FFFFFF">
              <a:alpha val="12000"/>
            </a:srgbClr>
          </a:solidFill>
          <a:ln w="12700">
            <a:solidFill>
              <a:srgbClr val="FFFFFF">
                <a:alpha val="0"/>
              </a:srgbClr>
            </a:solidFill>
            <a:prstDash val="solid"/>
          </a:ln>
        </p:spPr>
      </p:sp>
      <p:sp>
        <p:nvSpPr>
          <p:cNvPr id="11" name="al-truth-label"/>
          <p:cNvSpPr txBox="1"/>
          <p:nvPr/>
        </p:nvSpPr>
        <p:spPr>
          <a:xfrm>
            <a:off x="1005840" y="3493008"/>
            <a:ext cx="4572000" cy="274320"/>
          </a:xfrm>
          <a:prstGeom prst="rect">
            <a:avLst/>
          </a:prstGeom>
          <a:noFill/>
          <a:ln/>
        </p:spPr>
        <p:txBody>
          <a:bodyPr wrap="square" lIns="0" tIns="0" rIns="0" bIns="0" rtlCol="0" anchor="t"/>
          <a:lstStyle/>
          <a:p>
            <a:pPr indent="0" marL="0">
              <a:buNone/>
            </a:pPr>
            <a:r>
              <a:rPr lang="en-US" sz="1200" b="1" spc="300" kern="0" dirty="0">
                <a:solidFill>
                  <a:srgbClr val="F6CFCB"/>
                </a:solidFill>
                <a:latin typeface="Segoe UI" pitchFamily="34" charset="0"/>
                <a:ea typeface="Segoe UI" pitchFamily="34" charset="-122"/>
                <a:cs typeface="Segoe UI" pitchFamily="34" charset="-120"/>
              </a:rPr>
              <a:t>THE TRUTH</a:t>
            </a:r>
            <a:endParaRPr lang="en-US" sz="1200" dirty="0"/>
          </a:p>
        </p:txBody>
      </p:sp>
      <p:sp>
        <p:nvSpPr>
          <p:cNvPr id="12" name="al-truth"/>
          <p:cNvSpPr txBox="1"/>
          <p:nvPr/>
        </p:nvSpPr>
        <p:spPr>
          <a:xfrm>
            <a:off x="1005840" y="3794760"/>
            <a:ext cx="6309360" cy="731520"/>
          </a:xfrm>
          <a:prstGeom prst="rect">
            <a:avLst/>
          </a:prstGeom>
          <a:noFill/>
          <a:ln/>
        </p:spPr>
        <p:txBody>
          <a:bodyPr wrap="square" lIns="0" tIns="0" rIns="0" bIns="0" rtlCol="0" anchor="t"/>
          <a:lstStyle/>
          <a:p>
            <a:pPr indent="0" marL="0">
              <a:buNone/>
            </a:pPr>
            <a:r>
              <a:rPr lang="en-US" sz="1800" dirty="0">
                <a:solidFill>
                  <a:srgbClr val="FFFFFF"/>
                </a:solidFill>
                <a:latin typeface="Segoe UI" pitchFamily="34" charset="0"/>
                <a:ea typeface="Segoe UI" pitchFamily="34" charset="-122"/>
                <a:cs typeface="Segoe UI" pitchFamily="34" charset="-120"/>
              </a:rPr>
              <a:t>Receiving money never needs your UPI PIN. Typing it sends money out.</a:t>
            </a:r>
            <a:endParaRPr lang="en-US" sz="1800" dirty="0"/>
          </a:p>
        </p:txBody>
      </p:sp>
      <p:sp>
        <p:nvSpPr>
          <p:cNvPr id="13" name="al-next-label"/>
          <p:cNvSpPr txBox="1"/>
          <p:nvPr/>
        </p:nvSpPr>
        <p:spPr>
          <a:xfrm>
            <a:off x="731520" y="4846320"/>
            <a:ext cx="4572000" cy="274320"/>
          </a:xfrm>
          <a:prstGeom prst="rect">
            <a:avLst/>
          </a:prstGeom>
          <a:noFill/>
          <a:ln/>
        </p:spPr>
        <p:txBody>
          <a:bodyPr wrap="square" lIns="0" tIns="0" rIns="0" bIns="0" rtlCol="0" anchor="t"/>
          <a:lstStyle/>
          <a:p>
            <a:pPr indent="0" marL="0">
              <a:buNone/>
            </a:pPr>
            <a:r>
              <a:rPr lang="en-US" sz="1200" b="1" spc="300" kern="0" dirty="0">
                <a:solidFill>
                  <a:srgbClr val="F6CFCB"/>
                </a:solidFill>
                <a:latin typeface="Segoe UI" pitchFamily="34" charset="0"/>
                <a:ea typeface="Segoe UI" pitchFamily="34" charset="-122"/>
                <a:cs typeface="Segoe UI" pitchFamily="34" charset="-120"/>
              </a:rPr>
              <a:t>DO THIS NOW</a:t>
            </a:r>
            <a:endParaRPr lang="en-US" sz="1200" dirty="0"/>
          </a:p>
        </p:txBody>
      </p:sp>
      <p:sp>
        <p:nvSpPr>
          <p:cNvPr id="14" name="al-next"/>
          <p:cNvSpPr txBox="1"/>
          <p:nvPr/>
        </p:nvSpPr>
        <p:spPr>
          <a:xfrm>
            <a:off x="731520" y="5138928"/>
            <a:ext cx="7223760" cy="640080"/>
          </a:xfrm>
          <a:prstGeom prst="rect">
            <a:avLst/>
          </a:prstGeom>
          <a:noFill/>
          <a:ln/>
        </p:spPr>
        <p:txBody>
          <a:bodyPr wrap="square" lIns="0" tIns="0" rIns="0" bIns="0" rtlCol="0" anchor="t"/>
          <a:lstStyle/>
          <a:p>
            <a:pPr indent="0" marL="0">
              <a:buNone/>
            </a:pPr>
            <a:r>
              <a:rPr lang="en-US" sz="2000" b="1" dirty="0">
                <a:solidFill>
                  <a:srgbClr val="FFFFFF"/>
                </a:solidFill>
                <a:latin typeface="Segoe UI" pitchFamily="34" charset="0"/>
                <a:ea typeface="Segoe UI" pitchFamily="34" charset="-122"/>
                <a:cs typeface="Segoe UI" pitchFamily="34" charset="-120"/>
              </a:rPr>
              <a:t>End the call. Check for the refund in your own bank or shopping app.</a:t>
            </a:r>
            <a:endParaRPr lang="en-US" sz="2000" dirty="0"/>
          </a:p>
        </p:txBody>
      </p:sp>
      <p:pic>
        <p:nvPicPr>
          <p:cNvPr id="15" name="al-voice-icon" descr="preencoded.png">    </p:cNvPr>
          <p:cNvPicPr>
            <a:picLocks noChangeAspect="1"/>
          </p:cNvPicPr>
          <p:nvPr/>
        </p:nvPicPr>
        <p:blipFill>
          <a:blip r:embed="rId2"/>
          <a:stretch>
            <a:fillRect/>
          </a:stretch>
        </p:blipFill>
        <p:spPr>
          <a:xfrm>
            <a:off x="731520" y="6126480"/>
            <a:ext cx="274320" cy="274320"/>
          </a:xfrm>
          <a:prstGeom prst="rect">
            <a:avLst/>
          </a:prstGeom>
        </p:spPr>
      </p:pic>
      <p:sp>
        <p:nvSpPr>
          <p:cNvPr id="16" name="al-voice"/>
          <p:cNvSpPr txBox="1"/>
          <p:nvPr/>
        </p:nvSpPr>
        <p:spPr>
          <a:xfrm>
            <a:off x="1097280" y="6144768"/>
            <a:ext cx="6400800" cy="274320"/>
          </a:xfrm>
          <a:prstGeom prst="rect">
            <a:avLst/>
          </a:prstGeom>
          <a:noFill/>
          <a:ln/>
        </p:spPr>
        <p:txBody>
          <a:bodyPr wrap="square" lIns="0" tIns="0" rIns="0" bIns="0" rtlCol="0" anchor="t"/>
          <a:lstStyle/>
          <a:p>
            <a:pPr indent="0" marL="0">
              <a:buNone/>
            </a:pPr>
            <a:r>
              <a:rPr lang="en-US" sz="1400" dirty="0">
                <a:solidFill>
                  <a:srgbClr val="F6CFCB"/>
                </a:solidFill>
                <a:latin typeface="Segoe UI" pitchFamily="34" charset="0"/>
                <a:ea typeface="Segoe UI" pitchFamily="34" charset="-122"/>
                <a:cs typeface="Segoe UI" pitchFamily="34" charset="-120"/>
              </a:rPr>
              <a:t>A spoken warning plays in your ear. The caller hears nothing.</a:t>
            </a:r>
            <a:endParaRPr lang="en-US" sz="1400" dirty="0"/>
          </a:p>
        </p:txBody>
      </p:sp>
      <p:sp>
        <p:nvSpPr>
          <p:cNvPr id="17" name="al-glyph-bg"/>
          <p:cNvSpPr/>
          <p:nvPr/>
        </p:nvSpPr>
        <p:spPr>
          <a:xfrm>
            <a:off x="8778240" y="822960"/>
            <a:ext cx="2103120" cy="2103120"/>
          </a:xfrm>
          <a:prstGeom prst="roundRect">
            <a:avLst>
              <a:gd name="adj" fmla="val 21739"/>
            </a:avLst>
          </a:prstGeom>
          <a:solidFill>
            <a:srgbClr val="FFFFFF">
              <a:alpha val="0"/>
            </a:srgbClr>
          </a:solidFill>
          <a:ln w="38100">
            <a:solidFill>
              <a:srgbClr val="FFFFFF"/>
            </a:solidFill>
            <a:prstDash val="solid"/>
          </a:ln>
        </p:spPr>
      </p:sp>
      <p:pic>
        <p:nvPicPr>
          <p:cNvPr id="18" name="al-glyph" descr="preencoded.png">    </p:cNvPr>
          <p:cNvPicPr>
            <a:picLocks noChangeAspect="1"/>
          </p:cNvPicPr>
          <p:nvPr/>
        </p:nvPicPr>
        <p:blipFill>
          <a:blip r:embed="rId3"/>
          <a:stretch>
            <a:fillRect/>
          </a:stretch>
        </p:blipFill>
        <p:spPr>
          <a:xfrm>
            <a:off x="9189720" y="1234440"/>
            <a:ext cx="1280160" cy="1280160"/>
          </a:xfrm>
          <a:prstGeom prst="rect">
            <a:avLst/>
          </a:prstGeom>
        </p:spPr>
      </p:pic>
      <p:sp>
        <p:nvSpPr>
          <p:cNvPr id="19" name="al-cross"/>
          <p:cNvSpPr/>
          <p:nvPr/>
        </p:nvSpPr>
        <p:spPr>
          <a:xfrm flipH="1">
            <a:off x="9098280" y="1143000"/>
            <a:ext cx="1463040" cy="1463040"/>
          </a:xfrm>
          <a:prstGeom prst="line">
            <a:avLst/>
          </a:prstGeom>
          <a:noFill/>
          <a:ln w="63500">
            <a:solidFill>
              <a:srgbClr val="FFFFFF"/>
            </a:solidFill>
            <a:prstDash val="solid"/>
          </a:ln>
        </p:spPr>
      </p:sp>
      <p:sp>
        <p:nvSpPr>
          <p:cNvPr id="20" name="al-end"/>
          <p:cNvSpPr txBox="1"/>
          <p:nvPr/>
        </p:nvSpPr>
        <p:spPr>
          <a:xfrm>
            <a:off x="8183880" y="3931920"/>
            <a:ext cx="3291840" cy="868680"/>
          </a:xfrm>
          <a:prstGeom prst="roundRect">
            <a:avLst>
              <a:gd name="adj" fmla="val 25263"/>
            </a:avLst>
          </a:prstGeom>
          <a:solidFill>
            <a:srgbClr val="FFFFFF"/>
          </a:solidFill>
          <a:ln/>
        </p:spPr>
        <p:txBody>
          <a:bodyPr wrap="square" lIns="0" tIns="0" rIns="0" bIns="0" rtlCol="0" anchor="ctr"/>
          <a:lstStyle/>
          <a:p>
            <a:pPr algn="ctr" indent="0" marL="0">
              <a:buNone/>
            </a:pPr>
            <a:r>
              <a:rPr lang="en-US" sz="2200" b="1" dirty="0">
                <a:solidFill>
                  <a:srgbClr val="8F1D16"/>
                </a:solidFill>
                <a:latin typeface="Segoe UI" pitchFamily="34" charset="0"/>
                <a:ea typeface="Segoe UI" pitchFamily="34" charset="-122"/>
                <a:cs typeface="Segoe UI" pitchFamily="34" charset="-120"/>
              </a:rPr>
              <a:t>End call</a:t>
            </a:r>
            <a:endParaRPr lang="en-US" sz="2200" dirty="0"/>
          </a:p>
        </p:txBody>
      </p:sp>
      <p:sp>
        <p:nvSpPr>
          <p:cNvPr id="21" name="al-hold"/>
          <p:cNvSpPr txBox="1"/>
          <p:nvPr/>
        </p:nvSpPr>
        <p:spPr>
          <a:xfrm>
            <a:off x="8183880" y="4983480"/>
            <a:ext cx="3291840" cy="731520"/>
          </a:xfrm>
          <a:prstGeom prst="roundRect">
            <a:avLst>
              <a:gd name="adj" fmla="val 30000"/>
            </a:avLst>
          </a:prstGeom>
          <a:solidFill>
            <a:srgbClr val="8F1D16"/>
          </a:solidFill>
          <a:ln w="25400">
            <a:solidFill>
              <a:srgbClr val="FFFFFF"/>
            </a:solidFill>
          </a:ln>
        </p:spPr>
        <p:txBody>
          <a:bodyPr wrap="square" lIns="0" tIns="0" rIns="0" bIns="0" rtlCol="0" anchor="ctr"/>
          <a:lstStyle/>
          <a:p>
            <a:pPr algn="ctr" indent="0" marL="0">
              <a:buNone/>
            </a:pPr>
            <a:r>
              <a:rPr lang="en-US" sz="1700" b="1" dirty="0">
                <a:solidFill>
                  <a:srgbClr val="FFFFFF"/>
                </a:solidFill>
                <a:latin typeface="Segoe UI" pitchFamily="34" charset="0"/>
                <a:ea typeface="Segoe UI" pitchFamily="34" charset="-122"/>
                <a:cs typeface="Segoe UI" pitchFamily="34" charset="-120"/>
              </a:rPr>
              <a:t>Hold to keep talking</a:t>
            </a:r>
            <a:endParaRPr lang="en-US" sz="1700" dirty="0"/>
          </a:p>
        </p:txBody>
      </p:sp>
      <p:sp>
        <p:nvSpPr>
          <p:cNvPr id="22" name="al-hold-note"/>
          <p:cNvSpPr txBox="1"/>
          <p:nvPr/>
        </p:nvSpPr>
        <p:spPr>
          <a:xfrm>
            <a:off x="8183880" y="5852160"/>
            <a:ext cx="3291840" cy="457200"/>
          </a:xfrm>
          <a:prstGeom prst="rect">
            <a:avLst/>
          </a:prstGeom>
          <a:noFill/>
          <a:ln/>
        </p:spPr>
        <p:txBody>
          <a:bodyPr wrap="square" lIns="0" tIns="0" rIns="0" bIns="0" rtlCol="0" anchor="t"/>
          <a:lstStyle/>
          <a:p>
            <a:pPr algn="ctr" indent="0" marL="0">
              <a:buNone/>
            </a:pPr>
            <a:r>
              <a:rPr lang="en-US" sz="1100" dirty="0">
                <a:solidFill>
                  <a:srgbClr val="F6CFCB"/>
                </a:solidFill>
                <a:latin typeface="Segoe UI" pitchFamily="34" charset="0"/>
                <a:ea typeface="Segoe UI" pitchFamily="34" charset="-122"/>
                <a:cs typeface="Segoe UI" pitchFamily="34" charset="-120"/>
              </a:rPr>
              <a:t>End is one tap. Keeping on takes a deliberate hold.</a:t>
            </a:r>
            <a:endParaRPr lang="en-US" sz="1100" dirty="0"/>
          </a:p>
        </p:txBody>
      </p:sp>
      <p:pic>
        <p:nvPicPr>
          <p:cNvPr id="23" name="hot-End call and pick another" descr="End call and pick another">
            <a:hlinkClick r:id="rId5" tooltip="End call and pick another" action="ppaction://hlinksldjump"/>
          </p:cNvPr>
          <p:cNvPicPr>
            <a:picLocks noChangeAspect="1"/>
          </p:cNvPicPr>
          <p:nvPr/>
        </p:nvPicPr>
        <p:blipFill>
          <a:blip r:embed="rId4"/>
          <a:stretch>
            <a:fillRect/>
          </a:stretch>
        </p:blipFill>
        <p:spPr>
          <a:xfrm>
            <a:off x="8183880" y="3931920"/>
            <a:ext cx="3291840" cy="868680"/>
          </a:xfrm>
          <a:prstGeom prst="rect">
            <a:avLst/>
          </a:prstGeom>
        </p:spPr>
      </p:pic>
      <p:sp>
        <p:nvSpPr>
          <p:cNvPr id="24" name="al-said-label"/>
          <p:cNvSpPr txBox="1"/>
          <p:nvPr/>
        </p:nvSpPr>
        <p:spPr>
          <a:xfrm>
            <a:off x="731520" y="2487168"/>
            <a:ext cx="3657600" cy="228600"/>
          </a:xfrm>
          <a:prstGeom prst="rect">
            <a:avLst/>
          </a:prstGeom>
          <a:noFill/>
          <a:ln>
            <a:noFill/>
          </a:ln>
        </p:spPr>
        <p:txBody>
          <a:bodyPr wrap="square" lIns="0" tIns="0" rIns="0" bIns="0" rtlCol="0" anchor="t"/>
          <a:lstStyle/>
          <a:p>
            <a:pPr indent="0" marL="0">
              <a:buNone/>
            </a:pPr>
            <a:r>
              <a:rPr lang="en-US" sz="1200" b="1" spc="300" kern="0" dirty="0">
                <a:solidFill>
                  <a:srgbClr val="F6CFCB"/>
                </a:solidFill>
                <a:latin typeface="Segoe UI" pitchFamily="34" charset="0"/>
                <a:ea typeface="Segoe UI" pitchFamily="34" charset="-122"/>
                <a:cs typeface="Segoe UI" pitchFamily="34" charset="-120"/>
              </a:rPr>
              <a:t>WHAT THEY SAID</a:t>
            </a:r>
          </a:p>
        </p:txBody>
      </p:sp>
      <p:sp>
        <p:nvSpPr>
          <p:cNvPr id="25" name="al-chip-0" descr="Wants a code or PIN"/>
          <p:cNvSpPr txBox="1"/>
          <p:nvPr/>
        </p:nvSpPr>
        <p:spPr>
          <a:xfrm>
            <a:off x="731520" y="2743200"/>
            <a:ext cx="2240280" cy="347472"/>
          </a:xfrm>
          <a:prstGeom prst="roundRect">
            <a:avLst>
              <a:gd name="adj" fmla="val 50000"/>
            </a:avLst>
          </a:prstGeom>
          <a:solidFill>
            <a:srgbClr val="FFFFFF">
              <a:alpha val="14000"/>
            </a:srgbClr>
          </a:solidFill>
          <a:ln>
            <a:noFill/>
          </a:ln>
        </p:spPr>
        <p:txBody>
          <a:bodyPr wrap="non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Wants a code or PIN</a:t>
            </a:r>
          </a:p>
        </p:txBody>
      </p:sp>
      <p:sp>
        <p:nvSpPr>
          <p:cNvPr id="26" name="al-chip-1" descr="Wants money"/>
          <p:cNvSpPr txBox="1"/>
          <p:nvPr/>
        </p:nvSpPr>
        <p:spPr>
          <a:xfrm>
            <a:off x="3108960" y="2743200"/>
            <a:ext cx="1600200" cy="347472"/>
          </a:xfrm>
          <a:prstGeom prst="roundRect">
            <a:avLst>
              <a:gd name="adj" fmla="val 50000"/>
            </a:avLst>
          </a:prstGeom>
          <a:solidFill>
            <a:srgbClr val="FFFFFF">
              <a:alpha val="14000"/>
            </a:srgbClr>
          </a:solidFill>
          <a:ln>
            <a:noFill/>
          </a:ln>
        </p:spPr>
        <p:txBody>
          <a:bodyPr wrap="non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Wants money</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phone"/>
          <p:cNvSpPr/>
          <p:nvPr/>
        </p:nvSpPr>
        <p:spPr>
          <a:xfrm>
            <a:off x="8001000" y="411480"/>
            <a:ext cx="3017520" cy="6035040"/>
          </a:xfrm>
          <a:prstGeom prst="roundRect">
            <a:avLst>
              <a:gd name="adj" fmla="val 14545"/>
            </a:avLst>
          </a:prstGeom>
          <a:solidFill>
            <a:srgbClr val="0A131D"/>
          </a:solidFill>
          <a:ln w="19050">
            <a:solidFill>
              <a:srgbClr val="2E4257"/>
            </a:solidFill>
            <a:prstDash val="solid"/>
          </a:ln>
        </p:spPr>
      </p:sp>
      <p:sp>
        <p:nvSpPr>
          <p:cNvPr id="3" name="!!screen"/>
          <p:cNvSpPr/>
          <p:nvPr/>
        </p:nvSpPr>
        <p:spPr>
          <a:xfrm>
            <a:off x="8092440" y="502920"/>
            <a:ext cx="2834640" cy="5852160"/>
          </a:xfrm>
          <a:prstGeom prst="roundRect">
            <a:avLst>
              <a:gd name="adj" fmla="val 12903"/>
            </a:avLst>
          </a:prstGeom>
          <a:solidFill>
            <a:srgbClr val="0E1A27"/>
          </a:solidFill>
          <a:ln w="12700">
            <a:solidFill>
              <a:srgbClr val="0E1A27"/>
            </a:solidFill>
            <a:prstDash val="solid"/>
          </a:ln>
        </p:spPr>
      </p:sp>
      <p:sp>
        <p:nvSpPr>
          <p:cNvPr id="4" name="!!p-top"/>
          <p:cNvSpPr txBox="1"/>
          <p:nvPr/>
        </p:nvSpPr>
        <p:spPr>
          <a:xfrm>
            <a:off x="8183880" y="713232"/>
            <a:ext cx="2651760" cy="310896"/>
          </a:xfrm>
          <a:prstGeom prst="rect">
            <a:avLst/>
          </a:prstGeom>
          <a:noFill/>
          <a:ln/>
        </p:spPr>
        <p:txBody>
          <a:bodyPr wrap="square" lIns="0" tIns="0" rIns="0" bIns="0" rtlCol="0" anchor="t"/>
          <a:lstStyle/>
          <a:p>
            <a:pPr algn="ctr" indent="0" marL="0">
              <a:buNone/>
            </a:pPr>
            <a:r>
              <a:rPr lang="en-US" sz="1400" b="1" dirty="0">
                <a:solidFill>
                  <a:srgbClr val="FFFFFF"/>
                </a:solidFill>
                <a:latin typeface="Segoe UI" pitchFamily="34" charset="0"/>
                <a:ea typeface="Segoe UI" pitchFamily="34" charset="-122"/>
                <a:cs typeface="Segoe UI" pitchFamily="34" charset="-120"/>
              </a:rPr>
              <a:t>Unknown number</a:t>
            </a:r>
            <a:endParaRPr lang="en-US" sz="1400" dirty="0"/>
          </a:p>
        </p:txBody>
      </p:sp>
      <p:sp>
        <p:nvSpPr>
          <p:cNvPr id="5" name="!!p-clock"/>
          <p:cNvSpPr txBox="1"/>
          <p:nvPr/>
        </p:nvSpPr>
        <p:spPr>
          <a:xfrm>
            <a:off x="8183880" y="1005840"/>
            <a:ext cx="2651760" cy="237744"/>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1:12</a:t>
            </a:r>
            <a:endParaRPr lang="en-US" sz="1000" dirty="0"/>
          </a:p>
        </p:txBody>
      </p:sp>
      <p:sp>
        <p:nvSpPr>
          <p:cNvPr id="6" name="!!halo-r3"/>
          <p:cNvSpPr/>
          <p:nvPr/>
        </p:nvSpPr>
        <p:spPr>
          <a:xfrm>
            <a:off x="8378190" y="1200150"/>
            <a:ext cx="2263140" cy="2263140"/>
          </a:xfrm>
          <a:prstGeom prst="ellipse">
            <a:avLst/>
          </a:prstGeom>
          <a:solidFill>
            <a:srgbClr val="7DB8E8">
              <a:alpha val="0"/>
            </a:srgbClr>
          </a:solidFill>
          <a:ln w="25146">
            <a:solidFill>
              <a:srgbClr val="7DB8E8">
                <a:alpha val="20000"/>
              </a:srgbClr>
            </a:solidFill>
            <a:prstDash val="solid"/>
          </a:ln>
        </p:spPr>
      </p:sp>
      <p:sp>
        <p:nvSpPr>
          <p:cNvPr id="7" name="!!halo-r2"/>
          <p:cNvSpPr/>
          <p:nvPr/>
        </p:nvSpPr>
        <p:spPr>
          <a:xfrm>
            <a:off x="8645652" y="1467612"/>
            <a:ext cx="1728216" cy="1728216"/>
          </a:xfrm>
          <a:prstGeom prst="ellipse">
            <a:avLst/>
          </a:prstGeom>
          <a:solidFill>
            <a:srgbClr val="7DB8E8">
              <a:alpha val="0"/>
            </a:srgbClr>
          </a:solidFill>
          <a:ln w="25146">
            <a:solidFill>
              <a:srgbClr val="7DB8E8">
                <a:alpha val="38000"/>
              </a:srgbClr>
            </a:solidFill>
            <a:prstDash val="solid"/>
          </a:ln>
        </p:spPr>
      </p:sp>
      <p:sp>
        <p:nvSpPr>
          <p:cNvPr id="8" name="!!halo-r1"/>
          <p:cNvSpPr/>
          <p:nvPr/>
        </p:nvSpPr>
        <p:spPr>
          <a:xfrm>
            <a:off x="8892540" y="1714500"/>
            <a:ext cx="1234440" cy="1234440"/>
          </a:xfrm>
          <a:prstGeom prst="ellipse">
            <a:avLst/>
          </a:prstGeom>
          <a:solidFill>
            <a:srgbClr val="7DB8E8">
              <a:alpha val="0"/>
            </a:srgbClr>
          </a:solidFill>
          <a:ln w="25146">
            <a:solidFill>
              <a:srgbClr val="7DB8E8">
                <a:alpha val="62000"/>
              </a:srgbClr>
            </a:solidFill>
            <a:prstDash val="solid"/>
          </a:ln>
        </p:spPr>
      </p:sp>
      <p:sp>
        <p:nvSpPr>
          <p:cNvPr id="9" name="!!halo-core"/>
          <p:cNvSpPr/>
          <p:nvPr/>
        </p:nvSpPr>
        <p:spPr>
          <a:xfrm>
            <a:off x="9098280" y="1920240"/>
            <a:ext cx="822960" cy="822960"/>
          </a:xfrm>
          <a:prstGeom prst="ellipse">
            <a:avLst/>
          </a:prstGeom>
          <a:solidFill>
            <a:srgbClr val="1B3550"/>
          </a:solidFill>
          <a:ln w="12700">
            <a:solidFill>
              <a:srgbClr val="1B3550"/>
            </a:solidFill>
            <a:prstDash val="solid"/>
          </a:ln>
        </p:spPr>
      </p:sp>
      <p:pic>
        <p:nvPicPr>
          <p:cNvPr id="10" name="!!halo-icon" descr="Scam check">    </p:cNvPr>
          <p:cNvPicPr>
            <a:picLocks noChangeAspect="1"/>
          </p:cNvPicPr>
          <p:nvPr/>
        </p:nvPicPr>
        <p:blipFill>
          <a:blip r:embed="rId1"/>
          <a:stretch>
            <a:fillRect/>
          </a:stretch>
        </p:blipFill>
        <p:spPr>
          <a:xfrm>
            <a:off x="9295790" y="2117750"/>
            <a:ext cx="427939" cy="427939"/>
          </a:xfrm>
          <a:prstGeom prst="rect">
            <a:avLst/>
          </a:prstGeom>
        </p:spPr>
      </p:pic>
      <p:sp>
        <p:nvSpPr>
          <p:cNvPr id="11" name="!!p-card"/>
          <p:cNvSpPr/>
          <p:nvPr/>
        </p:nvSpPr>
        <p:spPr>
          <a:xfrm>
            <a:off x="8229600" y="3611880"/>
            <a:ext cx="2560320" cy="1325880"/>
          </a:xfrm>
          <a:prstGeom prst="roundRect">
            <a:avLst>
              <a:gd name="adj" fmla="val 11034"/>
            </a:avLst>
          </a:prstGeom>
          <a:solidFill>
            <a:srgbClr val="16283A"/>
          </a:solidFill>
          <a:ln w="15875">
            <a:solidFill>
              <a:srgbClr val="2F4A63"/>
            </a:solidFill>
            <a:prstDash val="solid"/>
          </a:ln>
        </p:spPr>
      </p:sp>
      <p:sp>
        <p:nvSpPr>
          <p:cNvPr id="12" name="!!p-card-title"/>
          <p:cNvSpPr txBox="1"/>
          <p:nvPr/>
        </p:nvSpPr>
        <p:spPr>
          <a:xfrm>
            <a:off x="8385048" y="3721608"/>
            <a:ext cx="2249424" cy="274320"/>
          </a:xfrm>
          <a:prstGeom prst="rect">
            <a:avLst/>
          </a:prstGeom>
          <a:noFill/>
          <a:ln/>
        </p:spPr>
        <p:txBody>
          <a:bodyPr wrap="square" lIns="0" tIns="0" rIns="0" bIns="0" rtlCol="0" anchor="t"/>
          <a:lstStyle/>
          <a:p>
            <a:pPr indent="0" marL="0">
              <a:buNone/>
            </a:pPr>
            <a:r>
              <a:rPr lang="en-US" sz="1200" b="1" dirty="0">
                <a:solidFill>
                  <a:srgbClr val="E8F1F9"/>
                </a:solidFill>
                <a:latin typeface="Segoe UI" pitchFamily="34" charset="0"/>
                <a:ea typeface="Segoe UI" pitchFamily="34" charset="-122"/>
                <a:cs typeface="Segoe UI" pitchFamily="34" charset="-120"/>
              </a:rPr>
              <a:t>Listening with you</a:t>
            </a:r>
            <a:endParaRPr lang="en-US" sz="1200" dirty="0"/>
          </a:p>
        </p:txBody>
      </p:sp>
      <p:sp>
        <p:nvSpPr>
          <p:cNvPr id="13" name="!!p-card-sub"/>
          <p:cNvSpPr txBox="1"/>
          <p:nvPr/>
        </p:nvSpPr>
        <p:spPr>
          <a:xfrm>
            <a:off x="8385048" y="4023360"/>
            <a:ext cx="2249424" cy="420624"/>
          </a:xfrm>
          <a:prstGeom prst="rect">
            <a:avLst/>
          </a:prstGeom>
          <a:noFill/>
          <a:ln/>
        </p:spPr>
        <p:txBody>
          <a:bodyPr wrap="square" lIns="0" tIns="0" rIns="0" bIns="0" rtlCol="0" anchor="t"/>
          <a:lstStyle/>
          <a:p>
            <a:pPr indent="0" marL="0">
              <a:buNone/>
            </a:pPr>
            <a:r>
              <a:rPr lang="en-US" sz="950" dirty="0">
                <a:solidFill>
                  <a:srgbClr val="E8F1F9"/>
                </a:solidFill>
                <a:latin typeface="Segoe UI" pitchFamily="34" charset="0"/>
                <a:ea typeface="Segoe UI" pitchFamily="34" charset="-122"/>
                <a:cs typeface="Segoe UI" pitchFamily="34" charset="-120"/>
              </a:rPr>
              <a:t>We'll warn you if they ask for a QR scan, UPI PIN or OTP.</a:t>
            </a:r>
            <a:endParaRPr lang="en-US" sz="950" dirty="0"/>
          </a:p>
        </p:txBody>
      </p:sp>
      <p:sp>
        <p:nvSpPr>
          <p:cNvPr id="14" name="!!p-btn-a"/>
          <p:cNvSpPr/>
          <p:nvPr/>
        </p:nvSpPr>
        <p:spPr>
          <a:xfrm>
            <a:off x="8403336" y="5202936"/>
            <a:ext cx="566928" cy="566928"/>
          </a:xfrm>
          <a:prstGeom prst="ellipse">
            <a:avLst/>
          </a:prstGeom>
          <a:solidFill>
            <a:srgbClr val="FFFFFF">
              <a:alpha val="8000"/>
            </a:srgbClr>
          </a:solidFill>
          <a:ln w="12700">
            <a:solidFill>
              <a:srgbClr val="3A4E63"/>
            </a:solidFill>
            <a:prstDash val="solid"/>
          </a:ln>
        </p:spPr>
      </p:sp>
      <p:pic>
        <p:nvPicPr>
          <p:cNvPr id="15" name="!!p-btn-a-icon" descr="Mute">    </p:cNvPr>
          <p:cNvPicPr>
            <a:picLocks noChangeAspect="1"/>
          </p:cNvPicPr>
          <p:nvPr/>
        </p:nvPicPr>
        <p:blipFill>
          <a:blip r:embed="rId2"/>
          <a:stretch>
            <a:fillRect/>
          </a:stretch>
        </p:blipFill>
        <p:spPr>
          <a:xfrm>
            <a:off x="8559241" y="5358841"/>
            <a:ext cx="255118" cy="255118"/>
          </a:xfrm>
          <a:prstGeom prst="rect">
            <a:avLst/>
          </a:prstGeom>
        </p:spPr>
      </p:pic>
      <p:sp>
        <p:nvSpPr>
          <p:cNvPr id="16" name="!!p-btn-a-label"/>
          <p:cNvSpPr txBox="1"/>
          <p:nvPr/>
        </p:nvSpPr>
        <p:spPr>
          <a:xfrm>
            <a:off x="8138160" y="582472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Mute</a:t>
            </a:r>
            <a:endParaRPr lang="en-US" sz="1000" dirty="0"/>
          </a:p>
        </p:txBody>
      </p:sp>
      <p:sp>
        <p:nvSpPr>
          <p:cNvPr id="17" name="!!p-btn-b"/>
          <p:cNvSpPr/>
          <p:nvPr/>
        </p:nvSpPr>
        <p:spPr>
          <a:xfrm>
            <a:off x="9226296" y="5202936"/>
            <a:ext cx="566928" cy="566928"/>
          </a:xfrm>
          <a:prstGeom prst="ellipse">
            <a:avLst/>
          </a:prstGeom>
          <a:solidFill>
            <a:srgbClr val="FFFFFF">
              <a:alpha val="8000"/>
            </a:srgbClr>
          </a:solidFill>
          <a:ln w="12700">
            <a:solidFill>
              <a:srgbClr val="3A4E63"/>
            </a:solidFill>
            <a:prstDash val="solid"/>
          </a:ln>
        </p:spPr>
      </p:sp>
      <p:pic>
        <p:nvPicPr>
          <p:cNvPr id="18" name="!!p-btn-b-icon" descr="Speaker">    </p:cNvPr>
          <p:cNvPicPr>
            <a:picLocks noChangeAspect="1"/>
          </p:cNvPicPr>
          <p:nvPr/>
        </p:nvPicPr>
        <p:blipFill>
          <a:blip r:embed="rId3"/>
          <a:stretch>
            <a:fillRect/>
          </a:stretch>
        </p:blipFill>
        <p:spPr>
          <a:xfrm>
            <a:off x="9382201" y="5358841"/>
            <a:ext cx="255118" cy="255118"/>
          </a:xfrm>
          <a:prstGeom prst="rect">
            <a:avLst/>
          </a:prstGeom>
        </p:spPr>
      </p:pic>
      <p:sp>
        <p:nvSpPr>
          <p:cNvPr id="19" name="!!p-btn-b-label"/>
          <p:cNvSpPr txBox="1"/>
          <p:nvPr/>
        </p:nvSpPr>
        <p:spPr>
          <a:xfrm>
            <a:off x="8961120" y="582472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Speaker</a:t>
            </a:r>
            <a:endParaRPr lang="en-US" sz="1000" dirty="0"/>
          </a:p>
        </p:txBody>
      </p:sp>
      <p:sp>
        <p:nvSpPr>
          <p:cNvPr id="20" name="!!p-btn-c"/>
          <p:cNvSpPr/>
          <p:nvPr/>
        </p:nvSpPr>
        <p:spPr>
          <a:xfrm>
            <a:off x="10049256" y="5202936"/>
            <a:ext cx="566928" cy="566928"/>
          </a:xfrm>
          <a:prstGeom prst="ellipse">
            <a:avLst/>
          </a:prstGeom>
          <a:solidFill>
            <a:srgbClr val="D92D20"/>
          </a:solidFill>
          <a:ln w="12700">
            <a:solidFill>
              <a:srgbClr val="D92D20"/>
            </a:solidFill>
            <a:prstDash val="solid"/>
          </a:ln>
        </p:spPr>
      </p:sp>
      <p:pic>
        <p:nvPicPr>
          <p:cNvPr id="21" name="!!p-btn-c-icon" descr="End">    </p:cNvPr>
          <p:cNvPicPr>
            <a:picLocks noChangeAspect="1"/>
          </p:cNvPicPr>
          <p:nvPr/>
        </p:nvPicPr>
        <p:blipFill>
          <a:blip r:embed="rId4"/>
          <a:stretch>
            <a:fillRect/>
          </a:stretch>
        </p:blipFill>
        <p:spPr>
          <a:xfrm>
            <a:off x="10205161" y="5358841"/>
            <a:ext cx="255118" cy="255118"/>
          </a:xfrm>
          <a:prstGeom prst="rect">
            <a:avLst/>
          </a:prstGeom>
        </p:spPr>
      </p:pic>
      <p:sp>
        <p:nvSpPr>
          <p:cNvPr id="22" name="!!p-btn-c-label"/>
          <p:cNvSpPr txBox="1"/>
          <p:nvPr/>
        </p:nvSpPr>
        <p:spPr>
          <a:xfrm>
            <a:off x="9784080" y="582472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End</a:t>
            </a:r>
            <a:endParaRPr lang="en-US" sz="1000" dirty="0"/>
          </a:p>
        </p:txBody>
      </p:sp>
      <p:sp>
        <p:nvSpPr>
          <p:cNvPr id="23" name="!!step-num"/>
          <p:cNvSpPr txBox="1"/>
          <p:nvPr/>
        </p:nvSpPr>
        <p:spPr>
          <a:xfrm>
            <a:off x="731520" y="1417320"/>
            <a:ext cx="6400800" cy="365760"/>
          </a:xfrm>
          <a:prstGeom prst="rect">
            <a:avLst/>
          </a:prstGeom>
          <a:noFill/>
          <a:ln/>
        </p:spPr>
        <p:txBody>
          <a:bodyPr wrap="square" lIns="0" tIns="0" rIns="0" bIns="0" rtlCol="0" anchor="t"/>
          <a:lstStyle/>
          <a:p>
            <a:pPr indent="0" marL="0">
              <a:buNone/>
            </a:pPr>
            <a:r>
              <a:rPr lang="en-US" sz="1400" b="1" spc="200" kern="0" dirty="0">
                <a:solidFill>
                  <a:srgbClr val="7DB8E8"/>
                </a:solidFill>
                <a:latin typeface="Segoe UI" pitchFamily="34" charset="0"/>
                <a:ea typeface="Segoe UI" pitchFamily="34" charset="-122"/>
                <a:cs typeface="Segoe UI" pitchFamily="34" charset="-120"/>
              </a:rPr>
              <a:t>AN ORDINARY CALL</a:t>
            </a:r>
            <a:endParaRPr lang="en-US" sz="1400" dirty="0"/>
          </a:p>
        </p:txBody>
      </p:sp>
      <p:sp>
        <p:nvSpPr>
          <p:cNvPr id="24" name="!!step-title"/>
          <p:cNvSpPr txBox="1"/>
          <p:nvPr/>
        </p:nvSpPr>
        <p:spPr>
          <a:xfrm>
            <a:off x="731520" y="1828800"/>
            <a:ext cx="6583680" cy="1737360"/>
          </a:xfrm>
          <a:prstGeom prst="rect">
            <a:avLst/>
          </a:prstGeom>
          <a:noFill/>
          <a:ln/>
        </p:spPr>
        <p:txBody>
          <a:bodyPr wrap="square" lIns="0" tIns="0" rIns="0" bIns="0" rtlCol="0" anchor="t"/>
          <a:lstStyle/>
          <a:p>
            <a:pPr indent="0" marL="0">
              <a:buNone/>
            </a:pPr>
            <a:r>
              <a:rPr lang="en-US" sz="3800" b="1" dirty="0">
                <a:solidFill>
                  <a:srgbClr val="FFFFFF"/>
                </a:solidFill>
                <a:latin typeface="Segoe UI" pitchFamily="34" charset="0"/>
                <a:ea typeface="Segoe UI" pitchFamily="34" charset="-122"/>
                <a:cs typeface="Segoe UI" pitchFamily="34" charset="-120"/>
              </a:rPr>
              <a:t>No request, no interruption</a:t>
            </a:r>
            <a:endParaRPr lang="en-US" sz="3800" dirty="0"/>
          </a:p>
        </p:txBody>
      </p:sp>
      <p:sp>
        <p:nvSpPr>
          <p:cNvPr id="25" name="!!step-body"/>
          <p:cNvSpPr txBox="1"/>
          <p:nvPr/>
        </p:nvSpPr>
        <p:spPr>
          <a:xfrm>
            <a:off x="731520" y="3611880"/>
            <a:ext cx="6217920" cy="1188720"/>
          </a:xfrm>
          <a:prstGeom prst="rect">
            <a:avLst/>
          </a:prstGeom>
          <a:noFill/>
          <a:ln/>
        </p:spPr>
        <p:txBody>
          <a:bodyPr wrap="square" lIns="0" tIns="0" rIns="0" bIns="0" rtlCol="0" anchor="t"/>
          <a:lstStyle/>
          <a:p>
            <a:pPr indent="0" marL="0">
              <a:buNone/>
            </a:pPr>
            <a:r>
              <a:rPr lang="en-US" sz="1800" dirty="0">
                <a:solidFill>
                  <a:srgbClr val="A9B6C3"/>
                </a:solidFill>
                <a:latin typeface="Segoe UI" pitchFamily="34" charset="0"/>
                <a:ea typeface="Segoe UI" pitchFamily="34" charset="-122"/>
                <a:cs typeface="Segoe UI" pitchFamily="34" charset="-120"/>
              </a:rPr>
              <a:t>No chime, no buzz, no alert. Scam check stays quiet when there's nothing to warn about.</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advTm="4000">
        <p159:morph option="byObject"/>
      </p:transition>
    </mc:Choice>
    <mc:Fallback>
      <p:transition spd="slow" advTm="4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halo-r3"/>
          <p:cNvSpPr/>
          <p:nvPr/>
        </p:nvSpPr>
        <p:spPr>
          <a:xfrm>
            <a:off x="10664190" y="240030"/>
            <a:ext cx="1257300" cy="1257300"/>
          </a:xfrm>
          <a:prstGeom prst="ellipse">
            <a:avLst/>
          </a:prstGeom>
          <a:solidFill>
            <a:srgbClr val="226192">
              <a:alpha val="0"/>
            </a:srgbClr>
          </a:solidFill>
          <a:ln w="13970">
            <a:solidFill>
              <a:srgbClr val="226192">
                <a:alpha val="18000"/>
              </a:srgbClr>
            </a:solidFill>
            <a:prstDash val="solid"/>
          </a:ln>
        </p:spPr>
      </p:sp>
      <p:sp>
        <p:nvSpPr>
          <p:cNvPr id="3" name="!!halo-r2"/>
          <p:cNvSpPr/>
          <p:nvPr/>
        </p:nvSpPr>
        <p:spPr>
          <a:xfrm>
            <a:off x="10812780" y="388620"/>
            <a:ext cx="960120" cy="960120"/>
          </a:xfrm>
          <a:prstGeom prst="ellipse">
            <a:avLst/>
          </a:prstGeom>
          <a:solidFill>
            <a:srgbClr val="226192">
              <a:alpha val="0"/>
            </a:srgbClr>
          </a:solidFill>
          <a:ln w="13970">
            <a:solidFill>
              <a:srgbClr val="226192">
                <a:alpha val="36000"/>
              </a:srgbClr>
            </a:solidFill>
            <a:prstDash val="solid"/>
          </a:ln>
        </p:spPr>
      </p:sp>
      <p:sp>
        <p:nvSpPr>
          <p:cNvPr id="4" name="!!halo-r1"/>
          <p:cNvSpPr/>
          <p:nvPr/>
        </p:nvSpPr>
        <p:spPr>
          <a:xfrm>
            <a:off x="10949940" y="525780"/>
            <a:ext cx="685800" cy="685800"/>
          </a:xfrm>
          <a:prstGeom prst="ellipse">
            <a:avLst/>
          </a:prstGeom>
          <a:solidFill>
            <a:srgbClr val="226192">
              <a:alpha val="0"/>
            </a:srgbClr>
          </a:solidFill>
          <a:ln w="13970">
            <a:solidFill>
              <a:srgbClr val="226192">
                <a:alpha val="60000"/>
              </a:srgbClr>
            </a:solidFill>
            <a:prstDash val="solid"/>
          </a:ln>
        </p:spPr>
      </p:sp>
      <p:sp>
        <p:nvSpPr>
          <p:cNvPr id="5" name="!!halo-core"/>
          <p:cNvSpPr/>
          <p:nvPr/>
        </p:nvSpPr>
        <p:spPr>
          <a:xfrm>
            <a:off x="11064240" y="640080"/>
            <a:ext cx="457200" cy="457200"/>
          </a:xfrm>
          <a:prstGeom prst="ellipse">
            <a:avLst/>
          </a:prstGeom>
          <a:solidFill>
            <a:srgbClr val="226192"/>
          </a:solidFill>
          <a:ln w="12700">
            <a:solidFill>
              <a:srgbClr val="226192"/>
            </a:solidFill>
            <a:prstDash val="solid"/>
          </a:ln>
        </p:spPr>
      </p:sp>
      <p:pic>
        <p:nvPicPr>
          <p:cNvPr id="6" name="!!halo-icon" descr="Scam check">    </p:cNvPr>
          <p:cNvPicPr>
            <a:picLocks noChangeAspect="1"/>
          </p:cNvPicPr>
          <p:nvPr/>
        </p:nvPicPr>
        <p:blipFill>
          <a:blip r:embed="rId1"/>
          <a:stretch>
            <a:fillRect/>
          </a:stretch>
        </p:blipFill>
        <p:spPr>
          <a:xfrm>
            <a:off x="11173968" y="749808"/>
            <a:ext cx="237744" cy="237744"/>
          </a:xfrm>
          <a:prstGeom prst="rect">
            <a:avLst/>
          </a:prstGeom>
        </p:spPr>
      </p:pic>
      <p:sp>
        <p:nvSpPr>
          <p:cNvPr id="7" name="!!kicker"/>
          <p:cNvSpPr txBox="1"/>
          <p:nvPr/>
        </p:nvSpPr>
        <p:spPr>
          <a:xfrm>
            <a:off x="731520" y="685800"/>
            <a:ext cx="5486400" cy="320040"/>
          </a:xfrm>
          <a:prstGeom prst="rect">
            <a:avLst/>
          </a:prstGeom>
          <a:noFill/>
          <a:ln/>
        </p:spPr>
        <p:txBody>
          <a:bodyPr wrap="square" lIns="0" tIns="0" rIns="0" bIns="0" rtlCol="0" anchor="t"/>
          <a:lstStyle/>
          <a:p>
            <a:pPr indent="0" marL="0">
              <a:buNone/>
            </a:pPr>
            <a:r>
              <a:rPr lang="en-US" sz="1400" b="1" spc="200" kern="0" dirty="0">
                <a:solidFill>
                  <a:srgbClr val="226192"/>
                </a:solidFill>
                <a:latin typeface="Segoe UI" pitchFamily="34" charset="0"/>
                <a:ea typeface="Segoe UI" pitchFamily="34" charset="-122"/>
                <a:cs typeface="Segoe UI" pitchFamily="34" charset="-120"/>
              </a:rPr>
              <a:t>CALL STORY</a:t>
            </a:r>
            <a:endParaRPr lang="en-US" sz="1400" dirty="0"/>
          </a:p>
        </p:txBody>
      </p:sp>
      <p:sp>
        <p:nvSpPr>
          <p:cNvPr id="8" name="!!headline"/>
          <p:cNvSpPr txBox="1"/>
          <p:nvPr/>
        </p:nvSpPr>
        <p:spPr>
          <a:xfrm>
            <a:off x="731520" y="1051560"/>
            <a:ext cx="9875520" cy="1280160"/>
          </a:xfrm>
          <a:prstGeom prst="rect">
            <a:avLst/>
          </a:prstGeom>
          <a:noFill/>
          <a:ln/>
        </p:spPr>
        <p:txBody>
          <a:bodyPr wrap="square" lIns="0" tIns="0" rIns="0" bIns="0" rtlCol="0" anchor="t"/>
          <a:lstStyle/>
          <a:p>
            <a:pPr indent="0" marL="0">
              <a:buNone/>
            </a:pPr>
            <a:r>
              <a:rPr lang="en-US" sz="3600" b="1" dirty="0">
                <a:solidFill>
                  <a:srgbClr val="1F2937"/>
                </a:solidFill>
                <a:latin typeface="Segoe UI" pitchFamily="34" charset="0"/>
                <a:ea typeface="Segoe UI" pitchFamily="34" charset="-122"/>
                <a:cs typeface="Segoe UI" pitchFamily="34" charset="-120"/>
              </a:rPr>
              <a:t>We didn't hear any request for a QR scan, UPI PIN or OTP</a:t>
            </a:r>
            <a:endParaRPr lang="en-US" sz="3600" dirty="0"/>
          </a:p>
        </p:txBody>
      </p:sp>
      <p:sp>
        <p:nvSpPr>
          <p:cNvPr id="9" name="story-card"/>
          <p:cNvSpPr/>
          <p:nvPr/>
        </p:nvSpPr>
        <p:spPr>
          <a:xfrm>
            <a:off x="731520" y="2697480"/>
            <a:ext cx="10744200" cy="1600200"/>
          </a:xfrm>
          <a:prstGeom prst="roundRect">
            <a:avLst>
              <a:gd name="adj" fmla="val 16000"/>
            </a:avLst>
          </a:prstGeom>
          <a:solidFill>
            <a:srgbClr val="FFFFFF"/>
          </a:solidFill>
          <a:ln w="12700">
            <a:solidFill>
              <a:srgbClr val="E6E8EB"/>
            </a:solidFill>
            <a:prstDash val="solid"/>
          </a:ln>
        </p:spPr>
      </p:sp>
      <p:pic>
        <p:nvPicPr>
          <p:cNvPr id="10" name="calm-icon" descr="preencoded.png">    </p:cNvPr>
          <p:cNvPicPr>
            <a:picLocks noChangeAspect="1"/>
          </p:cNvPicPr>
          <p:nvPr/>
        </p:nvPicPr>
        <p:blipFill>
          <a:blip r:embed="rId2"/>
          <a:stretch>
            <a:fillRect/>
          </a:stretch>
        </p:blipFill>
        <p:spPr>
          <a:xfrm>
            <a:off x="1143000" y="3108960"/>
            <a:ext cx="548640" cy="548640"/>
          </a:xfrm>
          <a:prstGeom prst="rect">
            <a:avLst/>
          </a:prstGeom>
        </p:spPr>
      </p:pic>
      <p:sp>
        <p:nvSpPr>
          <p:cNvPr id="11" name="calm-title"/>
          <p:cNvSpPr txBox="1"/>
          <p:nvPr/>
        </p:nvSpPr>
        <p:spPr>
          <a:xfrm>
            <a:off x="1965960" y="3063240"/>
            <a:ext cx="8686800" cy="457200"/>
          </a:xfrm>
          <a:prstGeom prst="rect">
            <a:avLst/>
          </a:prstGeom>
          <a:noFill/>
          <a:ln/>
        </p:spPr>
        <p:txBody>
          <a:bodyPr wrap="square" lIns="0" tIns="0" rIns="0" bIns="0" rtlCol="0" anchor="t"/>
          <a:lstStyle/>
          <a:p>
            <a:pPr indent="0" marL="0">
              <a:buNone/>
            </a:pPr>
            <a:r>
              <a:rPr lang="en-US" sz="2200" b="1" dirty="0">
                <a:solidFill>
                  <a:srgbClr val="1F2937"/>
                </a:solidFill>
                <a:latin typeface="Segoe UI" pitchFamily="34" charset="0"/>
                <a:ea typeface="Segoe UI" pitchFamily="34" charset="-122"/>
                <a:cs typeface="Segoe UI" pitchFamily="34" charset="-120"/>
              </a:rPr>
              <a:t>We never say a call is safe</a:t>
            </a:r>
            <a:endParaRPr lang="en-US" sz="2200" dirty="0"/>
          </a:p>
        </p:txBody>
      </p:sp>
      <p:sp>
        <p:nvSpPr>
          <p:cNvPr id="12" name="!!subline"/>
          <p:cNvSpPr txBox="1"/>
          <p:nvPr/>
        </p:nvSpPr>
        <p:spPr>
          <a:xfrm>
            <a:off x="1965960" y="3566160"/>
            <a:ext cx="8961120" cy="822960"/>
          </a:xfrm>
          <a:prstGeom prst="rect">
            <a:avLst/>
          </a:prstGeom>
          <a:noFill/>
          <a:ln/>
        </p:spPr>
        <p:txBody>
          <a:bodyPr wrap="square" lIns="0" tIns="0" rIns="0" bIns="0" rtlCol="0" anchor="t"/>
          <a:lstStyle/>
          <a:p>
            <a:pPr indent="0" marL="0">
              <a:buNone/>
            </a:pPr>
            <a:r>
              <a:rPr lang="en-US" sz="1700" dirty="0">
                <a:solidFill>
                  <a:srgbClr val="4B5563"/>
                </a:solidFill>
                <a:latin typeface="Segoe UI" pitchFamily="34" charset="0"/>
                <a:ea typeface="Segoe UI" pitchFamily="34" charset="-122"/>
                <a:cs typeface="Segoe UI" pitchFamily="34" charset="-120"/>
              </a:rPr>
              <a:t>No check can promise that. We only say what we heard. That's why the halo is never green.</a:t>
            </a:r>
            <a:endParaRPr lang="en-US" sz="1700" dirty="0"/>
          </a:p>
        </p:txBody>
      </p:sp>
      <p:sp>
        <p:nvSpPr>
          <p:cNvPr id="13" name="btn-Try another call"/>
          <p:cNvSpPr txBox="1"/>
          <p:nvPr/>
        </p:nvSpPr>
        <p:spPr>
          <a:xfrm>
            <a:off x="731520" y="5577840"/>
            <a:ext cx="2743200" cy="566928"/>
          </a:xfrm>
          <a:prstGeom prst="roundRect">
            <a:avLst>
              <a:gd name="adj" fmla="val 29032"/>
            </a:avLst>
          </a:prstGeom>
          <a:solidFill>
            <a:srgbClr val="FAFAF8"/>
          </a:solidFill>
          <a:ln w="19050">
            <a:solidFill>
              <a:srgbClr val="226192"/>
            </a:solidFill>
          </a:ln>
        </p:spPr>
        <p:txBody>
          <a:bodyPr wrap="square" lIns="0" tIns="0" rIns="0" bIns="0" rtlCol="0" anchor="ctr"/>
          <a:lstStyle/>
          <a:p>
            <a:pPr algn="ctr" indent="0" marL="0">
              <a:buNone/>
            </a:pPr>
            <a:r>
              <a:rPr lang="en-US" sz="1600" b="1" dirty="0">
                <a:solidFill>
                  <a:srgbClr val="226192"/>
                </a:solidFill>
                <a:latin typeface="Segoe UI" pitchFamily="34" charset="0"/>
                <a:ea typeface="Segoe UI" pitchFamily="34" charset="-122"/>
                <a:cs typeface="Segoe UI" pitchFamily="34" charset="-120"/>
              </a:rPr>
              <a:t>Try another call</a:t>
            </a:r>
            <a:endParaRPr lang="en-US" sz="1600" dirty="0"/>
          </a:p>
        </p:txBody>
      </p:sp>
      <p:pic>
        <p:nvPicPr>
          <p:cNvPr id="14" name="hot-Try another call" descr="Try another call">
            <a:hlinkClick r:id="rId4" tooltip="Try another call" action="ppaction://hlinksldjump"/>
          </p:cNvPr>
          <p:cNvPicPr>
            <a:picLocks noChangeAspect="1"/>
          </p:cNvPicPr>
          <p:nvPr/>
        </p:nvPicPr>
        <p:blipFill>
          <a:blip r:embed="rId3"/>
          <a:stretch>
            <a:fillRect/>
          </a:stretch>
        </p:blipFill>
        <p:spPr>
          <a:xfrm>
            <a:off x="731520" y="5577840"/>
            <a:ext cx="2743200" cy="566928"/>
          </a:xfrm>
          <a:prstGeom prst="rect">
            <a:avLst/>
          </a:prstGeom>
        </p:spPr>
      </p:pic>
      <p:sp>
        <p:nvSpPr>
          <p:cNvPr id="15" name="btn-Continue"/>
          <p:cNvSpPr txBox="1"/>
          <p:nvPr/>
        </p:nvSpPr>
        <p:spPr>
          <a:xfrm>
            <a:off x="3657600" y="5577840"/>
            <a:ext cx="2194560" cy="566928"/>
          </a:xfrm>
          <a:prstGeom prst="roundRect">
            <a:avLst>
              <a:gd name="adj" fmla="val 29032"/>
            </a:avLst>
          </a:prstGeom>
          <a:solidFill>
            <a:srgbClr val="226192"/>
          </a:solidFill>
          <a:ln w="19050">
            <a:solidFill>
              <a:srgbClr val="226192"/>
            </a:solid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Continue</a:t>
            </a:r>
            <a:endParaRPr lang="en-US" sz="1600" dirty="0"/>
          </a:p>
        </p:txBody>
      </p:sp>
      <p:pic>
        <p:nvPicPr>
          <p:cNvPr id="16" name="hot-Continue" descr="Continue">
            <a:hlinkClick r:id="rId6" tooltip="Continue" action="ppaction://hlinksldjump"/>
          </p:cNvPr>
          <p:cNvPicPr>
            <a:picLocks noChangeAspect="1"/>
          </p:cNvPicPr>
          <p:nvPr/>
        </p:nvPicPr>
        <p:blipFill>
          <a:blip r:embed="rId5"/>
          <a:stretch>
            <a:fillRect/>
          </a:stretch>
        </p:blipFill>
        <p:spPr>
          <a:xfrm>
            <a:off x="3657600" y="5577840"/>
            <a:ext cx="2194560" cy="56692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p:cNvSpPr txBox="1"/>
          <p:nvPr/>
        </p:nvSpPr>
        <p:spPr>
          <a:xfrm>
            <a:off x="731520" y="685800"/>
            <a:ext cx="5486400" cy="320040"/>
          </a:xfrm>
          <a:prstGeom prst="rect">
            <a:avLst/>
          </a:prstGeom>
          <a:noFill/>
          <a:ln/>
        </p:spPr>
        <p:txBody>
          <a:bodyPr wrap="square" lIns="0" tIns="0" rIns="0" bIns="0" rtlCol="0" anchor="t"/>
          <a:lstStyle/>
          <a:p>
            <a:pPr indent="0" marL="0">
              <a:buNone/>
            </a:pPr>
            <a:r>
              <a:rPr lang="en-US" sz="1400" b="1" spc="200" kern="0" dirty="0">
                <a:solidFill>
                  <a:srgbClr val="226192"/>
                </a:solidFill>
                <a:latin typeface="Segoe UI" pitchFamily="34" charset="0"/>
                <a:ea typeface="Segoe UI" pitchFamily="34" charset="-122"/>
                <a:cs typeface="Segoe UI" pitchFamily="34" charset="-120"/>
              </a:rPr>
              <a:t>HOW IT WORKS</a:t>
            </a:r>
            <a:endParaRPr lang="en-US" sz="1400" dirty="0"/>
          </a:p>
        </p:txBody>
      </p:sp>
      <p:sp>
        <p:nvSpPr>
          <p:cNvPr id="3" name="!!headline"/>
          <p:cNvSpPr txBox="1"/>
          <p:nvPr/>
        </p:nvSpPr>
        <p:spPr>
          <a:xfrm>
            <a:off x="731520" y="1051560"/>
            <a:ext cx="9601200" cy="731520"/>
          </a:xfrm>
          <a:prstGeom prst="rect">
            <a:avLst/>
          </a:prstGeom>
          <a:noFill/>
          <a:ln/>
        </p:spPr>
        <p:txBody>
          <a:bodyPr wrap="square" lIns="0" tIns="0" rIns="0" bIns="0" rtlCol="0" anchor="t"/>
          <a:lstStyle/>
          <a:p>
            <a:pPr indent="0" marL="0">
              <a:buNone/>
            </a:pPr>
            <a:r>
              <a:rPr lang="en-US" sz="3600" b="1" dirty="0">
                <a:solidFill>
                  <a:srgbClr val="1F2937"/>
                </a:solidFill>
                <a:latin typeface="Segoe UI" pitchFamily="34" charset="0"/>
                <a:ea typeface="Segoe UI" pitchFamily="34" charset="-122"/>
                <a:cs typeface="Segoe UI" pitchFamily="34" charset="-120"/>
              </a:rPr>
              <a:t>From their words to your warning</a:t>
            </a:r>
            <a:endParaRPr lang="en-US" sz="3600" dirty="0"/>
          </a:p>
        </p:txBody>
      </p:sp>
      <p:sp>
        <p:nvSpPr>
          <p:cNvPr id="4" name="node-0"/>
          <p:cNvSpPr/>
          <p:nvPr/>
        </p:nvSpPr>
        <p:spPr>
          <a:xfrm>
            <a:off x="731520" y="2194560"/>
            <a:ext cx="1867753" cy="2926080"/>
          </a:xfrm>
          <a:prstGeom prst="roundRect">
            <a:avLst>
              <a:gd name="adj" fmla="val 11750"/>
            </a:avLst>
          </a:prstGeom>
          <a:solidFill>
            <a:srgbClr val="FFFFFF"/>
          </a:solidFill>
          <a:ln w="12700">
            <a:solidFill>
              <a:srgbClr val="E6E8EB"/>
            </a:solidFill>
            <a:prstDash val="solid"/>
          </a:ln>
        </p:spPr>
      </p:sp>
      <p:sp>
        <p:nvSpPr>
          <p:cNvPr id="5" name="node-badge-0"/>
          <p:cNvSpPr/>
          <p:nvPr/>
        </p:nvSpPr>
        <p:spPr>
          <a:xfrm>
            <a:off x="1005840" y="2468880"/>
            <a:ext cx="566928" cy="566928"/>
          </a:xfrm>
          <a:prstGeom prst="ellipse">
            <a:avLst/>
          </a:prstGeom>
          <a:solidFill>
            <a:srgbClr val="E3EDF5"/>
          </a:solidFill>
          <a:ln w="12700">
            <a:solidFill>
              <a:srgbClr val="E3EDF5"/>
            </a:solidFill>
            <a:prstDash val="solid"/>
          </a:ln>
        </p:spPr>
      </p:sp>
      <p:pic>
        <p:nvPicPr>
          <p:cNvPr id="6" name="node-icon-0" descr="preencoded.png">    </p:cNvPr>
          <p:cNvPicPr>
            <a:picLocks noChangeAspect="1"/>
          </p:cNvPicPr>
          <p:nvPr/>
        </p:nvPicPr>
        <p:blipFill>
          <a:blip r:embed="rId1"/>
          <a:stretch>
            <a:fillRect/>
          </a:stretch>
        </p:blipFill>
        <p:spPr>
          <a:xfrm>
            <a:off x="1133856" y="2596896"/>
            <a:ext cx="310896" cy="310896"/>
          </a:xfrm>
          <a:prstGeom prst="rect">
            <a:avLst/>
          </a:prstGeom>
        </p:spPr>
      </p:pic>
      <p:sp>
        <p:nvSpPr>
          <p:cNvPr id="7" name="node-title-0"/>
          <p:cNvSpPr txBox="1"/>
          <p:nvPr/>
        </p:nvSpPr>
        <p:spPr>
          <a:xfrm>
            <a:off x="1005840" y="3200400"/>
            <a:ext cx="1410553" cy="365760"/>
          </a:xfrm>
          <a:prstGeom prst="rect">
            <a:avLst/>
          </a:prstGeom>
          <a:noFill/>
          <a:ln/>
        </p:spPr>
        <p:txBody>
          <a:bodyPr wrap="square" lIns="0" tIns="0" rIns="0" bIns="0" rtlCol="0" anchor="t"/>
          <a:lstStyle/>
          <a:p>
            <a:pPr indent="0" marL="0">
              <a:buNone/>
            </a:pPr>
            <a:r>
              <a:rPr lang="en-US" sz="1800" b="1" dirty="0">
                <a:solidFill>
                  <a:srgbClr val="1F2937"/>
                </a:solidFill>
                <a:latin typeface="Segoe UI" pitchFamily="34" charset="0"/>
                <a:ea typeface="Segoe UI" pitchFamily="34" charset="-122"/>
                <a:cs typeface="Segoe UI" pitchFamily="34" charset="-120"/>
              </a:rPr>
              <a:t>Any phone</a:t>
            </a:r>
            <a:endParaRPr lang="en-US" sz="1800" dirty="0"/>
          </a:p>
        </p:txBody>
      </p:sp>
      <p:sp>
        <p:nvSpPr>
          <p:cNvPr id="8" name="node-body-0"/>
          <p:cNvSpPr txBox="1"/>
          <p:nvPr/>
        </p:nvSpPr>
        <p:spPr>
          <a:xfrm>
            <a:off x="1005840" y="3611880"/>
            <a:ext cx="1410553" cy="1371600"/>
          </a:xfrm>
          <a:prstGeom prst="rect">
            <a:avLst/>
          </a:prstGeom>
          <a:noFill/>
          <a:ln/>
        </p:spPr>
        <p:txBody>
          <a:bodyPr wrap="square" lIns="0" tIns="0" rIns="0" bIns="0" rtlCol="0" anchor="t"/>
          <a:lstStyle/>
          <a:p>
            <a:pPr indent="0" marL="0">
              <a:buNone/>
            </a:pPr>
            <a:r>
              <a:rPr lang="en-US" sz="1400" dirty="0">
                <a:solidFill>
                  <a:srgbClr val="4B5563"/>
                </a:solidFill>
                <a:latin typeface="Segoe UI" pitchFamily="34" charset="0"/>
                <a:ea typeface="Segoe UI" pitchFamily="34" charset="-122"/>
                <a:cs typeface="Segoe UI" pitchFamily="34" charset="-120"/>
              </a:rPr>
              <a:t>The caller dials our number from their normal dialer.</a:t>
            </a:r>
            <a:endParaRPr lang="en-US" sz="1400" dirty="0"/>
          </a:p>
        </p:txBody>
      </p:sp>
      <p:pic>
        <p:nvPicPr>
          <p:cNvPr id="9" name="node-arrow-0" descr="preencoded.png">    </p:cNvPr>
          <p:cNvPicPr>
            <a:picLocks noChangeAspect="1"/>
          </p:cNvPicPr>
          <p:nvPr/>
        </p:nvPicPr>
        <p:blipFill>
          <a:blip r:embed="rId2"/>
          <a:stretch>
            <a:fillRect/>
          </a:stretch>
        </p:blipFill>
        <p:spPr>
          <a:xfrm>
            <a:off x="2635849" y="3502152"/>
            <a:ext cx="274320" cy="274320"/>
          </a:xfrm>
          <a:prstGeom prst="rect">
            <a:avLst/>
          </a:prstGeom>
        </p:spPr>
      </p:pic>
      <p:sp>
        <p:nvSpPr>
          <p:cNvPr id="10" name="node-1"/>
          <p:cNvSpPr/>
          <p:nvPr/>
        </p:nvSpPr>
        <p:spPr>
          <a:xfrm>
            <a:off x="2946745" y="2194560"/>
            <a:ext cx="1867753" cy="2926080"/>
          </a:xfrm>
          <a:prstGeom prst="roundRect">
            <a:avLst>
              <a:gd name="adj" fmla="val 11750"/>
            </a:avLst>
          </a:prstGeom>
          <a:solidFill>
            <a:srgbClr val="FFFFFF"/>
          </a:solidFill>
          <a:ln w="12700">
            <a:solidFill>
              <a:srgbClr val="E6E8EB"/>
            </a:solidFill>
            <a:prstDash val="solid"/>
          </a:ln>
        </p:spPr>
      </p:sp>
      <p:sp>
        <p:nvSpPr>
          <p:cNvPr id="11" name="node-badge-1"/>
          <p:cNvSpPr/>
          <p:nvPr/>
        </p:nvSpPr>
        <p:spPr>
          <a:xfrm>
            <a:off x="3221065" y="2468880"/>
            <a:ext cx="566928" cy="566928"/>
          </a:xfrm>
          <a:prstGeom prst="ellipse">
            <a:avLst/>
          </a:prstGeom>
          <a:solidFill>
            <a:srgbClr val="E3EDF5"/>
          </a:solidFill>
          <a:ln w="12700">
            <a:solidFill>
              <a:srgbClr val="E3EDF5"/>
            </a:solidFill>
            <a:prstDash val="solid"/>
          </a:ln>
        </p:spPr>
      </p:sp>
      <p:pic>
        <p:nvPicPr>
          <p:cNvPr id="12" name="node-icon-1" descr="preencoded.png">    </p:cNvPr>
          <p:cNvPicPr>
            <a:picLocks noChangeAspect="1"/>
          </p:cNvPicPr>
          <p:nvPr/>
        </p:nvPicPr>
        <p:blipFill>
          <a:blip r:embed="rId3"/>
          <a:stretch>
            <a:fillRect/>
          </a:stretch>
        </p:blipFill>
        <p:spPr>
          <a:xfrm>
            <a:off x="3349081" y="2596896"/>
            <a:ext cx="310896" cy="310896"/>
          </a:xfrm>
          <a:prstGeom prst="rect">
            <a:avLst/>
          </a:prstGeom>
        </p:spPr>
      </p:pic>
      <p:sp>
        <p:nvSpPr>
          <p:cNvPr id="13" name="node-title-1"/>
          <p:cNvSpPr txBox="1"/>
          <p:nvPr/>
        </p:nvSpPr>
        <p:spPr>
          <a:xfrm>
            <a:off x="3221065" y="3200400"/>
            <a:ext cx="1410553" cy="365760"/>
          </a:xfrm>
          <a:prstGeom prst="rect">
            <a:avLst/>
          </a:prstGeom>
          <a:noFill/>
          <a:ln/>
        </p:spPr>
        <p:txBody>
          <a:bodyPr wrap="square" lIns="0" tIns="0" rIns="0" bIns="0" rtlCol="0" anchor="t"/>
          <a:lstStyle/>
          <a:p>
            <a:pPr indent="0" marL="0">
              <a:buNone/>
            </a:pPr>
            <a:r>
              <a:rPr lang="en-US" sz="1800" b="1" dirty="0">
                <a:solidFill>
                  <a:srgbClr val="1F2937"/>
                </a:solidFill>
                <a:latin typeface="Segoe UI" pitchFamily="34" charset="0"/>
                <a:ea typeface="Segoe UI" pitchFamily="34" charset="-122"/>
                <a:cs typeface="Segoe UI" pitchFamily="34" charset="-120"/>
              </a:rPr>
              <a:t>Twilio</a:t>
            </a:r>
            <a:endParaRPr lang="en-US" sz="1800" dirty="0"/>
          </a:p>
        </p:txBody>
      </p:sp>
      <p:sp>
        <p:nvSpPr>
          <p:cNvPr id="14" name="node-body-1"/>
          <p:cNvSpPr txBox="1"/>
          <p:nvPr/>
        </p:nvSpPr>
        <p:spPr>
          <a:xfrm>
            <a:off x="3221065" y="3611880"/>
            <a:ext cx="1410553" cy="1371600"/>
          </a:xfrm>
          <a:prstGeom prst="rect">
            <a:avLst/>
          </a:prstGeom>
          <a:noFill/>
          <a:ln/>
        </p:spPr>
        <p:txBody>
          <a:bodyPr wrap="square" lIns="0" tIns="0" rIns="0" bIns="0" rtlCol="0" anchor="t"/>
          <a:lstStyle/>
          <a:p>
            <a:pPr indent="0" marL="0">
              <a:buNone/>
            </a:pPr>
            <a:r>
              <a:rPr lang="en-US" sz="1400" dirty="0">
                <a:solidFill>
                  <a:srgbClr val="4B5563"/>
                </a:solidFill>
                <a:latin typeface="Segoe UI" pitchFamily="34" charset="0"/>
                <a:ea typeface="Segoe UI" pitchFamily="34" charset="-122"/>
                <a:cs typeface="Segoe UI" pitchFamily="34" charset="-120"/>
              </a:rPr>
              <a:t>Connects the call and streams the caller's audio.</a:t>
            </a:r>
            <a:endParaRPr lang="en-US" sz="1400" dirty="0"/>
          </a:p>
        </p:txBody>
      </p:sp>
      <p:pic>
        <p:nvPicPr>
          <p:cNvPr id="15" name="node-arrow-1" descr="preencoded.png">    </p:cNvPr>
          <p:cNvPicPr>
            <a:picLocks noChangeAspect="1"/>
          </p:cNvPicPr>
          <p:nvPr/>
        </p:nvPicPr>
        <p:blipFill>
          <a:blip r:embed="rId4"/>
          <a:stretch>
            <a:fillRect/>
          </a:stretch>
        </p:blipFill>
        <p:spPr>
          <a:xfrm>
            <a:off x="4851075" y="3502152"/>
            <a:ext cx="274320" cy="274320"/>
          </a:xfrm>
          <a:prstGeom prst="rect">
            <a:avLst/>
          </a:prstGeom>
        </p:spPr>
      </p:pic>
      <p:sp>
        <p:nvSpPr>
          <p:cNvPr id="16" name="node-2"/>
          <p:cNvSpPr/>
          <p:nvPr/>
        </p:nvSpPr>
        <p:spPr>
          <a:xfrm>
            <a:off x="5161971" y="2194560"/>
            <a:ext cx="1867753" cy="2926080"/>
          </a:xfrm>
          <a:prstGeom prst="roundRect">
            <a:avLst>
              <a:gd name="adj" fmla="val 11750"/>
            </a:avLst>
          </a:prstGeom>
          <a:solidFill>
            <a:srgbClr val="FFFFFF"/>
          </a:solidFill>
          <a:ln w="12700">
            <a:solidFill>
              <a:srgbClr val="E6E8EB"/>
            </a:solidFill>
            <a:prstDash val="solid"/>
          </a:ln>
        </p:spPr>
      </p:sp>
      <p:sp>
        <p:nvSpPr>
          <p:cNvPr id="17" name="node-badge-2"/>
          <p:cNvSpPr/>
          <p:nvPr/>
        </p:nvSpPr>
        <p:spPr>
          <a:xfrm>
            <a:off x="5436291" y="2468880"/>
            <a:ext cx="566928" cy="566928"/>
          </a:xfrm>
          <a:prstGeom prst="ellipse">
            <a:avLst/>
          </a:prstGeom>
          <a:solidFill>
            <a:srgbClr val="E3EDF5"/>
          </a:solidFill>
          <a:ln w="12700">
            <a:solidFill>
              <a:srgbClr val="E3EDF5"/>
            </a:solidFill>
            <a:prstDash val="solid"/>
          </a:ln>
        </p:spPr>
      </p:sp>
      <p:pic>
        <p:nvPicPr>
          <p:cNvPr id="18" name="node-icon-2" descr="preencoded.png">    </p:cNvPr>
          <p:cNvPicPr>
            <a:picLocks noChangeAspect="1"/>
          </p:cNvPicPr>
          <p:nvPr/>
        </p:nvPicPr>
        <p:blipFill>
          <a:blip r:embed="rId5"/>
          <a:stretch>
            <a:fillRect/>
          </a:stretch>
        </p:blipFill>
        <p:spPr>
          <a:xfrm>
            <a:off x="5564307" y="2596896"/>
            <a:ext cx="310896" cy="310896"/>
          </a:xfrm>
          <a:prstGeom prst="rect">
            <a:avLst/>
          </a:prstGeom>
        </p:spPr>
      </p:pic>
      <p:sp>
        <p:nvSpPr>
          <p:cNvPr id="19" name="node-title-2"/>
          <p:cNvSpPr txBox="1"/>
          <p:nvPr/>
        </p:nvSpPr>
        <p:spPr>
          <a:xfrm>
            <a:off x="5436291" y="3200400"/>
            <a:ext cx="1410553" cy="365760"/>
          </a:xfrm>
          <a:prstGeom prst="rect">
            <a:avLst/>
          </a:prstGeom>
          <a:noFill/>
          <a:ln/>
        </p:spPr>
        <p:txBody>
          <a:bodyPr wrap="square" lIns="0" tIns="0" rIns="0" bIns="0" rtlCol="0" anchor="t"/>
          <a:lstStyle/>
          <a:p>
            <a:pPr indent="0" marL="0">
              <a:buNone/>
            </a:pPr>
            <a:r>
              <a:rPr lang="en-US" sz="1800" b="1" dirty="0">
                <a:solidFill>
                  <a:srgbClr val="1F2937"/>
                </a:solidFill>
                <a:latin typeface="Segoe UI" pitchFamily="34" charset="0"/>
                <a:ea typeface="Segoe UI" pitchFamily="34" charset="-122"/>
                <a:cs typeface="Segoe UI" pitchFamily="34" charset="-120"/>
              </a:rPr>
              <a:t>Sarvam</a:t>
            </a:r>
            <a:endParaRPr lang="en-US" sz="1800" dirty="0"/>
          </a:p>
        </p:txBody>
      </p:sp>
      <p:sp>
        <p:nvSpPr>
          <p:cNvPr id="20" name="node-body-2"/>
          <p:cNvSpPr txBox="1"/>
          <p:nvPr/>
        </p:nvSpPr>
        <p:spPr>
          <a:xfrm>
            <a:off x="5436291" y="3611880"/>
            <a:ext cx="1410553" cy="1371600"/>
          </a:xfrm>
          <a:prstGeom prst="rect">
            <a:avLst/>
          </a:prstGeom>
          <a:noFill/>
          <a:ln/>
        </p:spPr>
        <p:txBody>
          <a:bodyPr wrap="square" lIns="0" tIns="0" rIns="0" bIns="0" rtlCol="0" anchor="t"/>
          <a:lstStyle/>
          <a:p>
            <a:pPr indent="0" marL="0">
              <a:buNone/>
            </a:pPr>
            <a:r>
              <a:rPr lang="en-US" sz="1400" dirty="0">
                <a:solidFill>
                  <a:srgbClr val="4B5563"/>
                </a:solidFill>
                <a:latin typeface="Segoe UI" pitchFamily="34" charset="0"/>
                <a:ea typeface="Segoe UI" pitchFamily="34" charset="-122"/>
                <a:cs typeface="Segoe UI" pitchFamily="34" charset="-120"/>
              </a:rPr>
              <a:t>Turns speech into text live: Punjabi, Hindi, English, mixed.</a:t>
            </a:r>
            <a:endParaRPr lang="en-US" sz="1400" dirty="0"/>
          </a:p>
        </p:txBody>
      </p:sp>
      <p:pic>
        <p:nvPicPr>
          <p:cNvPr id="21" name="node-arrow-2" descr="preencoded.png">    </p:cNvPr>
          <p:cNvPicPr>
            <a:picLocks noChangeAspect="1"/>
          </p:cNvPicPr>
          <p:nvPr/>
        </p:nvPicPr>
        <p:blipFill>
          <a:blip r:embed="rId6"/>
          <a:stretch>
            <a:fillRect/>
          </a:stretch>
        </p:blipFill>
        <p:spPr>
          <a:xfrm>
            <a:off x="7066300" y="3502152"/>
            <a:ext cx="274320" cy="274320"/>
          </a:xfrm>
          <a:prstGeom prst="rect">
            <a:avLst/>
          </a:prstGeom>
        </p:spPr>
      </p:pic>
      <p:sp>
        <p:nvSpPr>
          <p:cNvPr id="22" name="node-3"/>
          <p:cNvSpPr/>
          <p:nvPr/>
        </p:nvSpPr>
        <p:spPr>
          <a:xfrm>
            <a:off x="7377196" y="2194560"/>
            <a:ext cx="1867753" cy="2926080"/>
          </a:xfrm>
          <a:prstGeom prst="roundRect">
            <a:avLst>
              <a:gd name="adj" fmla="val 11750"/>
            </a:avLst>
          </a:prstGeom>
          <a:solidFill>
            <a:srgbClr val="FFFFFF"/>
          </a:solidFill>
          <a:ln w="12700">
            <a:solidFill>
              <a:srgbClr val="E6E8EB"/>
            </a:solidFill>
            <a:prstDash val="solid"/>
          </a:ln>
        </p:spPr>
      </p:sp>
      <p:sp>
        <p:nvSpPr>
          <p:cNvPr id="23" name="node-badge-3"/>
          <p:cNvSpPr/>
          <p:nvPr/>
        </p:nvSpPr>
        <p:spPr>
          <a:xfrm>
            <a:off x="7651516" y="2468880"/>
            <a:ext cx="566928" cy="566928"/>
          </a:xfrm>
          <a:prstGeom prst="ellipse">
            <a:avLst/>
          </a:prstGeom>
          <a:solidFill>
            <a:srgbClr val="E3EDF5"/>
          </a:solidFill>
          <a:ln w="12700">
            <a:solidFill>
              <a:srgbClr val="E3EDF5"/>
            </a:solidFill>
            <a:prstDash val="solid"/>
          </a:ln>
        </p:spPr>
      </p:sp>
      <p:pic>
        <p:nvPicPr>
          <p:cNvPr id="24" name="node-icon-3" descr="preencoded.png">    </p:cNvPr>
          <p:cNvPicPr>
            <a:picLocks noChangeAspect="1"/>
          </p:cNvPicPr>
          <p:nvPr/>
        </p:nvPicPr>
        <p:blipFill>
          <a:blip r:embed="rId7"/>
          <a:stretch>
            <a:fillRect/>
          </a:stretch>
        </p:blipFill>
        <p:spPr>
          <a:xfrm>
            <a:off x="7779532" y="2596896"/>
            <a:ext cx="310896" cy="310896"/>
          </a:xfrm>
          <a:prstGeom prst="rect">
            <a:avLst/>
          </a:prstGeom>
        </p:spPr>
      </p:pic>
      <p:sp>
        <p:nvSpPr>
          <p:cNvPr id="25" name="node-title-3"/>
          <p:cNvSpPr txBox="1"/>
          <p:nvPr/>
        </p:nvSpPr>
        <p:spPr>
          <a:xfrm>
            <a:off x="7651516" y="3200400"/>
            <a:ext cx="1410553" cy="365760"/>
          </a:xfrm>
          <a:prstGeom prst="rect">
            <a:avLst/>
          </a:prstGeom>
          <a:noFill/>
          <a:ln/>
        </p:spPr>
        <p:txBody>
          <a:bodyPr wrap="square" lIns="0" tIns="0" rIns="0" bIns="0" rtlCol="0" anchor="t"/>
          <a:lstStyle/>
          <a:p>
            <a:pPr indent="0" marL="0">
              <a:buNone/>
            </a:pPr>
            <a:r>
              <a:rPr lang="en-US" sz="1800" b="1" dirty="0">
                <a:solidFill>
                  <a:srgbClr val="1F2937"/>
                </a:solidFill>
                <a:latin typeface="Segoe UI" pitchFamily="34" charset="0"/>
                <a:ea typeface="Segoe UI" pitchFamily="34" charset="-122"/>
                <a:cs typeface="Segoe UI" pitchFamily="34" charset="-120"/>
              </a:rPr>
              <a:t>Two checks</a:t>
            </a:r>
            <a:endParaRPr lang="en-US" sz="1800" dirty="0"/>
          </a:p>
        </p:txBody>
      </p:sp>
      <p:sp>
        <p:nvSpPr>
          <p:cNvPr id="26" name="node-body-3"/>
          <p:cNvSpPr txBox="1"/>
          <p:nvPr/>
        </p:nvSpPr>
        <p:spPr>
          <a:xfrm>
            <a:off x="7651516" y="3611880"/>
            <a:ext cx="1410553" cy="1371600"/>
          </a:xfrm>
          <a:prstGeom prst="rect">
            <a:avLst/>
          </a:prstGeom>
          <a:noFill/>
          <a:ln/>
        </p:spPr>
        <p:txBody>
          <a:bodyPr wrap="square" lIns="0" tIns="0" rIns="0" bIns="0" rtlCol="0" anchor="t"/>
          <a:lstStyle/>
          <a:p>
            <a:pPr indent="0" marL="0">
              <a:buNone/>
            </a:pPr>
            <a:r>
              <a:rPr lang="en-US" sz="1400" dirty="0">
                <a:solidFill>
                  <a:srgbClr val="4B5563"/>
                </a:solidFill>
                <a:latin typeface="Segoe UI" pitchFamily="34" charset="0"/>
                <a:ea typeface="Segoe UI" pitchFamily="34" charset="-122"/>
                <a:cs typeface="Segoe UI" pitchFamily="34" charset="-120"/>
              </a:rPr>
              <a:t>Phrase check warns first. Plug-in detectors confirm; our policy sets the level.</a:t>
            </a:r>
            <a:endParaRPr lang="en-US" sz="1400" dirty="0"/>
          </a:p>
        </p:txBody>
      </p:sp>
      <p:pic>
        <p:nvPicPr>
          <p:cNvPr id="27" name="node-arrow-3" descr="preencoded.png">    </p:cNvPr>
          <p:cNvPicPr>
            <a:picLocks noChangeAspect="1"/>
          </p:cNvPicPr>
          <p:nvPr/>
        </p:nvPicPr>
        <p:blipFill>
          <a:blip r:embed="rId8"/>
          <a:stretch>
            <a:fillRect/>
          </a:stretch>
        </p:blipFill>
        <p:spPr>
          <a:xfrm>
            <a:off x="9281526" y="3502152"/>
            <a:ext cx="274320" cy="274320"/>
          </a:xfrm>
          <a:prstGeom prst="rect">
            <a:avLst/>
          </a:prstGeom>
        </p:spPr>
      </p:pic>
      <p:sp>
        <p:nvSpPr>
          <p:cNvPr id="28" name="node-us"/>
          <p:cNvSpPr/>
          <p:nvPr/>
        </p:nvSpPr>
        <p:spPr>
          <a:xfrm>
            <a:off x="9592422" y="2194560"/>
            <a:ext cx="1867753" cy="2926080"/>
          </a:xfrm>
          <a:prstGeom prst="roundRect">
            <a:avLst>
              <a:gd name="adj" fmla="val 11750"/>
            </a:avLst>
          </a:prstGeom>
          <a:solidFill>
            <a:srgbClr val="0E1A27"/>
          </a:solidFill>
          <a:ln w="12700">
            <a:solidFill>
              <a:srgbClr val="0E1A27"/>
            </a:solidFill>
            <a:prstDash val="solid"/>
          </a:ln>
        </p:spPr>
      </p:sp>
      <p:sp>
        <p:nvSpPr>
          <p:cNvPr id="29" name="!!halo-r3"/>
          <p:cNvSpPr/>
          <p:nvPr/>
        </p:nvSpPr>
        <p:spPr>
          <a:xfrm>
            <a:off x="9596994" y="2199132"/>
            <a:ext cx="1106424" cy="1106424"/>
          </a:xfrm>
          <a:prstGeom prst="ellipse">
            <a:avLst/>
          </a:prstGeom>
          <a:solidFill>
            <a:srgbClr val="7DB8E8">
              <a:alpha val="0"/>
            </a:srgbClr>
          </a:solidFill>
          <a:ln w="12700">
            <a:solidFill>
              <a:srgbClr val="7DB8E8">
                <a:alpha val="20000"/>
              </a:srgbClr>
            </a:solidFill>
            <a:prstDash val="solid"/>
          </a:ln>
        </p:spPr>
      </p:sp>
      <p:sp>
        <p:nvSpPr>
          <p:cNvPr id="30" name="!!halo-r2"/>
          <p:cNvSpPr/>
          <p:nvPr/>
        </p:nvSpPr>
        <p:spPr>
          <a:xfrm>
            <a:off x="9727753" y="2329891"/>
            <a:ext cx="844906" cy="844906"/>
          </a:xfrm>
          <a:prstGeom prst="ellipse">
            <a:avLst/>
          </a:prstGeom>
          <a:solidFill>
            <a:srgbClr val="7DB8E8">
              <a:alpha val="0"/>
            </a:srgbClr>
          </a:solidFill>
          <a:ln w="12700">
            <a:solidFill>
              <a:srgbClr val="7DB8E8">
                <a:alpha val="38000"/>
              </a:srgbClr>
            </a:solidFill>
            <a:prstDash val="solid"/>
          </a:ln>
        </p:spPr>
      </p:sp>
      <p:sp>
        <p:nvSpPr>
          <p:cNvPr id="31" name="!!halo-r1"/>
          <p:cNvSpPr/>
          <p:nvPr/>
        </p:nvSpPr>
        <p:spPr>
          <a:xfrm>
            <a:off x="9848454" y="2450592"/>
            <a:ext cx="603504" cy="603504"/>
          </a:xfrm>
          <a:prstGeom prst="ellipse">
            <a:avLst/>
          </a:prstGeom>
          <a:solidFill>
            <a:srgbClr val="7DB8E8">
              <a:alpha val="0"/>
            </a:srgbClr>
          </a:solidFill>
          <a:ln w="12700">
            <a:solidFill>
              <a:srgbClr val="7DB8E8">
                <a:alpha val="62000"/>
              </a:srgbClr>
            </a:solidFill>
            <a:prstDash val="solid"/>
          </a:ln>
        </p:spPr>
      </p:sp>
      <p:sp>
        <p:nvSpPr>
          <p:cNvPr id="32" name="!!halo-core"/>
          <p:cNvSpPr/>
          <p:nvPr/>
        </p:nvSpPr>
        <p:spPr>
          <a:xfrm>
            <a:off x="9949038" y="2551176"/>
            <a:ext cx="402336" cy="402336"/>
          </a:xfrm>
          <a:prstGeom prst="ellipse">
            <a:avLst/>
          </a:prstGeom>
          <a:solidFill>
            <a:srgbClr val="1B3550"/>
          </a:solidFill>
          <a:ln w="12700">
            <a:solidFill>
              <a:srgbClr val="1B3550"/>
            </a:solidFill>
            <a:prstDash val="solid"/>
          </a:ln>
        </p:spPr>
      </p:sp>
      <p:pic>
        <p:nvPicPr>
          <p:cNvPr id="33" name="!!halo-icon" descr="Scam check">    </p:cNvPr>
          <p:cNvPicPr>
            <a:picLocks noChangeAspect="1"/>
          </p:cNvPicPr>
          <p:nvPr/>
        </p:nvPicPr>
        <p:blipFill>
          <a:blip r:embed="rId9"/>
          <a:stretch>
            <a:fillRect/>
          </a:stretch>
        </p:blipFill>
        <p:spPr>
          <a:xfrm>
            <a:off x="10045598" y="2647737"/>
            <a:ext cx="209215" cy="209215"/>
          </a:xfrm>
          <a:prstGeom prst="rect">
            <a:avLst/>
          </a:prstGeom>
        </p:spPr>
      </p:pic>
      <p:sp>
        <p:nvSpPr>
          <p:cNvPr id="34" name="node-title-us"/>
          <p:cNvSpPr txBox="1"/>
          <p:nvPr/>
        </p:nvSpPr>
        <p:spPr>
          <a:xfrm>
            <a:off x="9866742" y="3200400"/>
            <a:ext cx="1501993" cy="365760"/>
          </a:xfrm>
          <a:prstGeom prst="rect">
            <a:avLst/>
          </a:prstGeom>
          <a:noFill/>
          <a:ln/>
        </p:spPr>
        <p:txBody>
          <a:bodyPr wrap="square" lIns="0" tIns="0" rIns="0" bIns="0" rtlCol="0" anchor="t"/>
          <a:lstStyle/>
          <a:p>
            <a:pPr indent="0" marL="0">
              <a:buNone/>
            </a:pPr>
            <a:r>
              <a:rPr lang="en-US" sz="1800" b="1" dirty="0">
                <a:solidFill>
                  <a:srgbClr val="FFFFFF"/>
                </a:solidFill>
                <a:latin typeface="Segoe UI" pitchFamily="34" charset="0"/>
                <a:ea typeface="Segoe UI" pitchFamily="34" charset="-122"/>
                <a:cs typeface="Segoe UI" pitchFamily="34" charset="-120"/>
              </a:rPr>
              <a:t>Your app</a:t>
            </a:r>
            <a:endParaRPr lang="en-US" sz="1800" dirty="0"/>
          </a:p>
        </p:txBody>
      </p:sp>
      <p:sp>
        <p:nvSpPr>
          <p:cNvPr id="35" name="node-body-us"/>
          <p:cNvSpPr txBox="1"/>
          <p:nvPr/>
        </p:nvSpPr>
        <p:spPr>
          <a:xfrm>
            <a:off x="9866742" y="3611880"/>
            <a:ext cx="1410553" cy="1371600"/>
          </a:xfrm>
          <a:prstGeom prst="rect">
            <a:avLst/>
          </a:prstGeom>
          <a:noFill/>
          <a:ln/>
        </p:spPr>
        <p:txBody>
          <a:bodyPr wrap="square" lIns="0" tIns="0" rIns="0" bIns="0" rtlCol="0" anchor="t"/>
          <a:lstStyle/>
          <a:p>
            <a:pPr indent="0" marL="0">
              <a:buNone/>
            </a:pPr>
            <a:r>
              <a:rPr lang="en-US" sz="1400" dirty="0">
                <a:solidFill>
                  <a:srgbClr val="DCE6EF"/>
                </a:solidFill>
                <a:latin typeface="Segoe UI" pitchFamily="34" charset="0"/>
                <a:ea typeface="Segoe UI" pitchFamily="34" charset="-122"/>
                <a:cs typeface="Segoe UI" pitchFamily="34" charset="-120"/>
              </a:rPr>
              <a:t>Only you get the chime, buzz and spoken warning.</a:t>
            </a:r>
            <a:endParaRPr lang="en-US" sz="1400" dirty="0"/>
          </a:p>
        </p:txBody>
      </p:sp>
      <p:sp>
        <p:nvSpPr>
          <p:cNvPr id="36" name="!!subline"/>
          <p:cNvSpPr txBox="1"/>
          <p:nvPr/>
        </p:nvSpPr>
        <p:spPr>
          <a:xfrm>
            <a:off x="731520" y="5486400"/>
            <a:ext cx="10515600" cy="365760"/>
          </a:xfrm>
          <a:prstGeom prst="rect">
            <a:avLst/>
          </a:prstGeom>
          <a:noFill/>
          <a:ln/>
        </p:spPr>
        <p:txBody>
          <a:bodyPr wrap="square" lIns="0" tIns="0" rIns="0" bIns="0" rtlCol="0" anchor="t"/>
          <a:lstStyle/>
          <a:p>
            <a:pPr indent="0" marL="0">
              <a:buNone/>
            </a:pPr>
            <a:r>
              <a:rPr lang="en-US" sz="1600" b="1" dirty="0">
                <a:solidFill>
                  <a:srgbClr val="4B5563"/>
                </a:solidFill>
                <a:latin typeface="Segoe UI" pitchFamily="34" charset="0"/>
                <a:ea typeface="Segoe UI" pitchFamily="34" charset="-122"/>
                <a:cs typeface="Segoe UI" pitchFamily="34" charset="-120"/>
              </a:rPr>
              <a:t>Stored: no audio and no transcript.   Said: never “safe”.</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halo-r3"/>
          <p:cNvSpPr/>
          <p:nvPr/>
        </p:nvSpPr>
        <p:spPr>
          <a:xfrm>
            <a:off x="10664190" y="240030"/>
            <a:ext cx="1257300" cy="1257300"/>
          </a:xfrm>
          <a:prstGeom prst="ellipse">
            <a:avLst/>
          </a:prstGeom>
          <a:solidFill>
            <a:srgbClr val="226192">
              <a:alpha val="0"/>
            </a:srgbClr>
          </a:solidFill>
          <a:ln w="13970">
            <a:solidFill>
              <a:srgbClr val="226192">
                <a:alpha val="18000"/>
              </a:srgbClr>
            </a:solidFill>
            <a:prstDash val="solid"/>
          </a:ln>
        </p:spPr>
      </p:sp>
      <p:sp>
        <p:nvSpPr>
          <p:cNvPr id="3" name="!!halo-r2"/>
          <p:cNvSpPr/>
          <p:nvPr/>
        </p:nvSpPr>
        <p:spPr>
          <a:xfrm>
            <a:off x="10812780" y="388620"/>
            <a:ext cx="960120" cy="960120"/>
          </a:xfrm>
          <a:prstGeom prst="ellipse">
            <a:avLst/>
          </a:prstGeom>
          <a:solidFill>
            <a:srgbClr val="226192">
              <a:alpha val="0"/>
            </a:srgbClr>
          </a:solidFill>
          <a:ln w="13970">
            <a:solidFill>
              <a:srgbClr val="226192">
                <a:alpha val="36000"/>
              </a:srgbClr>
            </a:solidFill>
            <a:prstDash val="solid"/>
          </a:ln>
        </p:spPr>
      </p:sp>
      <p:sp>
        <p:nvSpPr>
          <p:cNvPr id="4" name="!!halo-r1"/>
          <p:cNvSpPr/>
          <p:nvPr/>
        </p:nvSpPr>
        <p:spPr>
          <a:xfrm>
            <a:off x="10949940" y="525780"/>
            <a:ext cx="685800" cy="685800"/>
          </a:xfrm>
          <a:prstGeom prst="ellipse">
            <a:avLst/>
          </a:prstGeom>
          <a:solidFill>
            <a:srgbClr val="226192">
              <a:alpha val="0"/>
            </a:srgbClr>
          </a:solidFill>
          <a:ln w="13970">
            <a:solidFill>
              <a:srgbClr val="226192">
                <a:alpha val="60000"/>
              </a:srgbClr>
            </a:solidFill>
            <a:prstDash val="solid"/>
          </a:ln>
        </p:spPr>
      </p:sp>
      <p:sp>
        <p:nvSpPr>
          <p:cNvPr id="5" name="!!halo-core"/>
          <p:cNvSpPr/>
          <p:nvPr/>
        </p:nvSpPr>
        <p:spPr>
          <a:xfrm>
            <a:off x="11064240" y="640080"/>
            <a:ext cx="457200" cy="457200"/>
          </a:xfrm>
          <a:prstGeom prst="ellipse">
            <a:avLst/>
          </a:prstGeom>
          <a:solidFill>
            <a:srgbClr val="226192"/>
          </a:solidFill>
          <a:ln w="12700">
            <a:solidFill>
              <a:srgbClr val="226192"/>
            </a:solidFill>
            <a:prstDash val="solid"/>
          </a:ln>
        </p:spPr>
      </p:sp>
      <p:pic>
        <p:nvPicPr>
          <p:cNvPr id="6" name="!!halo-icon" descr="Scam check">    </p:cNvPr>
          <p:cNvPicPr>
            <a:picLocks noChangeAspect="1"/>
          </p:cNvPicPr>
          <p:nvPr/>
        </p:nvPicPr>
        <p:blipFill>
          <a:blip r:embed="rId1"/>
          <a:stretch>
            <a:fillRect/>
          </a:stretch>
        </p:blipFill>
        <p:spPr>
          <a:xfrm>
            <a:off x="11173968" y="749808"/>
            <a:ext cx="237744" cy="237744"/>
          </a:xfrm>
          <a:prstGeom prst="rect">
            <a:avLst/>
          </a:prstGeom>
        </p:spPr>
      </p:pic>
      <p:sp>
        <p:nvSpPr>
          <p:cNvPr id="7" name="!!kicker"/>
          <p:cNvSpPr txBox="1"/>
          <p:nvPr/>
        </p:nvSpPr>
        <p:spPr>
          <a:xfrm>
            <a:off x="731520" y="685800"/>
            <a:ext cx="5486400" cy="320040"/>
          </a:xfrm>
          <a:prstGeom prst="rect">
            <a:avLst/>
          </a:prstGeom>
          <a:noFill/>
          <a:ln/>
        </p:spPr>
        <p:txBody>
          <a:bodyPr wrap="square" lIns="0" tIns="0" rIns="0" bIns="0" rtlCol="0" anchor="t"/>
          <a:lstStyle/>
          <a:p>
            <a:pPr indent="0" marL="0">
              <a:buNone/>
            </a:pPr>
            <a:r>
              <a:rPr lang="en-US" sz="1400" b="1" spc="200" kern="0" dirty="0">
                <a:solidFill>
                  <a:srgbClr val="226192"/>
                </a:solidFill>
                <a:latin typeface="Segoe UI" pitchFamily="34" charset="0"/>
                <a:ea typeface="Segoe UI" pitchFamily="34" charset="-122"/>
                <a:cs typeface="Segoe UI" pitchFamily="34" charset="-120"/>
              </a:rPr>
              <a:t>DESIGN RULES</a:t>
            </a:r>
            <a:endParaRPr lang="en-US" sz="1400" dirty="0"/>
          </a:p>
        </p:txBody>
      </p:sp>
      <p:sp>
        <p:nvSpPr>
          <p:cNvPr id="8" name="!!headline"/>
          <p:cNvSpPr txBox="1"/>
          <p:nvPr/>
        </p:nvSpPr>
        <p:spPr>
          <a:xfrm>
            <a:off x="731520" y="1051560"/>
            <a:ext cx="9601200" cy="731520"/>
          </a:xfrm>
          <a:prstGeom prst="rect">
            <a:avLst/>
          </a:prstGeom>
          <a:noFill/>
          <a:ln/>
        </p:spPr>
        <p:txBody>
          <a:bodyPr wrap="square" lIns="0" tIns="0" rIns="0" bIns="0" rtlCol="0" anchor="t"/>
          <a:lstStyle/>
          <a:p>
            <a:pPr indent="0" marL="0">
              <a:buNone/>
            </a:pPr>
            <a:r>
              <a:rPr lang="en-US" sz="3600" b="1" dirty="0">
                <a:solidFill>
                  <a:srgbClr val="1F2937"/>
                </a:solidFill>
                <a:latin typeface="Segoe UI" pitchFamily="34" charset="0"/>
                <a:ea typeface="Segoe UI" pitchFamily="34" charset="-122"/>
                <a:cs typeface="Segoe UI" pitchFamily="34" charset="-120"/>
              </a:rPr>
              <a:t>Four rules we never break</a:t>
            </a:r>
            <a:endParaRPr lang="en-US" sz="3600" dirty="0"/>
          </a:p>
        </p:txBody>
      </p:sp>
      <p:sp>
        <p:nvSpPr>
          <p:cNvPr id="9" name="rule-0"/>
          <p:cNvSpPr/>
          <p:nvPr/>
        </p:nvSpPr>
        <p:spPr>
          <a:xfrm>
            <a:off x="731520" y="2103120"/>
            <a:ext cx="5257800" cy="1737360"/>
          </a:xfrm>
          <a:prstGeom prst="roundRect">
            <a:avLst>
              <a:gd name="adj" fmla="val 12632"/>
            </a:avLst>
          </a:prstGeom>
          <a:solidFill>
            <a:srgbClr val="FFFFFF"/>
          </a:solidFill>
          <a:ln w="12700">
            <a:solidFill>
              <a:srgbClr val="E6E8EB"/>
            </a:solidFill>
            <a:prstDash val="solid"/>
          </a:ln>
        </p:spPr>
      </p:sp>
      <p:sp>
        <p:nvSpPr>
          <p:cNvPr id="10" name="rule-badge-0"/>
          <p:cNvSpPr/>
          <p:nvPr/>
        </p:nvSpPr>
        <p:spPr>
          <a:xfrm>
            <a:off x="1051560" y="2423160"/>
            <a:ext cx="640080" cy="640080"/>
          </a:xfrm>
          <a:prstGeom prst="ellipse">
            <a:avLst/>
          </a:prstGeom>
          <a:solidFill>
            <a:srgbClr val="E3EDF5"/>
          </a:solidFill>
          <a:ln w="12700">
            <a:solidFill>
              <a:srgbClr val="E3EDF5"/>
            </a:solidFill>
            <a:prstDash val="solid"/>
          </a:ln>
        </p:spPr>
      </p:sp>
      <p:pic>
        <p:nvPicPr>
          <p:cNvPr id="11" name="rule-icon-0" descr="preencoded.png">    </p:cNvPr>
          <p:cNvPicPr>
            <a:picLocks noChangeAspect="1"/>
          </p:cNvPicPr>
          <p:nvPr/>
        </p:nvPicPr>
        <p:blipFill>
          <a:blip r:embed="rId2"/>
          <a:stretch>
            <a:fillRect/>
          </a:stretch>
        </p:blipFill>
        <p:spPr>
          <a:xfrm>
            <a:off x="1197864" y="2569464"/>
            <a:ext cx="347472" cy="347472"/>
          </a:xfrm>
          <a:prstGeom prst="rect">
            <a:avLst/>
          </a:prstGeom>
        </p:spPr>
      </p:pic>
      <p:sp>
        <p:nvSpPr>
          <p:cNvPr id="12" name="rule-title-0"/>
          <p:cNvSpPr txBox="1"/>
          <p:nvPr/>
        </p:nvSpPr>
        <p:spPr>
          <a:xfrm>
            <a:off x="1920240" y="2377440"/>
            <a:ext cx="3840480" cy="41148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Never says “safe”</a:t>
            </a:r>
            <a:endParaRPr lang="en-US" sz="2000" dirty="0"/>
          </a:p>
        </p:txBody>
      </p:sp>
      <p:sp>
        <p:nvSpPr>
          <p:cNvPr id="13" name="rule-body-0"/>
          <p:cNvSpPr txBox="1"/>
          <p:nvPr/>
        </p:nvSpPr>
        <p:spPr>
          <a:xfrm>
            <a:off x="1920240" y="2834640"/>
            <a:ext cx="3840480" cy="86868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No check can promise a call is safe, so the app never does. The halo is never green.</a:t>
            </a:r>
            <a:endParaRPr lang="en-US" sz="1500" dirty="0"/>
          </a:p>
        </p:txBody>
      </p:sp>
      <p:sp>
        <p:nvSpPr>
          <p:cNvPr id="14" name="rule-1"/>
          <p:cNvSpPr/>
          <p:nvPr/>
        </p:nvSpPr>
        <p:spPr>
          <a:xfrm>
            <a:off x="6217920" y="2103120"/>
            <a:ext cx="5257800" cy="1737360"/>
          </a:xfrm>
          <a:prstGeom prst="roundRect">
            <a:avLst>
              <a:gd name="adj" fmla="val 12632"/>
            </a:avLst>
          </a:prstGeom>
          <a:solidFill>
            <a:srgbClr val="FFFFFF"/>
          </a:solidFill>
          <a:ln w="12700">
            <a:solidFill>
              <a:srgbClr val="E6E8EB"/>
            </a:solidFill>
            <a:prstDash val="solid"/>
          </a:ln>
        </p:spPr>
      </p:sp>
      <p:sp>
        <p:nvSpPr>
          <p:cNvPr id="15" name="rule-badge-1"/>
          <p:cNvSpPr/>
          <p:nvPr/>
        </p:nvSpPr>
        <p:spPr>
          <a:xfrm>
            <a:off x="6537960" y="2423160"/>
            <a:ext cx="640080" cy="640080"/>
          </a:xfrm>
          <a:prstGeom prst="ellipse">
            <a:avLst/>
          </a:prstGeom>
          <a:solidFill>
            <a:srgbClr val="E3EDF5"/>
          </a:solidFill>
          <a:ln w="12700">
            <a:solidFill>
              <a:srgbClr val="E3EDF5"/>
            </a:solidFill>
            <a:prstDash val="solid"/>
          </a:ln>
        </p:spPr>
      </p:sp>
      <p:pic>
        <p:nvPicPr>
          <p:cNvPr id="16" name="rule-icon-1" descr="preencoded.png">    </p:cNvPr>
          <p:cNvPicPr>
            <a:picLocks noChangeAspect="1"/>
          </p:cNvPicPr>
          <p:nvPr/>
        </p:nvPicPr>
        <p:blipFill>
          <a:blip r:embed="rId3"/>
          <a:stretch>
            <a:fillRect/>
          </a:stretch>
        </p:blipFill>
        <p:spPr>
          <a:xfrm>
            <a:off x="6684264" y="2569464"/>
            <a:ext cx="347472" cy="347472"/>
          </a:xfrm>
          <a:prstGeom prst="rect">
            <a:avLst/>
          </a:prstGeom>
        </p:spPr>
      </p:pic>
      <p:sp>
        <p:nvSpPr>
          <p:cNvPr id="17" name="rule-title-1"/>
          <p:cNvSpPr txBox="1"/>
          <p:nvPr/>
        </p:nvSpPr>
        <p:spPr>
          <a:xfrm>
            <a:off x="7406640" y="2377440"/>
            <a:ext cx="3840480" cy="41148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One tap to end, a hold to go on</a:t>
            </a:r>
            <a:endParaRPr lang="en-US" sz="2000" dirty="0"/>
          </a:p>
        </p:txBody>
      </p:sp>
      <p:sp>
        <p:nvSpPr>
          <p:cNvPr id="18" name="rule-body-1"/>
          <p:cNvSpPr txBox="1"/>
          <p:nvPr/>
        </p:nvSpPr>
        <p:spPr>
          <a:xfrm>
            <a:off x="7406640" y="2834640"/>
            <a:ext cx="3840480" cy="86868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Ending the call is the biggest button. Keeping on talking takes a deliberate press and hold.</a:t>
            </a:r>
            <a:endParaRPr lang="en-US" sz="1500" dirty="0"/>
          </a:p>
        </p:txBody>
      </p:sp>
      <p:sp>
        <p:nvSpPr>
          <p:cNvPr id="19" name="rule-2"/>
          <p:cNvSpPr/>
          <p:nvPr/>
        </p:nvSpPr>
        <p:spPr>
          <a:xfrm>
            <a:off x="731520" y="4069080"/>
            <a:ext cx="5257800" cy="1737360"/>
          </a:xfrm>
          <a:prstGeom prst="roundRect">
            <a:avLst>
              <a:gd name="adj" fmla="val 12632"/>
            </a:avLst>
          </a:prstGeom>
          <a:solidFill>
            <a:srgbClr val="FFFFFF"/>
          </a:solidFill>
          <a:ln w="12700">
            <a:solidFill>
              <a:srgbClr val="E6E8EB"/>
            </a:solidFill>
            <a:prstDash val="solid"/>
          </a:ln>
        </p:spPr>
      </p:sp>
      <p:sp>
        <p:nvSpPr>
          <p:cNvPr id="20" name="rule-badge-2"/>
          <p:cNvSpPr/>
          <p:nvPr/>
        </p:nvSpPr>
        <p:spPr>
          <a:xfrm>
            <a:off x="1051560" y="4389120"/>
            <a:ext cx="640080" cy="640080"/>
          </a:xfrm>
          <a:prstGeom prst="ellipse">
            <a:avLst/>
          </a:prstGeom>
          <a:solidFill>
            <a:srgbClr val="E3EDF5"/>
          </a:solidFill>
          <a:ln w="12700">
            <a:solidFill>
              <a:srgbClr val="E3EDF5"/>
            </a:solidFill>
            <a:prstDash val="solid"/>
          </a:ln>
        </p:spPr>
      </p:sp>
      <p:pic>
        <p:nvPicPr>
          <p:cNvPr id="21" name="rule-icon-2" descr="preencoded.png">    </p:cNvPr>
          <p:cNvPicPr>
            <a:picLocks noChangeAspect="1"/>
          </p:cNvPicPr>
          <p:nvPr/>
        </p:nvPicPr>
        <p:blipFill>
          <a:blip r:embed="rId4"/>
          <a:stretch>
            <a:fillRect/>
          </a:stretch>
        </p:blipFill>
        <p:spPr>
          <a:xfrm>
            <a:off x="1197864" y="4535424"/>
            <a:ext cx="347472" cy="347472"/>
          </a:xfrm>
          <a:prstGeom prst="rect">
            <a:avLst/>
          </a:prstGeom>
        </p:spPr>
      </p:pic>
      <p:sp>
        <p:nvSpPr>
          <p:cNvPr id="22" name="rule-title-2"/>
          <p:cNvSpPr txBox="1"/>
          <p:nvPr/>
        </p:nvSpPr>
        <p:spPr>
          <a:xfrm>
            <a:off x="1920240" y="4343400"/>
            <a:ext cx="3840480" cy="41148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Nothing recorded</a:t>
            </a:r>
            <a:endParaRPr lang="en-US" sz="2000" dirty="0"/>
          </a:p>
        </p:txBody>
      </p:sp>
      <p:sp>
        <p:nvSpPr>
          <p:cNvPr id="23" name="rule-body-2"/>
          <p:cNvSpPr txBox="1"/>
          <p:nvPr/>
        </p:nvSpPr>
        <p:spPr>
          <a:xfrm>
            <a:off x="1920240" y="4800600"/>
            <a:ext cx="3840480" cy="86868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No audio and no transcript are stored. The call story keeps only request types and times.</a:t>
            </a:r>
            <a:endParaRPr lang="en-US" sz="1500" dirty="0"/>
          </a:p>
        </p:txBody>
      </p:sp>
      <p:sp>
        <p:nvSpPr>
          <p:cNvPr id="24" name="rule-3"/>
          <p:cNvSpPr/>
          <p:nvPr/>
        </p:nvSpPr>
        <p:spPr>
          <a:xfrm>
            <a:off x="6217920" y="4069080"/>
            <a:ext cx="5257800" cy="1737360"/>
          </a:xfrm>
          <a:prstGeom prst="roundRect">
            <a:avLst>
              <a:gd name="adj" fmla="val 12632"/>
            </a:avLst>
          </a:prstGeom>
          <a:solidFill>
            <a:srgbClr val="FFFFFF"/>
          </a:solidFill>
          <a:ln w="12700">
            <a:solidFill>
              <a:srgbClr val="E6E8EB"/>
            </a:solidFill>
            <a:prstDash val="solid"/>
          </a:ln>
        </p:spPr>
      </p:sp>
      <p:sp>
        <p:nvSpPr>
          <p:cNvPr id="25" name="rule-badge-3"/>
          <p:cNvSpPr/>
          <p:nvPr/>
        </p:nvSpPr>
        <p:spPr>
          <a:xfrm>
            <a:off x="6537960" y="4389120"/>
            <a:ext cx="640080" cy="640080"/>
          </a:xfrm>
          <a:prstGeom prst="ellipse">
            <a:avLst/>
          </a:prstGeom>
          <a:solidFill>
            <a:srgbClr val="E3EDF5"/>
          </a:solidFill>
          <a:ln w="12700">
            <a:solidFill>
              <a:srgbClr val="E3EDF5"/>
            </a:solidFill>
            <a:prstDash val="solid"/>
          </a:ln>
        </p:spPr>
      </p:sp>
      <p:pic>
        <p:nvPicPr>
          <p:cNvPr id="26" name="rule-icon-3" descr="preencoded.png">    </p:cNvPr>
          <p:cNvPicPr>
            <a:picLocks noChangeAspect="1"/>
          </p:cNvPicPr>
          <p:nvPr/>
        </p:nvPicPr>
        <p:blipFill>
          <a:blip r:embed="rId5"/>
          <a:stretch>
            <a:fillRect/>
          </a:stretch>
        </p:blipFill>
        <p:spPr>
          <a:xfrm>
            <a:off x="6684264" y="4535424"/>
            <a:ext cx="347472" cy="347472"/>
          </a:xfrm>
          <a:prstGeom prst="rect">
            <a:avLst/>
          </a:prstGeom>
        </p:spPr>
      </p:pic>
      <p:sp>
        <p:nvSpPr>
          <p:cNvPr id="27" name="rule-title-3"/>
          <p:cNvSpPr txBox="1"/>
          <p:nvPr/>
        </p:nvSpPr>
        <p:spPr>
          <a:xfrm>
            <a:off x="7406640" y="4343400"/>
            <a:ext cx="3840480" cy="41148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Any Android phone</a:t>
            </a:r>
            <a:endParaRPr lang="en-US" sz="2000" dirty="0"/>
          </a:p>
        </p:txBody>
      </p:sp>
      <p:sp>
        <p:nvSpPr>
          <p:cNvPr id="28" name="rule-body-3"/>
          <p:cNvSpPr txBox="1"/>
          <p:nvPr/>
        </p:nvSpPr>
        <p:spPr>
          <a:xfrm>
            <a:off x="7406640" y="4800600"/>
            <a:ext cx="3840480" cy="86868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The checking runs on our server, so a budget phone gets the same protection.</a:t>
            </a:r>
            <a:endParaRPr lang="en-US" sz="15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halo-r3"/>
          <p:cNvSpPr/>
          <p:nvPr/>
        </p:nvSpPr>
        <p:spPr>
          <a:xfrm>
            <a:off x="10664190" y="240030"/>
            <a:ext cx="1257300" cy="1257300"/>
          </a:xfrm>
          <a:prstGeom prst="ellipse">
            <a:avLst/>
          </a:prstGeom>
          <a:solidFill>
            <a:srgbClr val="226192">
              <a:alpha val="0"/>
            </a:srgbClr>
          </a:solidFill>
          <a:ln w="13970">
            <a:solidFill>
              <a:srgbClr val="226192">
                <a:alpha val="18000"/>
              </a:srgbClr>
            </a:solidFill>
            <a:prstDash val="solid"/>
          </a:ln>
        </p:spPr>
      </p:sp>
      <p:sp>
        <p:nvSpPr>
          <p:cNvPr id="3" name="!!halo-r2"/>
          <p:cNvSpPr/>
          <p:nvPr/>
        </p:nvSpPr>
        <p:spPr>
          <a:xfrm>
            <a:off x="10812780" y="388620"/>
            <a:ext cx="960120" cy="960120"/>
          </a:xfrm>
          <a:prstGeom prst="ellipse">
            <a:avLst/>
          </a:prstGeom>
          <a:solidFill>
            <a:srgbClr val="226192">
              <a:alpha val="0"/>
            </a:srgbClr>
          </a:solidFill>
          <a:ln w="13970">
            <a:solidFill>
              <a:srgbClr val="226192">
                <a:alpha val="36000"/>
              </a:srgbClr>
            </a:solidFill>
            <a:prstDash val="solid"/>
          </a:ln>
        </p:spPr>
      </p:sp>
      <p:sp>
        <p:nvSpPr>
          <p:cNvPr id="4" name="!!halo-r1"/>
          <p:cNvSpPr/>
          <p:nvPr/>
        </p:nvSpPr>
        <p:spPr>
          <a:xfrm>
            <a:off x="10949940" y="525780"/>
            <a:ext cx="685800" cy="685800"/>
          </a:xfrm>
          <a:prstGeom prst="ellipse">
            <a:avLst/>
          </a:prstGeom>
          <a:solidFill>
            <a:srgbClr val="226192">
              <a:alpha val="0"/>
            </a:srgbClr>
          </a:solidFill>
          <a:ln w="13970">
            <a:solidFill>
              <a:srgbClr val="226192">
                <a:alpha val="60000"/>
              </a:srgbClr>
            </a:solidFill>
            <a:prstDash val="solid"/>
          </a:ln>
        </p:spPr>
      </p:sp>
      <p:sp>
        <p:nvSpPr>
          <p:cNvPr id="5" name="!!halo-core"/>
          <p:cNvSpPr/>
          <p:nvPr/>
        </p:nvSpPr>
        <p:spPr>
          <a:xfrm>
            <a:off x="11064240" y="640080"/>
            <a:ext cx="457200" cy="457200"/>
          </a:xfrm>
          <a:prstGeom prst="ellipse">
            <a:avLst/>
          </a:prstGeom>
          <a:solidFill>
            <a:srgbClr val="226192"/>
          </a:solidFill>
          <a:ln w="12700">
            <a:solidFill>
              <a:srgbClr val="226192"/>
            </a:solidFill>
            <a:prstDash val="solid"/>
          </a:ln>
        </p:spPr>
      </p:sp>
      <p:pic>
        <p:nvPicPr>
          <p:cNvPr id="6" name="!!halo-icon" descr="Scam check">    </p:cNvPr>
          <p:cNvPicPr>
            <a:picLocks noChangeAspect="1"/>
          </p:cNvPicPr>
          <p:nvPr/>
        </p:nvPicPr>
        <p:blipFill>
          <a:blip r:embed="rId1"/>
          <a:stretch>
            <a:fillRect/>
          </a:stretch>
        </p:blipFill>
        <p:spPr>
          <a:xfrm>
            <a:off x="11173968" y="749808"/>
            <a:ext cx="237744" cy="237744"/>
          </a:xfrm>
          <a:prstGeom prst="rect">
            <a:avLst/>
          </a:prstGeom>
        </p:spPr>
      </p:pic>
      <p:sp>
        <p:nvSpPr>
          <p:cNvPr id="7" name="!!kicker"/>
          <p:cNvSpPr txBox="1"/>
          <p:nvPr/>
        </p:nvSpPr>
        <p:spPr>
          <a:xfrm>
            <a:off x="731520" y="685800"/>
            <a:ext cx="5486400" cy="320040"/>
          </a:xfrm>
          <a:prstGeom prst="rect">
            <a:avLst/>
          </a:prstGeom>
          <a:noFill/>
          <a:ln/>
        </p:spPr>
        <p:txBody>
          <a:bodyPr wrap="square" lIns="0" tIns="0" rIns="0" bIns="0" rtlCol="0" anchor="t"/>
          <a:lstStyle/>
          <a:p>
            <a:pPr indent="0" marL="0">
              <a:buNone/>
            </a:pPr>
            <a:r>
              <a:rPr lang="en-US" sz="1400" b="1" spc="200" kern="0" dirty="0">
                <a:solidFill>
                  <a:srgbClr val="226192"/>
                </a:solidFill>
                <a:latin typeface="Segoe UI" pitchFamily="34" charset="0"/>
                <a:ea typeface="Segoe UI" pitchFamily="34" charset="-122"/>
                <a:cs typeface="Segoe UI" pitchFamily="34" charset="-120"/>
              </a:rPr>
              <a:t>NEXT</a:t>
            </a:r>
            <a:endParaRPr lang="en-US" sz="1400" dirty="0"/>
          </a:p>
        </p:txBody>
      </p:sp>
      <p:sp>
        <p:nvSpPr>
          <p:cNvPr id="8" name="!!headline"/>
          <p:cNvSpPr txBox="1"/>
          <p:nvPr/>
        </p:nvSpPr>
        <p:spPr>
          <a:xfrm>
            <a:off x="731520" y="1051560"/>
            <a:ext cx="9601200" cy="731520"/>
          </a:xfrm>
          <a:prstGeom prst="rect">
            <a:avLst/>
          </a:prstGeom>
          <a:noFill/>
          <a:ln/>
        </p:spPr>
        <p:txBody>
          <a:bodyPr wrap="square" lIns="0" tIns="0" rIns="0" bIns="0" rtlCol="0" anchor="t"/>
          <a:lstStyle/>
          <a:p>
            <a:pPr indent="0" marL="0">
              <a:buNone/>
            </a:pPr>
            <a:r>
              <a:rPr lang="en-US" sz="3600" b="1" dirty="0">
                <a:solidFill>
                  <a:srgbClr val="1F2937"/>
                </a:solidFill>
                <a:latin typeface="Segoe UI" pitchFamily="34" charset="0"/>
                <a:ea typeface="Segoe UI" pitchFamily="34" charset="-122"/>
                <a:cs typeface="Segoe UI" pitchFamily="34" charset="-120"/>
              </a:rPr>
              <a:t>Where it goes after this weekend</a:t>
            </a:r>
            <a:endParaRPr lang="en-US" sz="3600" dirty="0"/>
          </a:p>
        </p:txBody>
      </p:sp>
      <p:sp>
        <p:nvSpPr>
          <p:cNvPr id="9" name="next-line"/>
          <p:cNvSpPr/>
          <p:nvPr/>
        </p:nvSpPr>
        <p:spPr>
          <a:xfrm>
            <a:off x="1051560" y="2606040"/>
            <a:ext cx="8229600" cy="0"/>
          </a:xfrm>
          <a:prstGeom prst="line">
            <a:avLst/>
          </a:prstGeom>
          <a:noFill/>
          <a:ln w="25400">
            <a:solidFill>
              <a:srgbClr val="C9CDD3"/>
            </a:solidFill>
            <a:prstDash val="solid"/>
          </a:ln>
        </p:spPr>
      </p:sp>
      <p:sp>
        <p:nvSpPr>
          <p:cNvPr id="10" name="next-dot-0"/>
          <p:cNvSpPr/>
          <p:nvPr/>
        </p:nvSpPr>
        <p:spPr>
          <a:xfrm>
            <a:off x="731520" y="2286000"/>
            <a:ext cx="640080" cy="640080"/>
          </a:xfrm>
          <a:prstGeom prst="ellipse">
            <a:avLst/>
          </a:prstGeom>
          <a:solidFill>
            <a:srgbClr val="226192"/>
          </a:solidFill>
          <a:ln w="25400">
            <a:solidFill>
              <a:srgbClr val="226192"/>
            </a:solidFill>
            <a:prstDash val="solid"/>
          </a:ln>
        </p:spPr>
      </p:sp>
      <p:pic>
        <p:nvPicPr>
          <p:cNvPr id="11" name="next-icon-0" descr="preencoded.png">    </p:cNvPr>
          <p:cNvPicPr>
            <a:picLocks noChangeAspect="1"/>
          </p:cNvPicPr>
          <p:nvPr/>
        </p:nvPicPr>
        <p:blipFill>
          <a:blip r:embed="rId2"/>
          <a:stretch>
            <a:fillRect/>
          </a:stretch>
        </p:blipFill>
        <p:spPr>
          <a:xfrm>
            <a:off x="886968" y="2441448"/>
            <a:ext cx="329184" cy="329184"/>
          </a:xfrm>
          <a:prstGeom prst="rect">
            <a:avLst/>
          </a:prstGeom>
        </p:spPr>
      </p:pic>
      <p:sp>
        <p:nvSpPr>
          <p:cNvPr id="12" name="next-title-0"/>
          <p:cNvSpPr txBox="1"/>
          <p:nvPr/>
        </p:nvSpPr>
        <p:spPr>
          <a:xfrm>
            <a:off x="731520" y="3200400"/>
            <a:ext cx="2468880" cy="41148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Your own number</a:t>
            </a:r>
            <a:endParaRPr lang="en-US" sz="2000" dirty="0"/>
          </a:p>
        </p:txBody>
      </p:sp>
      <p:sp>
        <p:nvSpPr>
          <p:cNvPr id="13" name="next-body-0"/>
          <p:cNvSpPr txBox="1"/>
          <p:nvPr/>
        </p:nvSpPr>
        <p:spPr>
          <a:xfrm>
            <a:off x="731520" y="3657600"/>
            <a:ext cx="2377440" cy="109728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Forward unknown calls from your number to the service.</a:t>
            </a:r>
            <a:endParaRPr lang="en-US" sz="1500" dirty="0"/>
          </a:p>
        </p:txBody>
      </p:sp>
      <p:sp>
        <p:nvSpPr>
          <p:cNvPr id="14" name="next-dot-1"/>
          <p:cNvSpPr/>
          <p:nvPr/>
        </p:nvSpPr>
        <p:spPr>
          <a:xfrm>
            <a:off x="3474720" y="2286000"/>
            <a:ext cx="640080" cy="640080"/>
          </a:xfrm>
          <a:prstGeom prst="ellipse">
            <a:avLst/>
          </a:prstGeom>
          <a:solidFill>
            <a:srgbClr val="FFFFFF"/>
          </a:solidFill>
          <a:ln w="25400">
            <a:solidFill>
              <a:srgbClr val="226192"/>
            </a:solidFill>
            <a:prstDash val="solid"/>
          </a:ln>
        </p:spPr>
      </p:sp>
      <p:pic>
        <p:nvPicPr>
          <p:cNvPr id="15" name="next-icon-1" descr="preencoded.png">    </p:cNvPr>
          <p:cNvPicPr>
            <a:picLocks noChangeAspect="1"/>
          </p:cNvPicPr>
          <p:nvPr/>
        </p:nvPicPr>
        <p:blipFill>
          <a:blip r:embed="rId3"/>
          <a:stretch>
            <a:fillRect/>
          </a:stretch>
        </p:blipFill>
        <p:spPr>
          <a:xfrm>
            <a:off x="3630168" y="2441448"/>
            <a:ext cx="329184" cy="329184"/>
          </a:xfrm>
          <a:prstGeom prst="rect">
            <a:avLst/>
          </a:prstGeom>
        </p:spPr>
      </p:pic>
      <p:sp>
        <p:nvSpPr>
          <p:cNvPr id="16" name="next-title-1"/>
          <p:cNvSpPr txBox="1"/>
          <p:nvPr/>
        </p:nvSpPr>
        <p:spPr>
          <a:xfrm>
            <a:off x="3474720" y="3200400"/>
            <a:ext cx="2468880" cy="41148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Before the call</a:t>
            </a:r>
            <a:endParaRPr lang="en-US" sz="2000" dirty="0"/>
          </a:p>
        </p:txBody>
      </p:sp>
      <p:sp>
        <p:nvSpPr>
          <p:cNvPr id="17" name="next-body-1"/>
          <p:cNvSpPr txBox="1"/>
          <p:nvPr/>
        </p:nvSpPr>
        <p:spPr>
          <a:xfrm>
            <a:off x="3474720" y="3657600"/>
            <a:ext cx="2377440" cy="109728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Flag a QR image or payment link sent in chat.</a:t>
            </a:r>
            <a:endParaRPr lang="en-US" sz="1500" dirty="0"/>
          </a:p>
        </p:txBody>
      </p:sp>
      <p:sp>
        <p:nvSpPr>
          <p:cNvPr id="18" name="next-dot-2"/>
          <p:cNvSpPr/>
          <p:nvPr/>
        </p:nvSpPr>
        <p:spPr>
          <a:xfrm>
            <a:off x="6217920" y="2286000"/>
            <a:ext cx="640080" cy="640080"/>
          </a:xfrm>
          <a:prstGeom prst="ellipse">
            <a:avLst/>
          </a:prstGeom>
          <a:solidFill>
            <a:srgbClr val="FFFFFF"/>
          </a:solidFill>
          <a:ln w="25400">
            <a:solidFill>
              <a:srgbClr val="226192"/>
            </a:solidFill>
            <a:prstDash val="solid"/>
          </a:ln>
        </p:spPr>
      </p:sp>
      <p:pic>
        <p:nvPicPr>
          <p:cNvPr id="19" name="next-icon-2" descr="preencoded.png">    </p:cNvPr>
          <p:cNvPicPr>
            <a:picLocks noChangeAspect="1"/>
          </p:cNvPicPr>
          <p:nvPr/>
        </p:nvPicPr>
        <p:blipFill>
          <a:blip r:embed="rId4"/>
          <a:stretch>
            <a:fillRect/>
          </a:stretch>
        </p:blipFill>
        <p:spPr>
          <a:xfrm>
            <a:off x="6373368" y="2441448"/>
            <a:ext cx="329184" cy="329184"/>
          </a:xfrm>
          <a:prstGeom prst="rect">
            <a:avLst/>
          </a:prstGeom>
        </p:spPr>
      </p:pic>
      <p:sp>
        <p:nvSpPr>
          <p:cNvPr id="20" name="next-title-2"/>
          <p:cNvSpPr txBox="1"/>
          <p:nvPr/>
        </p:nvSpPr>
        <p:spPr>
          <a:xfrm>
            <a:off x="6217920" y="3200400"/>
            <a:ext cx="2468880" cy="41148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Chat-app calls</a:t>
            </a:r>
            <a:endParaRPr lang="en-US" sz="2000" dirty="0"/>
          </a:p>
        </p:txBody>
      </p:sp>
      <p:sp>
        <p:nvSpPr>
          <p:cNvPr id="21" name="next-body-2"/>
          <p:cNvSpPr txBox="1"/>
          <p:nvPr/>
        </p:nvSpPr>
        <p:spPr>
          <a:xfrm>
            <a:off x="6217920" y="3657600"/>
            <a:ext cx="2377440" cy="109728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Grow the Telegram prototype into protection for calls in chat apps.</a:t>
            </a:r>
            <a:endParaRPr lang="en-US" sz="1500" dirty="0"/>
          </a:p>
        </p:txBody>
      </p:sp>
      <p:sp>
        <p:nvSpPr>
          <p:cNvPr id="22" name="next-dot-3"/>
          <p:cNvSpPr/>
          <p:nvPr/>
        </p:nvSpPr>
        <p:spPr>
          <a:xfrm>
            <a:off x="8961120" y="2286000"/>
            <a:ext cx="640080" cy="640080"/>
          </a:xfrm>
          <a:prstGeom prst="ellipse">
            <a:avLst/>
          </a:prstGeom>
          <a:solidFill>
            <a:srgbClr val="FFFFFF"/>
          </a:solidFill>
          <a:ln w="25400">
            <a:solidFill>
              <a:srgbClr val="226192"/>
            </a:solidFill>
            <a:prstDash val="solid"/>
          </a:ln>
        </p:spPr>
      </p:sp>
      <p:pic>
        <p:nvPicPr>
          <p:cNvPr id="23" name="next-icon-3" descr="preencoded.png">    </p:cNvPr>
          <p:cNvPicPr>
            <a:picLocks noChangeAspect="1"/>
          </p:cNvPicPr>
          <p:nvPr/>
        </p:nvPicPr>
        <p:blipFill>
          <a:blip r:embed="rId5"/>
          <a:stretch>
            <a:fillRect/>
          </a:stretch>
        </p:blipFill>
        <p:spPr>
          <a:xfrm>
            <a:off x="9116568" y="2441448"/>
            <a:ext cx="329184" cy="329184"/>
          </a:xfrm>
          <a:prstGeom prst="rect">
            <a:avLst/>
          </a:prstGeom>
        </p:spPr>
      </p:pic>
      <p:sp>
        <p:nvSpPr>
          <p:cNvPr id="24" name="next-title-3"/>
          <p:cNvSpPr txBox="1"/>
          <p:nvPr/>
        </p:nvSpPr>
        <p:spPr>
          <a:xfrm>
            <a:off x="8961120" y="3200400"/>
            <a:ext cx="2468880" cy="41148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On-phone model</a:t>
            </a:r>
            <a:endParaRPr lang="en-US" sz="2000" dirty="0"/>
          </a:p>
        </p:txBody>
      </p:sp>
      <p:sp>
        <p:nvSpPr>
          <p:cNvPr id="25" name="next-body-3"/>
          <p:cNvSpPr txBox="1"/>
          <p:nvPr/>
        </p:nvSpPr>
        <p:spPr>
          <a:xfrm>
            <a:off x="8961120" y="3657600"/>
            <a:ext cx="2377440" cy="109728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Keep audio on the device once budget phones can run it.</a:t>
            </a:r>
            <a:endParaRPr lang="en-US" sz="1500" dirty="0"/>
          </a:p>
        </p:txBody>
      </p:sp>
      <p:sp>
        <p:nvSpPr>
          <p:cNvPr id="26" name="!!subline"/>
          <p:cNvSpPr txBox="1"/>
          <p:nvPr/>
        </p:nvSpPr>
        <p:spPr>
          <a:xfrm>
            <a:off x="731520" y="5486400"/>
            <a:ext cx="10515600" cy="365760"/>
          </a:xfrm>
          <a:prstGeom prst="rect">
            <a:avLst/>
          </a:prstGeom>
          <a:noFill/>
          <a:ln/>
        </p:spPr>
        <p:txBody>
          <a:bodyPr wrap="square" lIns="0" tIns="0" rIns="0" bIns="0" rtlCol="0" anchor="t"/>
          <a:lstStyle/>
          <a:p>
            <a:pPr indent="0" marL="0">
              <a:buNone/>
            </a:pPr>
            <a:r>
              <a:rPr lang="en-US" sz="1600" b="1" dirty="0">
                <a:solidFill>
                  <a:srgbClr val="4B5563"/>
                </a:solidFill>
                <a:latin typeface="Segoe UI" pitchFamily="34" charset="0"/>
                <a:ea typeface="Segoe UI" pitchFamily="34" charset="-122"/>
                <a:cs typeface="Segoe UI" pitchFamily="34" charset="-120"/>
              </a:rPr>
              <a:t>Business model: platforms pay per protected call minute.</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halo-r3"/>
          <p:cNvSpPr/>
          <p:nvPr/>
        </p:nvSpPr>
        <p:spPr>
          <a:xfrm>
            <a:off x="4712818" y="491490"/>
            <a:ext cx="2766060" cy="2766060"/>
          </a:xfrm>
          <a:prstGeom prst="ellipse">
            <a:avLst/>
          </a:prstGeom>
          <a:solidFill>
            <a:srgbClr val="7DB8E8">
              <a:alpha val="0"/>
            </a:srgbClr>
          </a:solidFill>
          <a:ln w="30734">
            <a:solidFill>
              <a:srgbClr val="7DB8E8">
                <a:alpha val="20000"/>
              </a:srgbClr>
            </a:solidFill>
            <a:prstDash val="solid"/>
          </a:ln>
        </p:spPr>
      </p:sp>
      <p:sp>
        <p:nvSpPr>
          <p:cNvPr id="3" name="!!halo-r2"/>
          <p:cNvSpPr/>
          <p:nvPr/>
        </p:nvSpPr>
        <p:spPr>
          <a:xfrm>
            <a:off x="5039716" y="818388"/>
            <a:ext cx="2112264" cy="2112264"/>
          </a:xfrm>
          <a:prstGeom prst="ellipse">
            <a:avLst/>
          </a:prstGeom>
          <a:solidFill>
            <a:srgbClr val="7DB8E8">
              <a:alpha val="0"/>
            </a:srgbClr>
          </a:solidFill>
          <a:ln w="30734">
            <a:solidFill>
              <a:srgbClr val="7DB8E8">
                <a:alpha val="38000"/>
              </a:srgbClr>
            </a:solidFill>
            <a:prstDash val="solid"/>
          </a:ln>
        </p:spPr>
      </p:sp>
      <p:sp>
        <p:nvSpPr>
          <p:cNvPr id="4" name="!!halo-r1"/>
          <p:cNvSpPr/>
          <p:nvPr/>
        </p:nvSpPr>
        <p:spPr>
          <a:xfrm>
            <a:off x="5341468" y="1120140"/>
            <a:ext cx="1508760" cy="1508760"/>
          </a:xfrm>
          <a:prstGeom prst="ellipse">
            <a:avLst/>
          </a:prstGeom>
          <a:solidFill>
            <a:srgbClr val="7DB8E8">
              <a:alpha val="0"/>
            </a:srgbClr>
          </a:solidFill>
          <a:ln w="30734">
            <a:solidFill>
              <a:srgbClr val="7DB8E8">
                <a:alpha val="62000"/>
              </a:srgbClr>
            </a:solidFill>
            <a:prstDash val="solid"/>
          </a:ln>
        </p:spPr>
      </p:sp>
      <p:sp>
        <p:nvSpPr>
          <p:cNvPr id="5" name="!!halo-core"/>
          <p:cNvSpPr/>
          <p:nvPr/>
        </p:nvSpPr>
        <p:spPr>
          <a:xfrm>
            <a:off x="5592928" y="1371600"/>
            <a:ext cx="1005840" cy="1005840"/>
          </a:xfrm>
          <a:prstGeom prst="ellipse">
            <a:avLst/>
          </a:prstGeom>
          <a:solidFill>
            <a:srgbClr val="1B3550"/>
          </a:solidFill>
          <a:ln w="12700">
            <a:solidFill>
              <a:srgbClr val="1B3550"/>
            </a:solidFill>
            <a:prstDash val="solid"/>
          </a:ln>
        </p:spPr>
      </p:sp>
      <p:pic>
        <p:nvPicPr>
          <p:cNvPr id="6" name="!!halo-icon" descr="Scam check">    </p:cNvPr>
          <p:cNvPicPr>
            <a:picLocks noChangeAspect="1"/>
          </p:cNvPicPr>
          <p:nvPr/>
        </p:nvPicPr>
        <p:blipFill>
          <a:blip r:embed="rId1"/>
          <a:stretch>
            <a:fillRect/>
          </a:stretch>
        </p:blipFill>
        <p:spPr>
          <a:xfrm>
            <a:off x="5834329" y="1613002"/>
            <a:ext cx="523037" cy="523037"/>
          </a:xfrm>
          <a:prstGeom prst="rect">
            <a:avLst/>
          </a:prstGeom>
        </p:spPr>
      </p:pic>
      <p:sp>
        <p:nvSpPr>
          <p:cNvPr id="7" name="!!kicker"/>
          <p:cNvSpPr txBox="1"/>
          <p:nvPr/>
        </p:nvSpPr>
        <p:spPr>
          <a:xfrm>
            <a:off x="1097280" y="3703320"/>
            <a:ext cx="9997135" cy="822960"/>
          </a:xfrm>
          <a:prstGeom prst="rect">
            <a:avLst/>
          </a:prstGeom>
          <a:noFill/>
          <a:ln/>
        </p:spPr>
        <p:txBody>
          <a:bodyPr wrap="square" lIns="0" tIns="0" rIns="0" bIns="0" rtlCol="0" anchor="t"/>
          <a:lstStyle/>
          <a:p>
            <a:pPr algn="ctr" indent="0" marL="0">
              <a:buNone/>
            </a:pPr>
            <a:r>
              <a:rPr lang="en-US" sz="2000" dirty="0">
                <a:solidFill>
                  <a:srgbClr val="A9B6C3"/>
                </a:solidFill>
                <a:latin typeface="Segoe UI" pitchFamily="34" charset="0"/>
                <a:ea typeface="Segoe UI" pitchFamily="34" charset="-122"/>
                <a:cs typeface="Segoe UI" pitchFamily="34" charset="-120"/>
              </a:rPr>
              <a:t>Google protects Hindi and English calls on a Pixel. Truecaller tells you who's calling.</a:t>
            </a:r>
            <a:endParaRPr lang="en-US" sz="2000" dirty="0"/>
          </a:p>
        </p:txBody>
      </p:sp>
      <p:sp>
        <p:nvSpPr>
          <p:cNvPr id="8" name="!!headline"/>
          <p:cNvSpPr txBox="1"/>
          <p:nvPr/>
        </p:nvSpPr>
        <p:spPr>
          <a:xfrm>
            <a:off x="1097280" y="4434840"/>
            <a:ext cx="9997135" cy="1280160"/>
          </a:xfrm>
          <a:prstGeom prst="rect">
            <a:avLst/>
          </a:prstGeom>
          <a:noFill/>
          <a:ln/>
        </p:spPr>
        <p:txBody>
          <a:bodyPr wrap="square" lIns="0" tIns="0" rIns="0" bIns="0" rtlCol="0" anchor="t"/>
          <a:lstStyle/>
          <a:p>
            <a:pPr algn="ctr" indent="0" marL="0">
              <a:buNone/>
            </a:pPr>
            <a:r>
              <a:rPr lang="en-US" sz="3200" b="1" dirty="0">
                <a:solidFill>
                  <a:srgbClr val="FFFFFF"/>
                </a:solidFill>
                <a:latin typeface="Segoe UI" pitchFamily="34" charset="0"/>
                <a:ea typeface="Segoe UI" pitchFamily="34" charset="-122"/>
                <a:cs typeface="Segoe UI" pitchFamily="34" charset="-120"/>
              </a:rPr>
              <a:t>Edgerunners listens for what they're asking you to do, and warns only you, in time to hang up.</a:t>
            </a:r>
            <a:endParaRPr lang="en-US" sz="3200" dirty="0"/>
          </a:p>
        </p:txBody>
      </p:sp>
      <p:sp>
        <p:nvSpPr>
          <p:cNvPr id="9" name="!!subline"/>
          <p:cNvSpPr txBox="1"/>
          <p:nvPr/>
        </p:nvSpPr>
        <p:spPr>
          <a:xfrm>
            <a:off x="1097280" y="5897880"/>
            <a:ext cx="9997135" cy="365760"/>
          </a:xfrm>
          <a:prstGeom prst="rect">
            <a:avLst/>
          </a:prstGeom>
          <a:noFill/>
          <a:ln/>
        </p:spPr>
        <p:txBody>
          <a:bodyPr wrap="square" lIns="0" tIns="0" rIns="0" bIns="0" rtlCol="0" anchor="t"/>
          <a:lstStyle/>
          <a:p>
            <a:pPr algn="ctr" indent="0" marL="0">
              <a:buNone/>
            </a:pPr>
            <a:r>
              <a:rPr lang="en-US" sz="1600" b="1" dirty="0">
                <a:solidFill>
                  <a:srgbClr val="7DB8E8"/>
                </a:solidFill>
                <a:latin typeface="Segoe UI" pitchFamily="34" charset="0"/>
                <a:ea typeface="Segoe UI" pitchFamily="34" charset="-122"/>
                <a:cs typeface="Segoe UI" pitchFamily="34" charset="-120"/>
              </a:rPr>
              <a:t>Thank you</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halo-r3"/>
          <p:cNvSpPr/>
          <p:nvPr/>
        </p:nvSpPr>
        <p:spPr>
          <a:xfrm>
            <a:off x="10664190" y="240030"/>
            <a:ext cx="1257300" cy="1257300"/>
          </a:xfrm>
          <a:prstGeom prst="ellipse">
            <a:avLst/>
          </a:prstGeom>
          <a:solidFill>
            <a:srgbClr val="226192">
              <a:alpha val="0"/>
            </a:srgbClr>
          </a:solidFill>
          <a:ln w="13970">
            <a:solidFill>
              <a:srgbClr val="226192">
                <a:alpha val="18000"/>
              </a:srgbClr>
            </a:solidFill>
            <a:prstDash val="solid"/>
          </a:ln>
        </p:spPr>
      </p:sp>
      <p:sp>
        <p:nvSpPr>
          <p:cNvPr id="3" name="!!halo-r2"/>
          <p:cNvSpPr/>
          <p:nvPr/>
        </p:nvSpPr>
        <p:spPr>
          <a:xfrm>
            <a:off x="10812780" y="388620"/>
            <a:ext cx="960120" cy="960120"/>
          </a:xfrm>
          <a:prstGeom prst="ellipse">
            <a:avLst/>
          </a:prstGeom>
          <a:solidFill>
            <a:srgbClr val="226192">
              <a:alpha val="0"/>
            </a:srgbClr>
          </a:solidFill>
          <a:ln w="13970">
            <a:solidFill>
              <a:srgbClr val="226192">
                <a:alpha val="36000"/>
              </a:srgbClr>
            </a:solidFill>
            <a:prstDash val="solid"/>
          </a:ln>
        </p:spPr>
      </p:sp>
      <p:sp>
        <p:nvSpPr>
          <p:cNvPr id="4" name="!!halo-r1"/>
          <p:cNvSpPr/>
          <p:nvPr/>
        </p:nvSpPr>
        <p:spPr>
          <a:xfrm>
            <a:off x="10949940" y="525780"/>
            <a:ext cx="685800" cy="685800"/>
          </a:xfrm>
          <a:prstGeom prst="ellipse">
            <a:avLst/>
          </a:prstGeom>
          <a:solidFill>
            <a:srgbClr val="226192">
              <a:alpha val="0"/>
            </a:srgbClr>
          </a:solidFill>
          <a:ln w="13970">
            <a:solidFill>
              <a:srgbClr val="226192">
                <a:alpha val="60000"/>
              </a:srgbClr>
            </a:solidFill>
            <a:prstDash val="solid"/>
          </a:ln>
        </p:spPr>
      </p:sp>
      <p:sp>
        <p:nvSpPr>
          <p:cNvPr id="5" name="!!halo-core"/>
          <p:cNvSpPr/>
          <p:nvPr/>
        </p:nvSpPr>
        <p:spPr>
          <a:xfrm>
            <a:off x="11064240" y="640080"/>
            <a:ext cx="457200" cy="457200"/>
          </a:xfrm>
          <a:prstGeom prst="ellipse">
            <a:avLst/>
          </a:prstGeom>
          <a:solidFill>
            <a:srgbClr val="226192"/>
          </a:solidFill>
          <a:ln w="12700">
            <a:solidFill>
              <a:srgbClr val="226192"/>
            </a:solidFill>
            <a:prstDash val="solid"/>
          </a:ln>
        </p:spPr>
      </p:sp>
      <p:pic>
        <p:nvPicPr>
          <p:cNvPr id="6" name="!!halo-icon" descr="Scam check">    </p:cNvPr>
          <p:cNvPicPr>
            <a:picLocks noChangeAspect="1"/>
          </p:cNvPicPr>
          <p:nvPr/>
        </p:nvPicPr>
        <p:blipFill>
          <a:blip r:embed="rId1"/>
          <a:stretch>
            <a:fillRect/>
          </a:stretch>
        </p:blipFill>
        <p:spPr>
          <a:xfrm>
            <a:off x="11173968" y="749808"/>
            <a:ext cx="237744" cy="237744"/>
          </a:xfrm>
          <a:prstGeom prst="rect">
            <a:avLst/>
          </a:prstGeom>
        </p:spPr>
      </p:pic>
      <p:sp>
        <p:nvSpPr>
          <p:cNvPr id="7" name="!!kicker"/>
          <p:cNvSpPr txBox="1"/>
          <p:nvPr/>
        </p:nvSpPr>
        <p:spPr>
          <a:xfrm>
            <a:off x="731520" y="685800"/>
            <a:ext cx="5486400" cy="320040"/>
          </a:xfrm>
          <a:prstGeom prst="rect">
            <a:avLst/>
          </a:prstGeom>
          <a:noFill/>
          <a:ln/>
        </p:spPr>
        <p:txBody>
          <a:bodyPr wrap="square" lIns="0" tIns="0" rIns="0" bIns="0" rtlCol="0" anchor="t"/>
          <a:lstStyle/>
          <a:p>
            <a:pPr indent="0" marL="0">
              <a:buNone/>
            </a:pPr>
            <a:r>
              <a:rPr lang="en-US" sz="1400" b="1" spc="200" kern="0" dirty="0">
                <a:solidFill>
                  <a:srgbClr val="226192"/>
                </a:solidFill>
                <a:latin typeface="Segoe UI" pitchFamily="34" charset="0"/>
                <a:ea typeface="Segoe UI" pitchFamily="34" charset="-122"/>
                <a:cs typeface="Segoe UI" pitchFamily="34" charset="-120"/>
              </a:rPr>
              <a:t>WHAT WORKS TODAY</a:t>
            </a:r>
            <a:endParaRPr lang="en-US" sz="1400" dirty="0"/>
          </a:p>
        </p:txBody>
      </p:sp>
      <p:sp>
        <p:nvSpPr>
          <p:cNvPr id="8" name="!!headline"/>
          <p:cNvSpPr txBox="1"/>
          <p:nvPr/>
        </p:nvSpPr>
        <p:spPr>
          <a:xfrm>
            <a:off x="731520" y="1051560"/>
            <a:ext cx="9601200" cy="731520"/>
          </a:xfrm>
          <a:prstGeom prst="rect">
            <a:avLst/>
          </a:prstGeom>
          <a:noFill/>
          <a:ln/>
        </p:spPr>
        <p:txBody>
          <a:bodyPr wrap="square" lIns="0" tIns="0" rIns="0" bIns="0" rtlCol="0" anchor="t"/>
          <a:lstStyle/>
          <a:p>
            <a:pPr indent="0" marL="0">
              <a:buNone/>
            </a:pPr>
            <a:r>
              <a:rPr lang="en-US" sz="3600" b="1" dirty="0">
                <a:solidFill>
                  <a:srgbClr val="1F2937"/>
                </a:solidFill>
                <a:latin typeface="Segoe UI" pitchFamily="34" charset="0"/>
                <a:ea typeface="Segoe UI" pitchFamily="34" charset="-122"/>
                <a:cs typeface="Segoe UI" pitchFamily="34" charset="-120"/>
              </a:rPr>
              <a:t>Built this weekend</a:t>
            </a:r>
            <a:endParaRPr lang="en-US" sz="3600" dirty="0"/>
          </a:p>
        </p:txBody>
      </p:sp>
      <p:sp>
        <p:nvSpPr>
          <p:cNvPr id="9" name="built-0"/>
          <p:cNvSpPr/>
          <p:nvPr/>
        </p:nvSpPr>
        <p:spPr>
          <a:xfrm>
            <a:off x="731520" y="2103120"/>
            <a:ext cx="5257800" cy="1737360"/>
          </a:xfrm>
          <a:prstGeom prst="roundRect">
            <a:avLst>
              <a:gd name="adj" fmla="val 12632"/>
            </a:avLst>
          </a:prstGeom>
          <a:solidFill>
            <a:srgbClr val="FFFFFF"/>
          </a:solidFill>
          <a:ln w="12700">
            <a:solidFill>
              <a:srgbClr val="E6E8EB"/>
            </a:solidFill>
            <a:prstDash val="solid"/>
          </a:ln>
        </p:spPr>
      </p:sp>
      <p:sp>
        <p:nvSpPr>
          <p:cNvPr id="10" name="built-badge-0"/>
          <p:cNvSpPr/>
          <p:nvPr/>
        </p:nvSpPr>
        <p:spPr>
          <a:xfrm>
            <a:off x="1051560" y="2423160"/>
            <a:ext cx="640080" cy="640080"/>
          </a:xfrm>
          <a:prstGeom prst="ellipse">
            <a:avLst/>
          </a:prstGeom>
          <a:solidFill>
            <a:srgbClr val="E3EDF5"/>
          </a:solidFill>
          <a:ln w="12700">
            <a:solidFill>
              <a:srgbClr val="E3EDF5"/>
            </a:solidFill>
            <a:prstDash val="solid"/>
          </a:ln>
        </p:spPr>
      </p:sp>
      <p:pic>
        <p:nvPicPr>
          <p:cNvPr id="11" name="built-icon-0" descr="preencoded.png">    </p:cNvPr>
          <p:cNvPicPr>
            <a:picLocks noChangeAspect="1"/>
          </p:cNvPicPr>
          <p:nvPr/>
        </p:nvPicPr>
        <p:blipFill>
          <a:blip r:embed="rId2"/>
          <a:stretch>
            <a:fillRect/>
          </a:stretch>
        </p:blipFill>
        <p:spPr>
          <a:xfrm>
            <a:off x="1197864" y="2569464"/>
            <a:ext cx="347472" cy="347472"/>
          </a:xfrm>
          <a:prstGeom prst="rect">
            <a:avLst/>
          </a:prstGeom>
        </p:spPr>
      </p:pic>
      <p:sp>
        <p:nvSpPr>
          <p:cNvPr id="12" name="built-title-0"/>
          <p:cNvSpPr txBox="1"/>
          <p:nvPr/>
        </p:nvSpPr>
        <p:spPr>
          <a:xfrm>
            <a:off x="1920240" y="2377440"/>
            <a:ext cx="3840480" cy="41148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The Android app</a:t>
            </a:r>
            <a:endParaRPr lang="en-US" sz="2000" dirty="0"/>
          </a:p>
        </p:txBody>
      </p:sp>
      <p:sp>
        <p:nvSpPr>
          <p:cNvPr id="13" name="built-body-0"/>
          <p:cNvSpPr txBox="1"/>
          <p:nvPr/>
        </p:nvSpPr>
        <p:spPr>
          <a:xfrm>
            <a:off x="1920240" y="2834640"/>
            <a:ext cx="3840480" cy="86868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Call screens, an alert that changes its look, and “What they said” chips, now for screen-share asks too.</a:t>
            </a:r>
            <a:endParaRPr lang="en-US" sz="1500" dirty="0"/>
          </a:p>
        </p:txBody>
      </p:sp>
      <p:sp>
        <p:nvSpPr>
          <p:cNvPr id="14" name="built-1"/>
          <p:cNvSpPr/>
          <p:nvPr/>
        </p:nvSpPr>
        <p:spPr>
          <a:xfrm>
            <a:off x="6217920" y="2103120"/>
            <a:ext cx="5257800" cy="1737360"/>
          </a:xfrm>
          <a:prstGeom prst="roundRect">
            <a:avLst>
              <a:gd name="adj" fmla="val 12632"/>
            </a:avLst>
          </a:prstGeom>
          <a:solidFill>
            <a:srgbClr val="FFFFFF"/>
          </a:solidFill>
          <a:ln w="12700">
            <a:solidFill>
              <a:srgbClr val="E6E8EB"/>
            </a:solidFill>
            <a:prstDash val="solid"/>
          </a:ln>
        </p:spPr>
      </p:sp>
      <p:sp>
        <p:nvSpPr>
          <p:cNvPr id="15" name="built-badge-1"/>
          <p:cNvSpPr/>
          <p:nvPr/>
        </p:nvSpPr>
        <p:spPr>
          <a:xfrm>
            <a:off x="6537960" y="2423160"/>
            <a:ext cx="640080" cy="640080"/>
          </a:xfrm>
          <a:prstGeom prst="ellipse">
            <a:avLst/>
          </a:prstGeom>
          <a:solidFill>
            <a:srgbClr val="E3EDF5"/>
          </a:solidFill>
          <a:ln w="12700">
            <a:solidFill>
              <a:srgbClr val="E3EDF5"/>
            </a:solidFill>
            <a:prstDash val="solid"/>
          </a:ln>
        </p:spPr>
      </p:sp>
      <p:pic>
        <p:nvPicPr>
          <p:cNvPr id="16" name="built-icon-1" descr="preencoded.png">    </p:cNvPr>
          <p:cNvPicPr>
            <a:picLocks noChangeAspect="1"/>
          </p:cNvPicPr>
          <p:nvPr/>
        </p:nvPicPr>
        <p:blipFill>
          <a:blip r:embed="rId3"/>
          <a:stretch>
            <a:fillRect/>
          </a:stretch>
        </p:blipFill>
        <p:spPr>
          <a:xfrm>
            <a:off x="6684264" y="2569464"/>
            <a:ext cx="347472" cy="347472"/>
          </a:xfrm>
          <a:prstGeom prst="rect">
            <a:avLst/>
          </a:prstGeom>
        </p:spPr>
      </p:pic>
      <p:sp>
        <p:nvSpPr>
          <p:cNvPr id="17" name="built-title-1"/>
          <p:cNvSpPr txBox="1"/>
          <p:nvPr/>
        </p:nvSpPr>
        <p:spPr>
          <a:xfrm>
            <a:off x="7406640" y="2377440"/>
            <a:ext cx="3840480" cy="41148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Warnings only you get</a:t>
            </a:r>
            <a:endParaRPr lang="en-US" sz="2000" dirty="0"/>
          </a:p>
        </p:txBody>
      </p:sp>
      <p:sp>
        <p:nvSpPr>
          <p:cNvPr id="18" name="built-body-1"/>
          <p:cNvSpPr txBox="1"/>
          <p:nvPr/>
        </p:nvSpPr>
        <p:spPr>
          <a:xfrm>
            <a:off x="7406640" y="2834640"/>
            <a:ext cx="3840480" cy="86868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A private warning channel, scripted demo calls, and a policy that alone sets the level. 57 tests pass.</a:t>
            </a:r>
            <a:endParaRPr lang="en-US" sz="1500" dirty="0"/>
          </a:p>
        </p:txBody>
      </p:sp>
      <p:sp>
        <p:nvSpPr>
          <p:cNvPr id="19" name="built-2"/>
          <p:cNvSpPr/>
          <p:nvPr/>
        </p:nvSpPr>
        <p:spPr>
          <a:xfrm>
            <a:off x="731520" y="4069080"/>
            <a:ext cx="5257800" cy="1737360"/>
          </a:xfrm>
          <a:prstGeom prst="roundRect">
            <a:avLst>
              <a:gd name="adj" fmla="val 12632"/>
            </a:avLst>
          </a:prstGeom>
          <a:solidFill>
            <a:srgbClr val="FFFFFF"/>
          </a:solidFill>
          <a:ln w="12700">
            <a:solidFill>
              <a:srgbClr val="E6E8EB"/>
            </a:solidFill>
            <a:prstDash val="solid"/>
          </a:ln>
        </p:spPr>
      </p:sp>
      <p:sp>
        <p:nvSpPr>
          <p:cNvPr id="20" name="built-badge-2"/>
          <p:cNvSpPr/>
          <p:nvPr/>
        </p:nvSpPr>
        <p:spPr>
          <a:xfrm>
            <a:off x="1051560" y="4389120"/>
            <a:ext cx="640080" cy="640080"/>
          </a:xfrm>
          <a:prstGeom prst="ellipse">
            <a:avLst/>
          </a:prstGeom>
          <a:solidFill>
            <a:srgbClr val="E3EDF5"/>
          </a:solidFill>
          <a:ln w="12700">
            <a:solidFill>
              <a:srgbClr val="E3EDF5"/>
            </a:solidFill>
            <a:prstDash val="solid"/>
          </a:ln>
        </p:spPr>
      </p:sp>
      <p:pic>
        <p:nvPicPr>
          <p:cNvPr id="21" name="built-icon-2" descr="preencoded.png">    </p:cNvPr>
          <p:cNvPicPr>
            <a:picLocks noChangeAspect="1"/>
          </p:cNvPicPr>
          <p:nvPr/>
        </p:nvPicPr>
        <p:blipFill>
          <a:blip r:embed="rId4"/>
          <a:stretch>
            <a:fillRect/>
          </a:stretch>
        </p:blipFill>
        <p:spPr>
          <a:xfrm>
            <a:off x="1197864" y="4535424"/>
            <a:ext cx="347472" cy="347472"/>
          </a:xfrm>
          <a:prstGeom prst="rect">
            <a:avLst/>
          </a:prstGeom>
        </p:spPr>
      </p:pic>
      <p:sp>
        <p:nvSpPr>
          <p:cNvPr id="22" name="built-title-2"/>
          <p:cNvSpPr txBox="1"/>
          <p:nvPr/>
        </p:nvSpPr>
        <p:spPr>
          <a:xfrm>
            <a:off x="1920240" y="4343400"/>
            <a:ext cx="3840480" cy="41148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A detection engine</a:t>
            </a:r>
            <a:endParaRPr lang="en-US" sz="2000" dirty="0"/>
          </a:p>
        </p:txBody>
      </p:sp>
      <p:sp>
        <p:nvSpPr>
          <p:cNvPr id="23" name="built-body-2"/>
          <p:cNvSpPr txBox="1"/>
          <p:nvPr/>
        </p:nvSpPr>
        <p:spPr>
          <a:xfrm>
            <a:off x="1920240" y="4800600"/>
            <a:ext cx="3840480" cy="86868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Live Sarvam speech-to-text, rules that ignore safety advice, and a RAG check on English and Hindi scam calls.</a:t>
            </a:r>
            <a:endParaRPr lang="en-US" sz="1500" dirty="0"/>
          </a:p>
        </p:txBody>
      </p:sp>
      <p:sp>
        <p:nvSpPr>
          <p:cNvPr id="24" name="built-3"/>
          <p:cNvSpPr/>
          <p:nvPr/>
        </p:nvSpPr>
        <p:spPr>
          <a:xfrm>
            <a:off x="6217920" y="4069080"/>
            <a:ext cx="5257800" cy="1737360"/>
          </a:xfrm>
          <a:prstGeom prst="roundRect">
            <a:avLst>
              <a:gd name="adj" fmla="val 12632"/>
            </a:avLst>
          </a:prstGeom>
          <a:solidFill>
            <a:srgbClr val="FFFFFF"/>
          </a:solidFill>
          <a:ln w="12700">
            <a:solidFill>
              <a:srgbClr val="E6E8EB"/>
            </a:solidFill>
            <a:prstDash val="solid"/>
          </a:ln>
        </p:spPr>
      </p:sp>
      <p:sp>
        <p:nvSpPr>
          <p:cNvPr id="25" name="built-badge-3"/>
          <p:cNvSpPr/>
          <p:nvPr/>
        </p:nvSpPr>
        <p:spPr>
          <a:xfrm>
            <a:off x="6537960" y="4389120"/>
            <a:ext cx="640080" cy="640080"/>
          </a:xfrm>
          <a:prstGeom prst="ellipse">
            <a:avLst/>
          </a:prstGeom>
          <a:solidFill>
            <a:srgbClr val="E3EDF5"/>
          </a:solidFill>
          <a:ln w="12700">
            <a:solidFill>
              <a:srgbClr val="E3EDF5"/>
            </a:solidFill>
            <a:prstDash val="solid"/>
          </a:ln>
        </p:spPr>
      </p:sp>
      <p:pic>
        <p:nvPicPr>
          <p:cNvPr id="26" name="built-icon-3" descr="preencoded.png">    </p:cNvPr>
          <p:cNvPicPr>
            <a:picLocks noChangeAspect="1"/>
          </p:cNvPicPr>
          <p:nvPr/>
        </p:nvPicPr>
        <p:blipFill>
          <a:blip r:embed="rId5"/>
          <a:stretch>
            <a:fillRect/>
          </a:stretch>
        </p:blipFill>
        <p:spPr>
          <a:xfrm>
            <a:off x="6684264" y="4535424"/>
            <a:ext cx="347472" cy="347472"/>
          </a:xfrm>
          <a:prstGeom prst="rect">
            <a:avLst/>
          </a:prstGeom>
        </p:spPr>
      </p:pic>
      <p:sp>
        <p:nvSpPr>
          <p:cNvPr id="27" name="built-title-3"/>
          <p:cNvSpPr txBox="1"/>
          <p:nvPr/>
        </p:nvSpPr>
        <p:spPr>
          <a:xfrm>
            <a:off x="7406640" y="4343400"/>
            <a:ext cx="3840480" cy="41148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Telegram calls, prototyped</a:t>
            </a:r>
            <a:endParaRPr lang="en-US" sz="2000" dirty="0"/>
          </a:p>
        </p:txBody>
      </p:sp>
      <p:sp>
        <p:nvSpPr>
          <p:cNvPr id="28" name="built-body-3"/>
          <p:cNvSpPr txBox="1"/>
          <p:nvPr/>
        </p:nvSpPr>
        <p:spPr>
          <a:xfrm>
            <a:off x="7406640" y="4800600"/>
            <a:ext cx="3840480" cy="86868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Hearing mode takes a Telegram Desktop call’s audio and checks it live in the browser.</a:t>
            </a:r>
            <a:endParaRPr lang="en-US" sz="1500" dirty="0"/>
          </a:p>
        </p:txBody>
      </p:sp>
      <p:sp>
        <p:nvSpPr>
          <p:cNvPr id="29" name="!!subline"/>
          <p:cNvSpPr txBox="1"/>
          <p:nvPr/>
        </p:nvSpPr>
        <p:spPr>
          <a:xfrm>
            <a:off x="731520" y="6035040"/>
            <a:ext cx="10515600" cy="365760"/>
          </a:xfrm>
          <a:prstGeom prst="rect">
            <a:avLst/>
          </a:prstGeom>
          <a:noFill/>
          <a:ln>
            <a:noFill/>
          </a:ln>
        </p:spPr>
        <p:txBody>
          <a:bodyPr wrap="square" lIns="0" tIns="0" rIns="0" bIns="0" rtlCol="0" anchor="t"/>
          <a:lstStyle/>
          <a:p>
            <a:pPr indent="0" marL="0">
              <a:buNone/>
            </a:pPr>
            <a:r>
              <a:rPr lang="en-US" sz="1600" b="1" dirty="0">
                <a:solidFill>
                  <a:srgbClr val="4B5563"/>
                </a:solidFill>
                <a:latin typeface="Segoe UI" pitchFamily="34" charset="0"/>
                <a:ea typeface="Segoe UI" pitchFamily="34" charset="-122"/>
                <a:cs typeface="Segoe UI" pitchFamily="34" charset="-120"/>
              </a:rPr>
              <a:t>Still to connect: Twilio call audio, the engine into our plug-in socket, voice warnings.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theme/theme1.xml><?xml version="1.0" encoding="utf-8"?>
<a:theme xmlns:a="http://schemas.openxmlformats.org/drawingml/2006/main" name="Edgerunners Guardian">
  <a:themeElements>
    <a:clrScheme name="Edgerunners Guardian">
      <a:dk1>
        <a:srgbClr val="1F2937"/>
      </a:dk1>
      <a:lt1>
        <a:srgbClr val="FFFFFF"/>
      </a:lt1>
      <a:dk2>
        <a:srgbClr val="0E1A27"/>
      </a:dk2>
      <a:lt2>
        <a:srgbClr val="FAFAF8"/>
      </a:lt2>
      <a:accent1>
        <a:srgbClr val="226192"/>
      </a:accent1>
      <a:accent2>
        <a:srgbClr val="7DB8E8"/>
      </a:accent2>
      <a:accent3>
        <a:srgbClr val="F5B83D"/>
      </a:accent3>
      <a:accent4>
        <a:srgbClr val="8F1D16"/>
      </a:accent4>
      <a:accent5>
        <a:srgbClr val="E3EDF5"/>
      </a:accent5>
      <a:accent6>
        <a:srgbClr val="F4BEBB"/>
      </a:accent6>
      <a:hlink>
        <a:srgbClr val="226192"/>
      </a:hlink>
      <a:folHlink>
        <a:srgbClr val="123A58"/>
      </a:folHlink>
    </a:clrScheme>
    <a:fontScheme name="Edgerunners Guardian">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Edgerunners: live scam protection</dc:title>
  <dc:subject>PptxGenJS Presentation</dc:subject>
  <dc:creator>Team Edgerunners</dc:creator>
  <cp:lastModifiedBy>Team Edgerunners</cp:lastModifiedBy>
  <cp:revision>1</cp:revision>
  <dcterms:created xsi:type="dcterms:W3CDTF">2026-10-22T11:09:32Z</dcterms:created>
  <dcterms:modified xsi:type="dcterms:W3CDTF">2026-10-22T11:09:32Z</dcterms:modified>
</cp:coreProperties>
</file>