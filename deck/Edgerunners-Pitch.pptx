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problem" id="{70cbbfca-85d6-4761-b697-1cb23ea162bf}">
          <p14:sldIdLst>
            <p14:sldId id="256"/>
            <p14:sldId id="257"/>
            <p14:sldId id="258"/>
            <p14:sldId id="259"/>
          </p14:sldIdLst>
        </p14:section>
        <p14:section name="Our answer" id="{7b0a4747-02fc-0c98-6e17-785251c90cfc}">
          <p14:sldIdLst>
            <p14:sldId id="260"/>
            <p14:sldId id="261"/>
          </p14:sldIdLst>
        </p14:section>
        <p14:section name="Demo calls" id="{ac424698-d8ce-22d1-0266-ea43671bd169}">
          <p14:sldIdLst>
            <p14:sldId id="262"/>
            <p14:sldId id="263"/>
            <p14:sldId id="264"/>
            <p14:sldId id="265"/>
            <p14:sldId id="266"/>
            <p14:sldId id="267"/>
            <p14:sldId id="268"/>
            <p14:sldId id="269"/>
            <p14:sldId id="270"/>
          </p14:sldIdLst>
        </p14:section>
        <p14:section name="How it works" id="{0bf3ffa1-935a-0951-9626-2718ed58f026}">
          <p14:sldIdLst>
            <p14:sldId id="271"/>
            <p14:sldId id="272"/>
            <p14:sldId id="273"/>
          </p14:sldIdLst>
        </p14:section>
        <p14:section name="Close" id="{71913aa7-0edf-fcbd-9d67-2ff961bc615d}">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someone in Ludhiana selling a scooter online. A seller calls. He's friendly. He says: I'm sending the money now, just scan this QR code and it'll come straight to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She scans. She enters her PIN. And the money doesn't come in. It goes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common payment trick on Indian marketplaces. OLX warns about it. The Delhi Police cyber cell warns about it. And it still works, because in the moment, on the phone, it sounds reasonable.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protection today. Google warns you during scam calls, in Hindi and English, on a Pixel or a recent flagship. Truecaller tells you who is calling, from numbers other people reported. A scammer on a fresh SIM looks clean.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asked a different question. Not who is calling. What are they asking you to do? Edgerunners listens for the request itself: scan a QR to receive money, type your UPI PIN, share an OTP.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a call to play it. Each one ends with buttons to come back here or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[CALLER] is calling from a normal phone. No app on that side. Our user answers in Edgerunners.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 this ring? That's scam check. It breathes slowly while it listens. You can forget it's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chime and the buzz came [MEASURED: X] seconds after he asked. The ring turned amber: we're checking.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 risk. It tells her exactly what happened, then the truth, then what to do. End call is one tap. Keeping on talking means pressing and holding. And the caller heard nothing. Click End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call, a short story: when we stepped in, what she chose. Nothing from the call was recorded or kept.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flow, different scam: a caller pretending to be the bank asks for the OTP.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 risk, every time: an OTP request on a call is never routine. Click End call to go back to the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calls are like this. The app stays out of the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never says a call is safe, because no check can promise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caller dials our number through Twilio. The caller's audio streams to Sarvam's speech recognition, which handles Punjabi, Hindi, English and mixed speech. Two checks run: an instant phrase check for the first warning, and an AI check that confirms the level. The warning goes only to the protected user's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rules we never break: the app never says a call is safe, and we store no audio and no transcript.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only; none of this is built yet. Say so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[TEAM NAMES].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IGHT">
    <p:bg>
      <p:bgPr>
        <a:solidFill>
          <a:srgbClr val="0E1A27"/>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APER">
    <p:bg>
      <p:bgPr>
        <a:solidFill>
          <a:srgbClr val="FAFAF8"/>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6.xml"/><Relationship Id="rId1" Type="http://schemas.openxmlformats.org/officeDocument/2006/relationships/image" Target="../media/image-1-1.png"/><Relationship Id="rId2" Type="http://schemas.openxmlformats.org/officeDocument/2006/relationships/image" Target="../media/image-1-2.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6" Type="http://schemas.openxmlformats.org/officeDocument/2006/relationships/slide" Target="slide7.xml"/><Relationship Id="rId10" Type="http://schemas.openxmlformats.org/officeDocument/2006/relationships/slide" Target="slide12.xml"/><Relationship Id="rId14" Type="http://schemas.openxmlformats.org/officeDocument/2006/relationships/slide" Target="slide14.xml"/><Relationship Id="rId16" Type="http://schemas.openxmlformats.org/officeDocument/2006/relationships/slide" Target="slide16.xml"/><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7" Type="http://schemas.openxmlformats.org/officeDocument/2006/relationships/image" Target="../media/image-6-6.png"/><Relationship Id="rId8" Type="http://schemas.openxmlformats.org/officeDocument/2006/relationships/image" Target="../media/image-6-7.png"/><Relationship Id="rId9" Type="http://schemas.openxmlformats.org/officeDocument/2006/relationships/image" Target="../media/image-6-8.png"/><Relationship Id="rId11" Type="http://schemas.openxmlformats.org/officeDocument/2006/relationships/image" Target="../media/image-6-9.png"/><Relationship Id="rId12" Type="http://schemas.openxmlformats.org/officeDocument/2006/relationships/image" Target="../media/image-6-10.png"/><Relationship Id="rId13" Type="http://schemas.openxmlformats.org/officeDocument/2006/relationships/image" Target="../media/image-6-11.png"/><Relationship Id="rId15" Type="http://schemas.openxmlformats.org/officeDocument/2006/relationships/image" Target="../media/image-6-12.png"/><Relationship Id="rId17" Type="http://schemas.openxmlformats.org/officeDocument/2006/relationships/slideLayout" Target="../slideLayouts/slideLayout2.xml"/><Relationship Id="rId1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5" Type="http://schemas.openxmlformats.org/officeDocument/2006/relationships/slide" Target="slide8.xml"/><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5" Type="http://schemas.openxmlformats.org/officeDocument/2006/relationships/slide" Target="slide11.xml"/><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4" Type="http://schemas.openxmlformats.org/officeDocument/2006/relationships/slide" Target="slide6.xml"/><Relationship Id="rId6" Type="http://schemas.openxmlformats.org/officeDocument/2006/relationships/slide" Target="slide16.xml"/><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5" Type="http://schemas.openxmlformats.org/officeDocument/2006/relationships/image" Target="../media/image-11-4.png"/><Relationship Id="rId7" Type="http://schemas.openxmlformats.org/officeDocument/2006/relationships/slideLayout" Target="../slideLayouts/slideLayout3.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5" Type="http://schemas.openxmlformats.org/officeDocument/2006/relationships/slide" Target="slide6.xml"/><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6" Type="http://schemas.openxmlformats.org/officeDocument/2006/relationships/slideLayout" Target="../slideLayouts/slideLayout2.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4" Type="http://schemas.openxmlformats.org/officeDocument/2006/relationships/slide" Target="slide6.xml"/><Relationship Id="rId6" Type="http://schemas.openxmlformats.org/officeDocument/2006/relationships/slide" Target="slide16.xml"/><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5" Type="http://schemas.openxmlformats.org/officeDocument/2006/relationships/image" Target="../media/image-15-4.png"/><Relationship Id="rId7" Type="http://schemas.openxmlformats.org/officeDocument/2006/relationships/slideLayout" Target="../slideLayouts/slideLayout3.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slideLayout" Target="../slideLayouts/slideLayout3.xml"/><Relationship Id="rId11"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3.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3.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halo-r3"/>
          <p:cNvSpPr/>
          <p:nvPr/>
        </p:nvSpPr>
        <p:spPr>
          <a:xfrm>
            <a:off x="6949440" y="914400"/>
            <a:ext cx="5029200" cy="5029200"/>
          </a:xfrm>
          <a:prstGeom prst="ellipse">
            <a:avLst/>
          </a:prstGeom>
          <a:solidFill>
            <a:srgbClr val="7DB8E8">
              <a:alpha val="0"/>
            </a:srgbClr>
          </a:solidFill>
          <a:ln w="55880">
            <a:solidFill>
              <a:srgbClr val="7DB8E8">
                <a:alpha val="20000"/>
              </a:srgbClr>
            </a:solidFill>
            <a:prstDash val="solid"/>
          </a:ln>
        </p:spPr>
      </p:sp>
      <p:sp>
        <p:nvSpPr>
          <p:cNvPr id="3" name="!!halo-r2"/>
          <p:cNvSpPr/>
          <p:nvPr/>
        </p:nvSpPr>
        <p:spPr>
          <a:xfrm>
            <a:off x="7543800" y="1508760"/>
            <a:ext cx="3840480" cy="3840480"/>
          </a:xfrm>
          <a:prstGeom prst="ellipse">
            <a:avLst/>
          </a:prstGeom>
          <a:solidFill>
            <a:srgbClr val="7DB8E8">
              <a:alpha val="0"/>
            </a:srgbClr>
          </a:solidFill>
          <a:ln w="55880">
            <a:solidFill>
              <a:srgbClr val="7DB8E8">
                <a:alpha val="38000"/>
              </a:srgbClr>
            </a:solidFill>
            <a:prstDash val="solid"/>
          </a:ln>
        </p:spPr>
      </p:sp>
      <p:sp>
        <p:nvSpPr>
          <p:cNvPr id="4" name="!!halo-r1"/>
          <p:cNvSpPr/>
          <p:nvPr/>
        </p:nvSpPr>
        <p:spPr>
          <a:xfrm>
            <a:off x="8092440" y="2057400"/>
            <a:ext cx="2743200" cy="2743200"/>
          </a:xfrm>
          <a:prstGeom prst="ellipse">
            <a:avLst/>
          </a:prstGeom>
          <a:solidFill>
            <a:srgbClr val="7DB8E8">
              <a:alpha val="0"/>
            </a:srgbClr>
          </a:solidFill>
          <a:ln w="55880">
            <a:solidFill>
              <a:srgbClr val="7DB8E8">
                <a:alpha val="62000"/>
              </a:srgbClr>
            </a:solidFill>
            <a:prstDash val="solid"/>
          </a:ln>
        </p:spPr>
      </p:sp>
      <p:sp>
        <p:nvSpPr>
          <p:cNvPr id="5" name="!!halo-core"/>
          <p:cNvSpPr/>
          <p:nvPr/>
        </p:nvSpPr>
        <p:spPr>
          <a:xfrm>
            <a:off x="8549640" y="2514600"/>
            <a:ext cx="1828800" cy="1828800"/>
          </a:xfrm>
          <a:prstGeom prst="ellipse">
            <a:avLst/>
          </a:prstGeom>
          <a:solidFill>
            <a:srgbClr val="1B3550"/>
          </a:solidFill>
          <a:ln w="12700">
            <a:solidFill>
              <a:srgbClr val="1B3550"/>
            </a:solidFill>
            <a:prstDash val="solid"/>
          </a:ln>
        </p:spPr>
      </p:sp>
      <p:pic>
        <p:nvPicPr>
          <p:cNvPr id="6" name="!!halo-icon" descr="Scam check">    </p:cNvPr>
          <p:cNvPicPr>
            <a:picLocks noChangeAspect="1"/>
          </p:cNvPicPr>
          <p:nvPr/>
        </p:nvPicPr>
        <p:blipFill>
          <a:blip r:embed="rId1"/>
          <a:stretch>
            <a:fillRect/>
          </a:stretch>
        </p:blipFill>
        <p:spPr>
          <a:xfrm>
            <a:off x="8988552" y="2953512"/>
            <a:ext cx="950976" cy="950976"/>
          </a:xfrm>
          <a:prstGeom prst="rect">
            <a:avLst/>
          </a:prstGeom>
        </p:spPr>
      </p:pic>
      <p:sp>
        <p:nvSpPr>
          <p:cNvPr id="7" name="!!kicker"/>
          <p:cNvSpPr txBox="1"/>
          <p:nvPr/>
        </p:nvSpPr>
        <p:spPr>
          <a:xfrm>
            <a:off x="731520" y="1417320"/>
            <a:ext cx="6400800" cy="320040"/>
          </a:xfrm>
          <a:prstGeom prst="rect">
            <a:avLst/>
          </a:prstGeom>
          <a:noFill/>
          <a:ln/>
        </p:spPr>
        <p:txBody>
          <a:bodyPr wrap="square" lIns="0" tIns="0" rIns="0" bIns="0" rtlCol="0" anchor="t"/>
          <a:lstStyle/>
          <a:p>
            <a:pPr indent="0" marL="0">
              <a:buNone/>
            </a:pPr>
            <a:r>
              <a:rPr lang="en-US" sz="1400" b="1" spc="200" kern="0" dirty="0">
                <a:solidFill>
                  <a:srgbClr val="7DB8E8"/>
                </a:solidFill>
                <a:latin typeface="Segoe UI" pitchFamily="34" charset="0"/>
                <a:ea typeface="Segoe UI" pitchFamily="34" charset="-122"/>
                <a:cs typeface="Segoe UI" pitchFamily="34" charset="-120"/>
              </a:rPr>
              <a:t>LIVE SCAM PROTECTION FOR PHONE CALLS</a:t>
            </a:r>
            <a:endParaRPr lang="en-US" sz="1400" dirty="0"/>
          </a:p>
        </p:txBody>
      </p:sp>
      <p:sp>
        <p:nvSpPr>
          <p:cNvPr id="8" name="!!headline"/>
          <p:cNvSpPr txBox="1"/>
          <p:nvPr/>
        </p:nvSpPr>
        <p:spPr>
          <a:xfrm>
            <a:off x="731520" y="1828800"/>
            <a:ext cx="6309360" cy="1737360"/>
          </a:xfrm>
          <a:prstGeom prst="rect">
            <a:avLst/>
          </a:prstGeom>
          <a:noFill/>
          <a:ln/>
        </p:spPr>
        <p:txBody>
          <a:bodyPr wrap="square" lIns="0" tIns="0" rIns="0" bIns="0" rtlCol="0" anchor="t"/>
          <a:lstStyle/>
          <a:p>
            <a:pPr indent="0" marL="0">
              <a:buNone/>
            </a:pPr>
            <a:r>
              <a:rPr lang="en-US" sz="4600" b="1" dirty="0">
                <a:solidFill>
                  <a:srgbClr val="FFFFFF"/>
                </a:solidFill>
                <a:latin typeface="Segoe UI" pitchFamily="34" charset="0"/>
                <a:ea typeface="Segoe UI" pitchFamily="34" charset="-122"/>
                <a:cs typeface="Segoe UI" pitchFamily="34" charset="-120"/>
              </a:rPr>
              <a:t>Hear the scam before you pay for it</a:t>
            </a:r>
            <a:endParaRPr lang="en-US" sz="4600" dirty="0"/>
          </a:p>
        </p:txBody>
      </p:sp>
      <p:sp>
        <p:nvSpPr>
          <p:cNvPr id="9" name="!!subline"/>
          <p:cNvSpPr txBox="1"/>
          <p:nvPr/>
        </p:nvSpPr>
        <p:spPr>
          <a:xfrm>
            <a:off x="731520" y="3840480"/>
            <a:ext cx="5669280" cy="1005840"/>
          </a:xfrm>
          <a:prstGeom prst="rect">
            <a:avLst/>
          </a:prstGeom>
          <a:noFill/>
          <a:ln/>
        </p:spPr>
        <p:txBody>
          <a:bodyPr wrap="square" lIns="0" tIns="0" rIns="0" bIns="0" rtlCol="0" anchor="t"/>
          <a:lstStyle/>
          <a:p>
            <a:pPr indent="0" marL="0">
              <a:buNone/>
            </a:pPr>
            <a:r>
              <a:rPr lang="en-US" sz="1800" dirty="0">
                <a:solidFill>
                  <a:srgbClr val="A9B6C3"/>
                </a:solidFill>
                <a:latin typeface="Segoe UI" pitchFamily="34" charset="0"/>
                <a:ea typeface="Segoe UI" pitchFamily="34" charset="-122"/>
                <a:cs typeface="Segoe UI" pitchFamily="34" charset="-120"/>
              </a:rPr>
              <a:t>Edgerunners warns you during a call, in Punjabi, Hindi or English, on any Android phone. Only you hear it.</a:t>
            </a:r>
            <a:endParaRPr lang="en-US" sz="1800" dirty="0"/>
          </a:p>
        </p:txBody>
      </p:sp>
      <p:sp>
        <p:nvSpPr>
          <p:cNvPr id="10" name="btn-Jump to the demo"/>
          <p:cNvSpPr txBox="1"/>
          <p:nvPr/>
        </p:nvSpPr>
        <p:spPr>
          <a:xfrm>
            <a:off x="731520" y="5440680"/>
            <a:ext cx="2651760" cy="566928"/>
          </a:xfrm>
          <a:prstGeom prst="roundRect">
            <a:avLst>
              <a:gd name="adj" fmla="val 29032"/>
            </a:avLst>
          </a:prstGeom>
          <a:solidFill>
            <a:srgbClr val="0E1A27"/>
          </a:solidFill>
          <a:ln w="19050">
            <a:solidFill>
              <a:srgbClr val="5C7088"/>
            </a:solidFill>
          </a:ln>
        </p:spPr>
        <p:txBody>
          <a:bodyPr wrap="square" lIns="0" tIns="0" rIns="0" bIns="0"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Jump to the demo</a:t>
            </a:r>
            <a:endParaRPr lang="en-US" sz="1600" dirty="0"/>
          </a:p>
        </p:txBody>
      </p:sp>
      <p:pic>
        <p:nvPicPr>
          <p:cNvPr id="11" name="hot-Jump to the demo" descr="Jump to the demo">
            <a:hlinkClick r:id="rId3" tooltip="Jump to the demo" action="ppaction://hlinksldjump"/>
          </p:cNvPr>
          <p:cNvPicPr>
            <a:picLocks noChangeAspect="1"/>
          </p:cNvPicPr>
          <p:nvPr/>
        </p:nvPicPr>
        <p:blipFill>
          <a:blip r:embed="rId2"/>
          <a:stretch>
            <a:fillRect/>
          </a:stretch>
        </p:blipFill>
        <p:spPr>
          <a:xfrm>
            <a:off x="731520" y="5440680"/>
            <a:ext cx="2651760" cy="566928"/>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halo-r3"/>
          <p:cNvSpPr/>
          <p:nvPr/>
        </p:nvSpPr>
        <p:spPr>
          <a:xfrm>
            <a:off x="10664190" y="240030"/>
            <a:ext cx="1257300" cy="1257300"/>
          </a:xfrm>
          <a:prstGeom prst="ellipse">
            <a:avLst/>
          </a:prstGeom>
          <a:solidFill>
            <a:srgbClr val="226192">
              <a:alpha val="0"/>
            </a:srgbClr>
          </a:solidFill>
          <a:ln w="13970">
            <a:solidFill>
              <a:srgbClr val="226192">
                <a:alpha val="18000"/>
              </a:srgbClr>
            </a:solidFill>
            <a:prstDash val="solid"/>
          </a:ln>
        </p:spPr>
      </p:sp>
      <p:sp>
        <p:nvSpPr>
          <p:cNvPr id="3" name="!!halo-r2"/>
          <p:cNvSpPr/>
          <p:nvPr/>
        </p:nvSpPr>
        <p:spPr>
          <a:xfrm>
            <a:off x="10812780" y="388620"/>
            <a:ext cx="960120" cy="960120"/>
          </a:xfrm>
          <a:prstGeom prst="ellipse">
            <a:avLst/>
          </a:prstGeom>
          <a:solidFill>
            <a:srgbClr val="226192">
              <a:alpha val="0"/>
            </a:srgbClr>
          </a:solidFill>
          <a:ln w="13970">
            <a:solidFill>
              <a:srgbClr val="226192">
                <a:alpha val="36000"/>
              </a:srgbClr>
            </a:solidFill>
            <a:prstDash val="solid"/>
          </a:ln>
        </p:spPr>
      </p:sp>
      <p:sp>
        <p:nvSpPr>
          <p:cNvPr id="4" name="!!halo-r1"/>
          <p:cNvSpPr/>
          <p:nvPr/>
        </p:nvSpPr>
        <p:spPr>
          <a:xfrm>
            <a:off x="10949940" y="525780"/>
            <a:ext cx="685800" cy="685800"/>
          </a:xfrm>
          <a:prstGeom prst="ellipse">
            <a:avLst/>
          </a:prstGeom>
          <a:solidFill>
            <a:srgbClr val="226192">
              <a:alpha val="0"/>
            </a:srgbClr>
          </a:solidFill>
          <a:ln w="13970">
            <a:solidFill>
              <a:srgbClr val="226192">
                <a:alpha val="60000"/>
              </a:srgbClr>
            </a:solidFill>
            <a:prstDash val="solid"/>
          </a:ln>
        </p:spPr>
      </p:sp>
      <p:sp>
        <p:nvSpPr>
          <p:cNvPr id="5" name="!!halo-core"/>
          <p:cNvSpPr/>
          <p:nvPr/>
        </p:nvSpPr>
        <p:spPr>
          <a:xfrm>
            <a:off x="11064240" y="640080"/>
            <a:ext cx="457200" cy="457200"/>
          </a:xfrm>
          <a:prstGeom prst="ellipse">
            <a:avLst/>
          </a:prstGeom>
          <a:solidFill>
            <a:srgbClr val="226192"/>
          </a:solidFill>
          <a:ln w="12700">
            <a:solidFill>
              <a:srgbClr val="226192"/>
            </a:solidFill>
            <a:prstDash val="solid"/>
          </a:ln>
        </p:spPr>
      </p:sp>
      <p:pic>
        <p:nvPicPr>
          <p:cNvPr id="6" name="!!halo-icon" descr="Scam check">    </p:cNvPr>
          <p:cNvPicPr>
            <a:picLocks noChangeAspect="1"/>
          </p:cNvPicPr>
          <p:nvPr/>
        </p:nvPicPr>
        <p:blipFill>
          <a:blip r:embed="rId1"/>
          <a:stretch>
            <a:fillRect/>
          </a:stretch>
        </p:blipFill>
        <p:spPr>
          <a:xfrm>
            <a:off x="11173968" y="749808"/>
            <a:ext cx="237744" cy="237744"/>
          </a:xfrm>
          <a:prstGeom prst="rect">
            <a:avLst/>
          </a:prstGeom>
        </p:spPr>
      </p:pic>
      <p:sp>
        <p:nvSpPr>
          <p:cNvPr id="7" name="!!kicker"/>
          <p:cNvSpPr txBox="1"/>
          <p:nvPr/>
        </p:nvSpPr>
        <p:spPr>
          <a:xfrm>
            <a:off x="731520" y="685800"/>
            <a:ext cx="5486400" cy="320040"/>
          </a:xfrm>
          <a:prstGeom prst="rect">
            <a:avLst/>
          </a:prstGeom>
          <a:noFill/>
          <a:ln/>
        </p:spPr>
        <p:txBody>
          <a:bodyPr wrap="square" lIns="0" tIns="0" rIns="0" bIns="0" rtlCol="0" anchor="t"/>
          <a:lstStyle/>
          <a:p>
            <a:pPr indent="0" marL="0">
              <a:buNone/>
            </a:pPr>
            <a:r>
              <a:rPr lang="en-US" sz="1400" b="1" spc="200" kern="0" dirty="0">
                <a:solidFill>
                  <a:srgbClr val="226192"/>
                </a:solidFill>
                <a:latin typeface="Segoe UI" pitchFamily="34" charset="0"/>
                <a:ea typeface="Segoe UI" pitchFamily="34" charset="-122"/>
                <a:cs typeface="Segoe UI" pitchFamily="34" charset="-120"/>
              </a:rPr>
              <a:t>THE CALL</a:t>
            </a:r>
            <a:endParaRPr lang="en-US" sz="1400" dirty="0"/>
          </a:p>
        </p:txBody>
      </p:sp>
      <p:sp>
        <p:nvSpPr>
          <p:cNvPr id="8" name="!!headline"/>
          <p:cNvSpPr txBox="1"/>
          <p:nvPr/>
        </p:nvSpPr>
        <p:spPr>
          <a:xfrm>
            <a:off x="731520" y="1051560"/>
            <a:ext cx="9601200" cy="731520"/>
          </a:xfrm>
          <a:prstGeom prst="rect">
            <a:avLst/>
          </a:prstGeom>
          <a:noFill/>
          <a:ln/>
        </p:spPr>
        <p:txBody>
          <a:bodyPr wrap="square" lIns="0" tIns="0" rIns="0" bIns="0" rtlCol="0" anchor="t"/>
          <a:lstStyle/>
          <a:p>
            <a:pPr indent="0" marL="0">
              <a:buNone/>
            </a:pPr>
            <a:r>
              <a:rPr lang="en-US" sz="3600" b="1" dirty="0">
                <a:solidFill>
                  <a:srgbClr val="1F2937"/>
                </a:solidFill>
                <a:latin typeface="Segoe UI" pitchFamily="34" charset="0"/>
                <a:ea typeface="Segoe UI" pitchFamily="34" charset="-122"/>
                <a:cs typeface="Segoe UI" pitchFamily="34" charset="-120"/>
              </a:rPr>
              <a:t>A friendly “seller” makes one request</a:t>
            </a:r>
            <a:endParaRPr lang="en-US" sz="3600" dirty="0"/>
          </a:p>
        </p:txBody>
      </p:sp>
      <p:sp>
        <p:nvSpPr>
          <p:cNvPr id="9" name="quote-bg"/>
          <p:cNvSpPr/>
          <p:nvPr/>
        </p:nvSpPr>
        <p:spPr>
          <a:xfrm>
            <a:off x="731520" y="2240280"/>
            <a:ext cx="6766560" cy="2926080"/>
          </a:xfrm>
          <a:prstGeom prst="roundRect">
            <a:avLst>
              <a:gd name="adj" fmla="val 9375"/>
            </a:avLst>
          </a:prstGeom>
          <a:solidFill>
            <a:srgbClr val="FFFFFF"/>
          </a:solidFill>
          <a:ln w="12700">
            <a:solidFill>
              <a:srgbClr val="E6E8EB"/>
            </a:solidFill>
            <a:prstDash val="solid"/>
          </a:ln>
          <a:effectLst>
            <a:outerShdw sx="100000" sy="100000" kx="0" ky="0" algn="bl" rotWithShape="0" blurRad="152400" dist="38100" dir="5400000">
              <a:srgbClr val="1F2937">
                <a:alpha val="8000"/>
              </a:srgbClr>
            </a:outerShdw>
          </a:effectLst>
        </p:spPr>
      </p:sp>
      <p:pic>
        <p:nvPicPr>
          <p:cNvPr id="10" name="quote-icon" descr="preencoded.png">    </p:cNvPr>
          <p:cNvPicPr>
            <a:picLocks noChangeAspect="1"/>
          </p:cNvPicPr>
          <p:nvPr/>
        </p:nvPicPr>
        <p:blipFill>
          <a:blip r:embed="rId2"/>
          <a:stretch>
            <a:fillRect/>
          </a:stretch>
        </p:blipFill>
        <p:spPr>
          <a:xfrm>
            <a:off x="1097280" y="2606040"/>
            <a:ext cx="411480" cy="411480"/>
          </a:xfrm>
          <a:prstGeom prst="rect">
            <a:avLst/>
          </a:prstGeom>
        </p:spPr>
      </p:pic>
      <p:sp>
        <p:nvSpPr>
          <p:cNvPr id="11" name="!!subline"/>
          <p:cNvSpPr txBox="1"/>
          <p:nvPr/>
        </p:nvSpPr>
        <p:spPr>
          <a:xfrm>
            <a:off x="1097280" y="3200400"/>
            <a:ext cx="6035040" cy="1737360"/>
          </a:xfrm>
          <a:prstGeom prst="rect">
            <a:avLst/>
          </a:prstGeom>
          <a:noFill/>
          <a:ln/>
        </p:spPr>
        <p:txBody>
          <a:bodyPr wrap="square" lIns="0" tIns="0" rIns="0" bIns="0" rtlCol="0" anchor="t"/>
          <a:lstStyle/>
          <a:p>
            <a:pPr indent="0" marL="0">
              <a:buNone/>
            </a:pPr>
            <a:r>
              <a:rPr lang="en-US" sz="3000" i="1" dirty="0">
                <a:solidFill>
                  <a:srgbClr val="1F2937"/>
                </a:solidFill>
                <a:latin typeface="Segoe UI" pitchFamily="34" charset="0"/>
                <a:ea typeface="Segoe UI" pitchFamily="34" charset="-122"/>
                <a:cs typeface="Segoe UI" pitchFamily="34" charset="-120"/>
              </a:rPr>
              <a:t>“I'm sending the money now. Just scan this QR and it'll come straight to you.”</a:t>
            </a:r>
            <a:endParaRPr lang="en-US" sz="3000" dirty="0"/>
          </a:p>
        </p:txBody>
      </p:sp>
      <p:sp>
        <p:nvSpPr>
          <p:cNvPr id="12" name="quote-note"/>
          <p:cNvSpPr txBox="1"/>
          <p:nvPr/>
        </p:nvSpPr>
        <p:spPr>
          <a:xfrm>
            <a:off x="731520" y="5486400"/>
            <a:ext cx="6766560" cy="365760"/>
          </a:xfrm>
          <a:prstGeom prst="rect">
            <a:avLst/>
          </a:prstGeom>
          <a:noFill/>
          <a:ln/>
        </p:spPr>
        <p:txBody>
          <a:bodyPr wrap="square" lIns="0" tIns="0" rIns="0" bIns="0" rtlCol="0" anchor="t"/>
          <a:lstStyle/>
          <a:p>
            <a:pPr indent="0" marL="0">
              <a:buNone/>
            </a:pPr>
            <a:r>
              <a:rPr lang="en-US" sz="1600" dirty="0">
                <a:solidFill>
                  <a:srgbClr val="4B5563"/>
                </a:solidFill>
                <a:latin typeface="Segoe UI" pitchFamily="34" charset="0"/>
                <a:ea typeface="Segoe UI" pitchFamily="34" charset="-122"/>
                <a:cs typeface="Segoe UI" pitchFamily="34" charset="-120"/>
              </a:rPr>
              <a:t>It sounds reasonable in the moment. That's why it works.</a:t>
            </a:r>
            <a:endParaRPr lang="en-US" sz="1600" dirty="0"/>
          </a:p>
        </p:txBody>
      </p:sp>
      <p:sp>
        <p:nvSpPr>
          <p:cNvPr id="13" name="!!qr-bg"/>
          <p:cNvSpPr/>
          <p:nvPr/>
        </p:nvSpPr>
        <p:spPr>
          <a:xfrm>
            <a:off x="8229600" y="2240280"/>
            <a:ext cx="2926080" cy="2926080"/>
          </a:xfrm>
          <a:prstGeom prst="roundRect">
            <a:avLst>
              <a:gd name="adj" fmla="val 12500"/>
            </a:avLst>
          </a:prstGeom>
          <a:solidFill>
            <a:srgbClr val="E3EDF5"/>
          </a:solidFill>
          <a:ln w="12700">
            <a:solidFill>
              <a:srgbClr val="E3EDF5"/>
            </a:solidFill>
            <a:prstDash val="solid"/>
          </a:ln>
        </p:spPr>
      </p:sp>
      <p:pic>
        <p:nvPicPr>
          <p:cNvPr id="14" name="!!qr" descr="preencoded.png">    </p:cNvPr>
          <p:cNvPicPr>
            <a:picLocks noChangeAspect="1"/>
          </p:cNvPicPr>
          <p:nvPr/>
        </p:nvPicPr>
        <p:blipFill>
          <a:blip r:embed="rId3"/>
          <a:stretch>
            <a:fillRect/>
          </a:stretch>
        </p:blipFill>
        <p:spPr>
          <a:xfrm>
            <a:off x="8641080" y="2651760"/>
            <a:ext cx="2103120" cy="210312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halo-r3"/>
          <p:cNvSpPr/>
          <p:nvPr/>
        </p:nvSpPr>
        <p:spPr>
          <a:xfrm>
            <a:off x="10664190" y="240030"/>
            <a:ext cx="1257300" cy="1257300"/>
          </a:xfrm>
          <a:prstGeom prst="ellipse">
            <a:avLst/>
          </a:prstGeom>
          <a:solidFill>
            <a:srgbClr val="F5B83D">
              <a:alpha val="0"/>
            </a:srgbClr>
          </a:solidFill>
          <a:ln w="13970">
            <a:solidFill>
              <a:srgbClr val="F5B83D">
                <a:alpha val="30000"/>
              </a:srgbClr>
            </a:solidFill>
            <a:prstDash val="solid"/>
          </a:ln>
        </p:spPr>
      </p:sp>
      <p:sp>
        <p:nvSpPr>
          <p:cNvPr id="3" name="!!halo-r2"/>
          <p:cNvSpPr/>
          <p:nvPr/>
        </p:nvSpPr>
        <p:spPr>
          <a:xfrm>
            <a:off x="10812780" y="388620"/>
            <a:ext cx="960120" cy="960120"/>
          </a:xfrm>
          <a:prstGeom prst="ellipse">
            <a:avLst/>
          </a:prstGeom>
          <a:solidFill>
            <a:srgbClr val="F5B83D">
              <a:alpha val="0"/>
            </a:srgbClr>
          </a:solidFill>
          <a:ln w="13970">
            <a:solidFill>
              <a:srgbClr val="F5B83D">
                <a:alpha val="58000"/>
              </a:srgbClr>
            </a:solidFill>
            <a:prstDash val="solid"/>
          </a:ln>
        </p:spPr>
      </p:sp>
      <p:sp>
        <p:nvSpPr>
          <p:cNvPr id="4" name="!!halo-r1"/>
          <p:cNvSpPr/>
          <p:nvPr/>
        </p:nvSpPr>
        <p:spPr>
          <a:xfrm>
            <a:off x="10949940" y="525780"/>
            <a:ext cx="685800" cy="685800"/>
          </a:xfrm>
          <a:prstGeom prst="ellipse">
            <a:avLst/>
          </a:prstGeom>
          <a:solidFill>
            <a:srgbClr val="F5B83D">
              <a:alpha val="0"/>
            </a:srgbClr>
          </a:solidFill>
          <a:ln w="13970">
            <a:solidFill>
              <a:srgbClr val="F5B83D">
                <a:alpha val="90000"/>
              </a:srgbClr>
            </a:solidFill>
            <a:prstDash val="solid"/>
          </a:ln>
        </p:spPr>
      </p:sp>
      <p:sp>
        <p:nvSpPr>
          <p:cNvPr id="5" name="!!halo-core"/>
          <p:cNvSpPr/>
          <p:nvPr/>
        </p:nvSpPr>
        <p:spPr>
          <a:xfrm>
            <a:off x="11064240" y="640080"/>
            <a:ext cx="457200" cy="457200"/>
          </a:xfrm>
          <a:prstGeom prst="ellipse">
            <a:avLst/>
          </a:prstGeom>
          <a:solidFill>
            <a:srgbClr val="3A2A08"/>
          </a:solidFill>
          <a:ln w="12700">
            <a:solidFill>
              <a:srgbClr val="3A2A08"/>
            </a:solidFill>
            <a:prstDash val="solid"/>
          </a:ln>
        </p:spPr>
      </p:sp>
      <p:pic>
        <p:nvPicPr>
          <p:cNvPr id="6" name="!!halo-icon" descr="Scam check">    </p:cNvPr>
          <p:cNvPicPr>
            <a:picLocks noChangeAspect="1"/>
          </p:cNvPicPr>
          <p:nvPr/>
        </p:nvPicPr>
        <p:blipFill>
          <a:blip r:embed="rId1"/>
          <a:stretch>
            <a:fillRect/>
          </a:stretch>
        </p:blipFill>
        <p:spPr>
          <a:xfrm>
            <a:off x="11173968" y="749808"/>
            <a:ext cx="237744" cy="237744"/>
          </a:xfrm>
          <a:prstGeom prst="rect">
            <a:avLst/>
          </a:prstGeom>
        </p:spPr>
      </p:pic>
      <p:sp>
        <p:nvSpPr>
          <p:cNvPr id="7" name="!!kicker"/>
          <p:cNvSpPr txBox="1"/>
          <p:nvPr/>
        </p:nvSpPr>
        <p:spPr>
          <a:xfrm>
            <a:off x="731520" y="685800"/>
            <a:ext cx="5486400" cy="320040"/>
          </a:xfrm>
          <a:prstGeom prst="rect">
            <a:avLst/>
          </a:prstGeom>
          <a:noFill/>
          <a:ln/>
        </p:spPr>
        <p:txBody>
          <a:bodyPr wrap="square" lIns="0" tIns="0" rIns="0" bIns="0" rtlCol="0" anchor="t"/>
          <a:lstStyle/>
          <a:p>
            <a:pPr indent="0" marL="0">
              <a:buNone/>
            </a:pPr>
            <a:r>
              <a:rPr lang="en-US" sz="1400" b="1" spc="200" kern="0" dirty="0">
                <a:solidFill>
                  <a:srgbClr val="B26A00"/>
                </a:solidFill>
                <a:latin typeface="Segoe UI" pitchFamily="34" charset="0"/>
                <a:ea typeface="Segoe UI" pitchFamily="34" charset="-122"/>
                <a:cs typeface="Segoe UI" pitchFamily="34" charset="-120"/>
              </a:rPr>
              <a:t>THE TRICK</a:t>
            </a:r>
            <a:endParaRPr lang="en-US" sz="1400" dirty="0"/>
          </a:p>
        </p:txBody>
      </p:sp>
      <p:sp>
        <p:nvSpPr>
          <p:cNvPr id="8" name="!!headline"/>
          <p:cNvSpPr txBox="1"/>
          <p:nvPr/>
        </p:nvSpPr>
        <p:spPr>
          <a:xfrm>
            <a:off x="731520" y="1051560"/>
            <a:ext cx="9601200" cy="731520"/>
          </a:xfrm>
          <a:prstGeom prst="rect">
            <a:avLst/>
          </a:prstGeom>
          <a:noFill/>
          <a:ln/>
        </p:spPr>
        <p:txBody>
          <a:bodyPr wrap="square" lIns="0" tIns="0" rIns="0" bIns="0" rtlCol="0" anchor="t"/>
          <a:lstStyle/>
          <a:p>
            <a:pPr indent="0" marL="0">
              <a:buNone/>
            </a:pPr>
            <a:r>
              <a:rPr lang="en-US" sz="3600" b="1" dirty="0">
                <a:solidFill>
                  <a:srgbClr val="1F2937"/>
                </a:solidFill>
                <a:latin typeface="Segoe UI" pitchFamily="34" charset="0"/>
                <a:ea typeface="Segoe UI" pitchFamily="34" charset="-122"/>
                <a:cs typeface="Segoe UI" pitchFamily="34" charset="-120"/>
              </a:rPr>
              <a:t>Scanning sends money out, not in</a:t>
            </a:r>
            <a:endParaRPr lang="en-US" sz="3600" dirty="0"/>
          </a:p>
        </p:txBody>
      </p:sp>
      <p:sp>
        <p:nvSpPr>
          <p:cNvPr id="9" name="trick-card-0"/>
          <p:cNvSpPr/>
          <p:nvPr/>
        </p:nvSpPr>
        <p:spPr>
          <a:xfrm>
            <a:off x="731520" y="2240280"/>
            <a:ext cx="3291840" cy="3017520"/>
          </a:xfrm>
          <a:prstGeom prst="roundRect">
            <a:avLst>
              <a:gd name="adj" fmla="val 8485"/>
            </a:avLst>
          </a:prstGeom>
          <a:solidFill>
            <a:srgbClr val="FFFFFF"/>
          </a:solidFill>
          <a:ln w="12700">
            <a:solidFill>
              <a:srgbClr val="E6E8EB"/>
            </a:solidFill>
            <a:prstDash val="solid"/>
          </a:ln>
        </p:spPr>
      </p:sp>
      <p:sp>
        <p:nvSpPr>
          <p:cNvPr id="10" name="trick-num-0"/>
          <p:cNvSpPr txBox="1"/>
          <p:nvPr/>
        </p:nvSpPr>
        <p:spPr>
          <a:xfrm>
            <a:off x="1051560" y="2560320"/>
            <a:ext cx="640080" cy="640080"/>
          </a:xfrm>
          <a:prstGeom prst="ellipse">
            <a:avLst/>
          </a:prstGeom>
          <a:solidFill>
            <a:srgbClr val="E3EDF5"/>
          </a:solidFill>
          <a:ln/>
        </p:spPr>
        <p:txBody>
          <a:bodyPr wrap="square" lIns="0" tIns="0" rIns="0" bIns="0" rtlCol="0" anchor="ctr"/>
          <a:lstStyle/>
          <a:p>
            <a:pPr algn="ctr" indent="0" marL="0">
              <a:buNone/>
            </a:pPr>
            <a:r>
              <a:rPr lang="en-US" sz="2200" b="1" dirty="0">
                <a:solidFill>
                  <a:srgbClr val="123A58"/>
                </a:solidFill>
                <a:latin typeface="Segoe UI" pitchFamily="34" charset="0"/>
                <a:ea typeface="Segoe UI" pitchFamily="34" charset="-122"/>
                <a:cs typeface="Segoe UI" pitchFamily="34" charset="-120"/>
              </a:rPr>
              <a:t>1</a:t>
            </a:r>
            <a:endParaRPr lang="en-US" sz="2200" dirty="0"/>
          </a:p>
        </p:txBody>
      </p:sp>
      <p:sp>
        <p:nvSpPr>
          <p:cNvPr id="11" name="trick-title-0"/>
          <p:cNvSpPr txBox="1"/>
          <p:nvPr/>
        </p:nvSpPr>
        <p:spPr>
          <a:xfrm>
            <a:off x="1051560" y="3383280"/>
            <a:ext cx="2651760" cy="822960"/>
          </a:xfrm>
          <a:prstGeom prst="rect">
            <a:avLst/>
          </a:prstGeom>
          <a:noFill/>
          <a:ln/>
        </p:spPr>
        <p:txBody>
          <a:bodyPr wrap="square" lIns="0" tIns="0" rIns="0" bIns="0" rtlCol="0" anchor="t"/>
          <a:lstStyle/>
          <a:p>
            <a:pPr indent="0" marL="0">
              <a:buNone/>
            </a:pPr>
            <a:r>
              <a:rPr lang="en-US" sz="2000" b="1" dirty="0">
                <a:solidFill>
                  <a:srgbClr val="1F2937"/>
                </a:solidFill>
                <a:latin typeface="Segoe UI" pitchFamily="34" charset="0"/>
                <a:ea typeface="Segoe UI" pitchFamily="34" charset="-122"/>
                <a:cs typeface="Segoe UI" pitchFamily="34" charset="-120"/>
              </a:rPr>
              <a:t>They say “scan to receive”</a:t>
            </a:r>
            <a:endParaRPr lang="en-US" sz="2000" dirty="0"/>
          </a:p>
        </p:txBody>
      </p:sp>
      <p:sp>
        <p:nvSpPr>
          <p:cNvPr id="12" name="trick-body-0"/>
          <p:cNvSpPr txBox="1"/>
          <p:nvPr/>
        </p:nvSpPr>
        <p:spPr>
          <a:xfrm>
            <a:off x="1051560" y="4206240"/>
            <a:ext cx="2651760" cy="914400"/>
          </a:xfrm>
          <a:prstGeom prst="rect">
            <a:avLst/>
          </a:prstGeom>
          <a:noFill/>
          <a:ln/>
        </p:spPr>
        <p:txBody>
          <a:bodyPr wrap="square" lIns="0" tIns="0" rIns="0" bIns="0" rtlCol="0" anchor="t"/>
          <a:lstStyle/>
          <a:p>
            <a:pPr indent="0" marL="0">
              <a:buNone/>
            </a:pPr>
            <a:r>
              <a:rPr lang="en-US" sz="1500" dirty="0">
                <a:solidFill>
                  <a:srgbClr val="4B5563"/>
                </a:solidFill>
                <a:latin typeface="Segoe UI" pitchFamily="34" charset="0"/>
                <a:ea typeface="Segoe UI" pitchFamily="34" charset="-122"/>
                <a:cs typeface="Segoe UI" pitchFamily="34" charset="-120"/>
              </a:rPr>
              <a:t>A QR code or a payment request, sent while you're on the call.</a:t>
            </a:r>
            <a:endParaRPr lang="en-US" sz="1500" dirty="0"/>
          </a:p>
        </p:txBody>
      </p:sp>
      <p:pic>
        <p:nvPicPr>
          <p:cNvPr id="13" name="trick-arrow-0" descr="preencoded.png">    </p:cNvPr>
          <p:cNvPicPr>
            <a:picLocks noChangeAspect="1"/>
          </p:cNvPicPr>
          <p:nvPr/>
        </p:nvPicPr>
        <p:blipFill>
          <a:blip r:embed="rId2"/>
          <a:stretch>
            <a:fillRect/>
          </a:stretch>
        </p:blipFill>
        <p:spPr>
          <a:xfrm>
            <a:off x="4041648" y="3566160"/>
            <a:ext cx="329184" cy="329184"/>
          </a:xfrm>
          <a:prstGeom prst="rect">
            <a:avLst/>
          </a:prstGeom>
        </p:spPr>
      </p:pic>
      <p:sp>
        <p:nvSpPr>
          <p:cNvPr id="14" name="trick-card-1"/>
          <p:cNvSpPr/>
          <p:nvPr/>
        </p:nvSpPr>
        <p:spPr>
          <a:xfrm>
            <a:off x="4389120" y="2240280"/>
            <a:ext cx="3291840" cy="3017520"/>
          </a:xfrm>
          <a:prstGeom prst="roundRect">
            <a:avLst>
              <a:gd name="adj" fmla="val 8485"/>
            </a:avLst>
          </a:prstGeom>
          <a:solidFill>
            <a:srgbClr val="FFFFFF"/>
          </a:solidFill>
          <a:ln w="12700">
            <a:solidFill>
              <a:srgbClr val="E6E8EB"/>
            </a:solidFill>
            <a:prstDash val="solid"/>
          </a:ln>
        </p:spPr>
      </p:sp>
      <p:sp>
        <p:nvSpPr>
          <p:cNvPr id="15" name="trick-num-1"/>
          <p:cNvSpPr txBox="1"/>
          <p:nvPr/>
        </p:nvSpPr>
        <p:spPr>
          <a:xfrm>
            <a:off x="4709160" y="2560320"/>
            <a:ext cx="640080" cy="640080"/>
          </a:xfrm>
          <a:prstGeom prst="ellipse">
            <a:avLst/>
          </a:prstGeom>
          <a:solidFill>
            <a:srgbClr val="FFF4DC"/>
          </a:solidFill>
          <a:ln/>
        </p:spPr>
        <p:txBody>
          <a:bodyPr wrap="square" lIns="0" tIns="0" rIns="0" bIns="0" rtlCol="0" anchor="ctr"/>
          <a:lstStyle/>
          <a:p>
            <a:pPr algn="ctr" indent="0" marL="0">
              <a:buNone/>
            </a:pPr>
            <a:r>
              <a:rPr lang="en-US" sz="2200" b="1" dirty="0">
                <a:solidFill>
                  <a:srgbClr val="6B4300"/>
                </a:solidFill>
                <a:latin typeface="Segoe UI" pitchFamily="34" charset="0"/>
                <a:ea typeface="Segoe UI" pitchFamily="34" charset="-122"/>
                <a:cs typeface="Segoe UI" pitchFamily="34" charset="-120"/>
              </a:rPr>
              <a:t>2</a:t>
            </a:r>
            <a:endParaRPr lang="en-US" sz="2200" dirty="0"/>
          </a:p>
        </p:txBody>
      </p:sp>
      <p:sp>
        <p:nvSpPr>
          <p:cNvPr id="16" name="trick-title-1"/>
          <p:cNvSpPr txBox="1"/>
          <p:nvPr/>
        </p:nvSpPr>
        <p:spPr>
          <a:xfrm>
            <a:off x="4709160" y="3383280"/>
            <a:ext cx="2651760" cy="822960"/>
          </a:xfrm>
          <a:prstGeom prst="rect">
            <a:avLst/>
          </a:prstGeom>
          <a:noFill/>
          <a:ln/>
        </p:spPr>
        <p:txBody>
          <a:bodyPr wrap="square" lIns="0" tIns="0" rIns="0" bIns="0" rtlCol="0" anchor="t"/>
          <a:lstStyle/>
          <a:p>
            <a:pPr indent="0" marL="0">
              <a:buNone/>
            </a:pPr>
            <a:r>
              <a:rPr lang="en-US" sz="2000" b="1" dirty="0">
                <a:solidFill>
                  <a:srgbClr val="1F2937"/>
                </a:solidFill>
                <a:latin typeface="Segoe UI" pitchFamily="34" charset="0"/>
                <a:ea typeface="Segoe UI" pitchFamily="34" charset="-122"/>
                <a:cs typeface="Segoe UI" pitchFamily="34" charset="-120"/>
              </a:rPr>
              <a:t>You scan and type your PIN</a:t>
            </a:r>
            <a:endParaRPr lang="en-US" sz="2000" dirty="0"/>
          </a:p>
        </p:txBody>
      </p:sp>
      <p:sp>
        <p:nvSpPr>
          <p:cNvPr id="17" name="trick-body-1"/>
          <p:cNvSpPr txBox="1"/>
          <p:nvPr/>
        </p:nvSpPr>
        <p:spPr>
          <a:xfrm>
            <a:off x="4709160" y="4206240"/>
            <a:ext cx="2651760" cy="914400"/>
          </a:xfrm>
          <a:prstGeom prst="rect">
            <a:avLst/>
          </a:prstGeom>
          <a:noFill/>
          <a:ln/>
        </p:spPr>
        <p:txBody>
          <a:bodyPr wrap="square" lIns="0" tIns="0" rIns="0" bIns="0" rtlCol="0" anchor="t"/>
          <a:lstStyle/>
          <a:p>
            <a:pPr indent="0" marL="0">
              <a:buNone/>
            </a:pPr>
            <a:r>
              <a:rPr lang="en-US" sz="1500" dirty="0">
                <a:solidFill>
                  <a:srgbClr val="4B5563"/>
                </a:solidFill>
                <a:latin typeface="Segoe UI" pitchFamily="34" charset="0"/>
                <a:ea typeface="Segoe UI" pitchFamily="34" charset="-122"/>
                <a:cs typeface="Segoe UI" pitchFamily="34" charset="-120"/>
              </a:rPr>
              <a:t>Your UPI PIN only ever approves money leaving your account.</a:t>
            </a:r>
            <a:endParaRPr lang="en-US" sz="1500" dirty="0"/>
          </a:p>
        </p:txBody>
      </p:sp>
      <p:pic>
        <p:nvPicPr>
          <p:cNvPr id="18" name="trick-arrow-1" descr="preencoded.png">    </p:cNvPr>
          <p:cNvPicPr>
            <a:picLocks noChangeAspect="1"/>
          </p:cNvPicPr>
          <p:nvPr/>
        </p:nvPicPr>
        <p:blipFill>
          <a:blip r:embed="rId3"/>
          <a:stretch>
            <a:fillRect/>
          </a:stretch>
        </p:blipFill>
        <p:spPr>
          <a:xfrm>
            <a:off x="7699248" y="3566160"/>
            <a:ext cx="329184" cy="329184"/>
          </a:xfrm>
          <a:prstGeom prst="rect">
            <a:avLst/>
          </a:prstGeom>
        </p:spPr>
      </p:pic>
      <p:sp>
        <p:nvSpPr>
          <p:cNvPr id="19" name="trick-card-2"/>
          <p:cNvSpPr/>
          <p:nvPr/>
        </p:nvSpPr>
        <p:spPr>
          <a:xfrm>
            <a:off x="8046720" y="2240280"/>
            <a:ext cx="3291840" cy="3017520"/>
          </a:xfrm>
          <a:prstGeom prst="roundRect">
            <a:avLst>
              <a:gd name="adj" fmla="val 8485"/>
            </a:avLst>
          </a:prstGeom>
          <a:solidFill>
            <a:srgbClr val="FFFFFF"/>
          </a:solidFill>
          <a:ln w="12700">
            <a:solidFill>
              <a:srgbClr val="E6E8EB"/>
            </a:solidFill>
            <a:prstDash val="solid"/>
          </a:ln>
        </p:spPr>
      </p:sp>
      <p:sp>
        <p:nvSpPr>
          <p:cNvPr id="20" name="trick-num-2"/>
          <p:cNvSpPr txBox="1"/>
          <p:nvPr/>
        </p:nvSpPr>
        <p:spPr>
          <a:xfrm>
            <a:off x="8366760" y="2560320"/>
            <a:ext cx="640080" cy="640080"/>
          </a:xfrm>
          <a:prstGeom prst="ellipse">
            <a:avLst/>
          </a:prstGeom>
          <a:solidFill>
            <a:srgbClr val="FBE3E1"/>
          </a:solidFill>
          <a:ln/>
        </p:spPr>
        <p:txBody>
          <a:bodyPr wrap="square" lIns="0" tIns="0" rIns="0" bIns="0" rtlCol="0" anchor="ctr"/>
          <a:lstStyle/>
          <a:p>
            <a:pPr algn="ctr" indent="0" marL="0">
              <a:buNone/>
            </a:pPr>
            <a:r>
              <a:rPr lang="en-US" sz="2200" b="1" dirty="0">
                <a:solidFill>
                  <a:srgbClr val="8A1C14"/>
                </a:solidFill>
                <a:latin typeface="Segoe UI" pitchFamily="34" charset="0"/>
                <a:ea typeface="Segoe UI" pitchFamily="34" charset="-122"/>
                <a:cs typeface="Segoe UI" pitchFamily="34" charset="-120"/>
              </a:rPr>
              <a:t>3</a:t>
            </a:r>
            <a:endParaRPr lang="en-US" sz="2200" dirty="0"/>
          </a:p>
        </p:txBody>
      </p:sp>
      <p:sp>
        <p:nvSpPr>
          <p:cNvPr id="21" name="trick-title-2"/>
          <p:cNvSpPr txBox="1"/>
          <p:nvPr/>
        </p:nvSpPr>
        <p:spPr>
          <a:xfrm>
            <a:off x="8366760" y="3383280"/>
            <a:ext cx="2651760" cy="822960"/>
          </a:xfrm>
          <a:prstGeom prst="rect">
            <a:avLst/>
          </a:prstGeom>
          <a:noFill/>
          <a:ln/>
        </p:spPr>
        <p:txBody>
          <a:bodyPr wrap="square" lIns="0" tIns="0" rIns="0" bIns="0" rtlCol="0" anchor="t"/>
          <a:lstStyle/>
          <a:p>
            <a:pPr indent="0" marL="0">
              <a:buNone/>
            </a:pPr>
            <a:r>
              <a:rPr lang="en-US" sz="2000" b="1" dirty="0">
                <a:solidFill>
                  <a:srgbClr val="1F2937"/>
                </a:solidFill>
                <a:latin typeface="Segoe UI" pitchFamily="34" charset="0"/>
                <a:ea typeface="Segoe UI" pitchFamily="34" charset="-122"/>
                <a:cs typeface="Segoe UI" pitchFamily="34" charset="-120"/>
              </a:rPr>
              <a:t>The money leaves</a:t>
            </a:r>
            <a:endParaRPr lang="en-US" sz="2000" dirty="0"/>
          </a:p>
        </p:txBody>
      </p:sp>
      <p:sp>
        <p:nvSpPr>
          <p:cNvPr id="22" name="trick-body-2"/>
          <p:cNvSpPr txBox="1"/>
          <p:nvPr/>
        </p:nvSpPr>
        <p:spPr>
          <a:xfrm>
            <a:off x="8366760" y="4206240"/>
            <a:ext cx="2651760" cy="914400"/>
          </a:xfrm>
          <a:prstGeom prst="rect">
            <a:avLst/>
          </a:prstGeom>
          <a:noFill/>
          <a:ln/>
        </p:spPr>
        <p:txBody>
          <a:bodyPr wrap="square" lIns="0" tIns="0" rIns="0" bIns="0" rtlCol="0" anchor="t"/>
          <a:lstStyle/>
          <a:p>
            <a:pPr indent="0" marL="0">
              <a:buNone/>
            </a:pPr>
            <a:r>
              <a:rPr lang="en-US" sz="1500" dirty="0">
                <a:solidFill>
                  <a:srgbClr val="4B5563"/>
                </a:solidFill>
                <a:latin typeface="Segoe UI" pitchFamily="34" charset="0"/>
                <a:ea typeface="Segoe UI" pitchFamily="34" charset="-122"/>
                <a:cs typeface="Segoe UI" pitchFamily="34" charset="-120"/>
              </a:rPr>
              <a:t>The “seller” disappears with the amount on the QR.</a:t>
            </a:r>
            <a:endParaRPr lang="en-US" sz="1500" dirty="0"/>
          </a:p>
        </p:txBody>
      </p:sp>
      <p:sp>
        <p:nvSpPr>
          <p:cNvPr id="23" name="!!qr-bg"/>
          <p:cNvSpPr/>
          <p:nvPr/>
        </p:nvSpPr>
        <p:spPr>
          <a:xfrm>
            <a:off x="1051560" y="2560320"/>
            <a:ext cx="640080" cy="640080"/>
          </a:xfrm>
          <a:prstGeom prst="roundRect">
            <a:avLst>
              <a:gd name="adj" fmla="val 50000"/>
            </a:avLst>
          </a:prstGeom>
          <a:solidFill>
            <a:srgbClr val="E3EDF5">
              <a:alpha val="0"/>
            </a:srgbClr>
          </a:solidFill>
          <a:ln w="12700">
            <a:solidFill>
              <a:srgbClr val="E3EDF5">
                <a:alpha val="0"/>
              </a:srgbClr>
            </a:solidFill>
            <a:prstDash val="solid"/>
          </a:ln>
        </p:spPr>
      </p:sp>
      <p:pic>
        <p:nvPicPr>
          <p:cNvPr id="24" name="!!qr" descr="preencoded.png">    </p:cNvPr>
          <p:cNvPicPr>
            <a:picLocks noChangeAspect="1"/>
          </p:cNvPicPr>
          <p:nvPr/>
        </p:nvPicPr>
        <p:blipFill>
          <a:blip r:embed="rId4">
            <a:alphaModFix amt="0"/>
          </a:blip>
          <a:stretch>
            <a:fillRect/>
          </a:stretch>
        </p:blipFill>
        <p:spPr>
          <a:xfrm>
            <a:off x="1188720" y="2697480"/>
            <a:ext cx="365760" cy="365760"/>
          </a:xfrm>
          <a:prstGeom prst="rect">
            <a:avLst/>
          </a:prstGeom>
        </p:spPr>
      </p:pic>
      <p:sp>
        <p:nvSpPr>
          <p:cNvPr id="25" name="!!subline"/>
          <p:cNvSpPr txBox="1"/>
          <p:nvPr/>
        </p:nvSpPr>
        <p:spPr>
          <a:xfrm>
            <a:off x="731520" y="5623560"/>
            <a:ext cx="10058400" cy="365760"/>
          </a:xfrm>
          <a:prstGeom prst="rect">
            <a:avLst/>
          </a:prstGeom>
          <a:noFill/>
          <a:ln/>
        </p:spPr>
        <p:txBody>
          <a:bodyPr wrap="square" lIns="0" tIns="0" rIns="0" bIns="0" rtlCol="0" anchor="t"/>
          <a:lstStyle/>
          <a:p>
            <a:pPr indent="0" marL="0">
              <a:buNone/>
            </a:pPr>
            <a:r>
              <a:rPr lang="en-US" sz="1400" dirty="0">
                <a:solidFill>
                  <a:srgbClr val="4B5563"/>
                </a:solidFill>
                <a:latin typeface="Segoe UI" pitchFamily="34" charset="0"/>
                <a:ea typeface="Segoe UI" pitchFamily="34" charset="-122"/>
                <a:cs typeface="Segoe UI" pitchFamily="34" charset="-120"/>
              </a:rPr>
              <a:t>OLX and the Delhi Police cyber cell both warn about this exact trick.</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731520" y="685800"/>
            <a:ext cx="5486400" cy="320040"/>
          </a:xfrm>
          <a:prstGeom prst="rect">
            <a:avLst/>
          </a:prstGeom>
          <a:noFill/>
          <a:ln/>
        </p:spPr>
        <p:txBody>
          <a:bodyPr wrap="square" lIns="0" tIns="0" rIns="0" bIns="0" rtlCol="0" anchor="t"/>
          <a:lstStyle/>
          <a:p>
            <a:pPr indent="0" marL="0">
              <a:buNone/>
            </a:pPr>
            <a:r>
              <a:rPr lang="en-US" sz="1400" b="1" spc="200" kern="0" dirty="0">
                <a:solidFill>
                  <a:srgbClr val="226192"/>
                </a:solidFill>
                <a:latin typeface="Segoe UI" pitchFamily="34" charset="0"/>
                <a:ea typeface="Segoe UI" pitchFamily="34" charset="-122"/>
                <a:cs typeface="Segoe UI" pitchFamily="34" charset="-120"/>
              </a:rPr>
              <a:t>TODAY</a:t>
            </a:r>
            <a:endParaRPr lang="en-US" sz="1400" dirty="0"/>
          </a:p>
        </p:txBody>
      </p:sp>
      <p:sp>
        <p:nvSpPr>
          <p:cNvPr id="3" name="!!headline"/>
          <p:cNvSpPr txBox="1"/>
          <p:nvPr/>
        </p:nvSpPr>
        <p:spPr>
          <a:xfrm>
            <a:off x="731520" y="1051560"/>
            <a:ext cx="10515600" cy="731520"/>
          </a:xfrm>
          <a:prstGeom prst="rect">
            <a:avLst/>
          </a:prstGeom>
          <a:noFill/>
          <a:ln/>
        </p:spPr>
        <p:txBody>
          <a:bodyPr wrap="square" lIns="0" tIns="0" rIns="0" bIns="0" rtlCol="0" anchor="t"/>
          <a:lstStyle/>
          <a:p>
            <a:pPr indent="0" marL="0">
              <a:buNone/>
            </a:pPr>
            <a:r>
              <a:rPr lang="en-US" sz="3600" b="1" dirty="0">
                <a:solidFill>
                  <a:srgbClr val="1F2937"/>
                </a:solidFill>
                <a:latin typeface="Segoe UI" pitchFamily="34" charset="0"/>
                <a:ea typeface="Segoe UI" pitchFamily="34" charset="-122"/>
                <a:cs typeface="Segoe UI" pitchFamily="34" charset="-120"/>
              </a:rPr>
              <a:t>Today's protection watches the wrong thing</a:t>
            </a:r>
            <a:endParaRPr lang="en-US" sz="3600" dirty="0"/>
          </a:p>
        </p:txBody>
      </p:sp>
      <p:sp>
        <p:nvSpPr>
          <p:cNvPr id="4" name="today-card-0"/>
          <p:cNvSpPr/>
          <p:nvPr/>
        </p:nvSpPr>
        <p:spPr>
          <a:xfrm>
            <a:off x="731520" y="2194560"/>
            <a:ext cx="3291840" cy="3566160"/>
          </a:xfrm>
          <a:prstGeom prst="roundRect">
            <a:avLst>
              <a:gd name="adj" fmla="val 7778"/>
            </a:avLst>
          </a:prstGeom>
          <a:solidFill>
            <a:srgbClr val="FFFFFF"/>
          </a:solidFill>
          <a:ln w="12700">
            <a:solidFill>
              <a:srgbClr val="E6E8EB"/>
            </a:solidFill>
            <a:prstDash val="solid"/>
          </a:ln>
        </p:spPr>
      </p:sp>
      <p:sp>
        <p:nvSpPr>
          <p:cNvPr id="5" name="today-title-0"/>
          <p:cNvSpPr txBox="1"/>
          <p:nvPr/>
        </p:nvSpPr>
        <p:spPr>
          <a:xfrm>
            <a:off x="1051560" y="2514600"/>
            <a:ext cx="2651760" cy="731520"/>
          </a:xfrm>
          <a:prstGeom prst="rect">
            <a:avLst/>
          </a:prstGeom>
          <a:noFill/>
          <a:ln/>
        </p:spPr>
        <p:txBody>
          <a:bodyPr wrap="square" lIns="0" tIns="0" rIns="0" bIns="0" rtlCol="0" anchor="t"/>
          <a:lstStyle/>
          <a:p>
            <a:pPr indent="0" marL="0">
              <a:buNone/>
            </a:pPr>
            <a:r>
              <a:rPr lang="en-US" sz="2000" b="1" dirty="0">
                <a:solidFill>
                  <a:srgbClr val="1F2937"/>
                </a:solidFill>
                <a:latin typeface="Segoe UI" pitchFamily="34" charset="0"/>
                <a:ea typeface="Segoe UI" pitchFamily="34" charset="-122"/>
                <a:cs typeface="Segoe UI" pitchFamily="34" charset="-120"/>
              </a:rPr>
              <a:t>Google Scam Detection</a:t>
            </a:r>
            <a:endParaRPr lang="en-US" sz="2000" dirty="0"/>
          </a:p>
        </p:txBody>
      </p:sp>
      <p:sp>
        <p:nvSpPr>
          <p:cNvPr id="6" name="today-body-0"/>
          <p:cNvSpPr txBox="1"/>
          <p:nvPr/>
        </p:nvSpPr>
        <p:spPr>
          <a:xfrm>
            <a:off x="1051560" y="3291840"/>
            <a:ext cx="2651760" cy="1188720"/>
          </a:xfrm>
          <a:prstGeom prst="rect">
            <a:avLst/>
          </a:prstGeom>
          <a:noFill/>
          <a:ln/>
        </p:spPr>
        <p:txBody>
          <a:bodyPr wrap="square" lIns="0" tIns="0" rIns="0" bIns="0" rtlCol="0" anchor="t"/>
          <a:lstStyle/>
          <a:p>
            <a:pPr indent="0" marL="0">
              <a:buNone/>
            </a:pPr>
            <a:r>
              <a:rPr lang="en-US" sz="1500" dirty="0">
                <a:solidFill>
                  <a:srgbClr val="4B5563"/>
                </a:solidFill>
                <a:latin typeface="Segoe UI" pitchFamily="34" charset="0"/>
                <a:ea typeface="Segoe UI" pitchFamily="34" charset="-122"/>
                <a:cs typeface="Segoe UI" pitchFamily="34" charset="-120"/>
              </a:rPr>
              <a:t>Warns during calls in Hindi and English, on a Pixel or a recent flagship.</a:t>
            </a:r>
            <a:endParaRPr lang="en-US" sz="1500" dirty="0"/>
          </a:p>
        </p:txBody>
      </p:sp>
      <p:sp>
        <p:nvSpPr>
          <p:cNvPr id="7" name="today-watch-0"/>
          <p:cNvSpPr txBox="1"/>
          <p:nvPr/>
        </p:nvSpPr>
        <p:spPr>
          <a:xfrm>
            <a:off x="1051560" y="4663440"/>
            <a:ext cx="2651760" cy="822960"/>
          </a:xfrm>
          <a:prstGeom prst="rect">
            <a:avLst/>
          </a:prstGeom>
          <a:noFill/>
          <a:ln/>
        </p:spPr>
        <p:txBody>
          <a:bodyPr wrap="square" lIns="0" tIns="0" rIns="0" bIns="0" rtlCol="0" anchor="t"/>
          <a:lstStyle/>
          <a:p>
            <a:pPr indent="0" marL="0">
              <a:buNone/>
            </a:pPr>
            <a:r>
              <a:rPr lang="en-US" sz="1300" b="1" dirty="0">
                <a:solidFill>
                  <a:srgbClr val="4B5563"/>
                </a:solidFill>
                <a:latin typeface="Segoe UI" pitchFamily="34" charset="0"/>
                <a:ea typeface="Segoe UI" pitchFamily="34" charset="-122"/>
                <a:cs typeface="Segoe UI" pitchFamily="34" charset="-120"/>
              </a:rPr>
              <a:t>Watches: the conversation, on expensive phones</a:t>
            </a:r>
            <a:endParaRPr lang="en-US" sz="1300" dirty="0"/>
          </a:p>
        </p:txBody>
      </p:sp>
      <p:sp>
        <p:nvSpPr>
          <p:cNvPr id="8" name="today-card-1"/>
          <p:cNvSpPr/>
          <p:nvPr/>
        </p:nvSpPr>
        <p:spPr>
          <a:xfrm>
            <a:off x="4389120" y="2194560"/>
            <a:ext cx="3291840" cy="3566160"/>
          </a:xfrm>
          <a:prstGeom prst="roundRect">
            <a:avLst>
              <a:gd name="adj" fmla="val 7778"/>
            </a:avLst>
          </a:prstGeom>
          <a:solidFill>
            <a:srgbClr val="FFFFFF"/>
          </a:solidFill>
          <a:ln w="12700">
            <a:solidFill>
              <a:srgbClr val="E6E8EB"/>
            </a:solidFill>
            <a:prstDash val="solid"/>
          </a:ln>
        </p:spPr>
      </p:sp>
      <p:sp>
        <p:nvSpPr>
          <p:cNvPr id="9" name="today-title-1"/>
          <p:cNvSpPr txBox="1"/>
          <p:nvPr/>
        </p:nvSpPr>
        <p:spPr>
          <a:xfrm>
            <a:off x="4709160" y="2514600"/>
            <a:ext cx="2651760" cy="731520"/>
          </a:xfrm>
          <a:prstGeom prst="rect">
            <a:avLst/>
          </a:prstGeom>
          <a:noFill/>
          <a:ln/>
        </p:spPr>
        <p:txBody>
          <a:bodyPr wrap="square" lIns="0" tIns="0" rIns="0" bIns="0" rtlCol="0" anchor="t"/>
          <a:lstStyle/>
          <a:p>
            <a:pPr indent="0" marL="0">
              <a:buNone/>
            </a:pPr>
            <a:r>
              <a:rPr lang="en-US" sz="2000" b="1" dirty="0">
                <a:solidFill>
                  <a:srgbClr val="1F2937"/>
                </a:solidFill>
                <a:latin typeface="Segoe UI" pitchFamily="34" charset="0"/>
                <a:ea typeface="Segoe UI" pitchFamily="34" charset="-122"/>
                <a:cs typeface="Segoe UI" pitchFamily="34" charset="-120"/>
              </a:rPr>
              <a:t>Truecaller</a:t>
            </a:r>
            <a:endParaRPr lang="en-US" sz="2000" dirty="0"/>
          </a:p>
        </p:txBody>
      </p:sp>
      <p:sp>
        <p:nvSpPr>
          <p:cNvPr id="10" name="today-body-1"/>
          <p:cNvSpPr txBox="1"/>
          <p:nvPr/>
        </p:nvSpPr>
        <p:spPr>
          <a:xfrm>
            <a:off x="4709160" y="3291840"/>
            <a:ext cx="2651760" cy="1188720"/>
          </a:xfrm>
          <a:prstGeom prst="rect">
            <a:avLst/>
          </a:prstGeom>
          <a:noFill/>
          <a:ln/>
        </p:spPr>
        <p:txBody>
          <a:bodyPr wrap="square" lIns="0" tIns="0" rIns="0" bIns="0" rtlCol="0" anchor="t"/>
          <a:lstStyle/>
          <a:p>
            <a:pPr indent="0" marL="0">
              <a:buNone/>
            </a:pPr>
            <a:r>
              <a:rPr lang="en-US" sz="1500" dirty="0">
                <a:solidFill>
                  <a:srgbClr val="4B5563"/>
                </a:solidFill>
                <a:latin typeface="Segoe UI" pitchFamily="34" charset="0"/>
                <a:ea typeface="Segoe UI" pitchFamily="34" charset="-122"/>
                <a:cs typeface="Segoe UI" pitchFamily="34" charset="-120"/>
              </a:rPr>
              <a:t>Tells you who is calling, from numbers other people reported.</a:t>
            </a:r>
            <a:endParaRPr lang="en-US" sz="1500" dirty="0"/>
          </a:p>
        </p:txBody>
      </p:sp>
      <p:sp>
        <p:nvSpPr>
          <p:cNvPr id="11" name="today-watch-1"/>
          <p:cNvSpPr txBox="1"/>
          <p:nvPr/>
        </p:nvSpPr>
        <p:spPr>
          <a:xfrm>
            <a:off x="4709160" y="4663440"/>
            <a:ext cx="2651760" cy="822960"/>
          </a:xfrm>
          <a:prstGeom prst="rect">
            <a:avLst/>
          </a:prstGeom>
          <a:noFill/>
          <a:ln/>
        </p:spPr>
        <p:txBody>
          <a:bodyPr wrap="square" lIns="0" tIns="0" rIns="0" bIns="0" rtlCol="0" anchor="t"/>
          <a:lstStyle/>
          <a:p>
            <a:pPr indent="0" marL="0">
              <a:buNone/>
            </a:pPr>
            <a:r>
              <a:rPr lang="en-US" sz="1300" b="1" dirty="0">
                <a:solidFill>
                  <a:srgbClr val="4B5563"/>
                </a:solidFill>
                <a:latin typeface="Segoe UI" pitchFamily="34" charset="0"/>
                <a:ea typeface="Segoe UI" pitchFamily="34" charset="-122"/>
                <a:cs typeface="Segoe UI" pitchFamily="34" charset="-120"/>
              </a:rPr>
              <a:t>Watches: the number. A fresh SIM looks clean</a:t>
            </a:r>
            <a:endParaRPr lang="en-US" sz="1300" dirty="0"/>
          </a:p>
        </p:txBody>
      </p:sp>
      <p:sp>
        <p:nvSpPr>
          <p:cNvPr id="12" name="today-card-us"/>
          <p:cNvSpPr/>
          <p:nvPr/>
        </p:nvSpPr>
        <p:spPr>
          <a:xfrm>
            <a:off x="8046720" y="2194560"/>
            <a:ext cx="3410712" cy="3566160"/>
          </a:xfrm>
          <a:prstGeom prst="roundRect">
            <a:avLst>
              <a:gd name="adj" fmla="val 7507"/>
            </a:avLst>
          </a:prstGeom>
          <a:solidFill>
            <a:srgbClr val="0E1A27"/>
          </a:solidFill>
          <a:ln w="12700">
            <a:solidFill>
              <a:srgbClr val="0E1A27"/>
            </a:solidFill>
            <a:prstDash val="solid"/>
          </a:ln>
        </p:spPr>
      </p:sp>
      <p:sp>
        <p:nvSpPr>
          <p:cNvPr id="13" name="!!halo-r3"/>
          <p:cNvSpPr/>
          <p:nvPr/>
        </p:nvSpPr>
        <p:spPr>
          <a:xfrm>
            <a:off x="8245602" y="2366010"/>
            <a:ext cx="1156716" cy="1156716"/>
          </a:xfrm>
          <a:prstGeom prst="ellipse">
            <a:avLst/>
          </a:prstGeom>
          <a:solidFill>
            <a:srgbClr val="7DB8E8">
              <a:alpha val="0"/>
            </a:srgbClr>
          </a:solidFill>
          <a:ln w="12852">
            <a:solidFill>
              <a:srgbClr val="7DB8E8">
                <a:alpha val="20000"/>
              </a:srgbClr>
            </a:solidFill>
            <a:prstDash val="solid"/>
          </a:ln>
        </p:spPr>
      </p:sp>
      <p:sp>
        <p:nvSpPr>
          <p:cNvPr id="14" name="!!halo-r2"/>
          <p:cNvSpPr/>
          <p:nvPr/>
        </p:nvSpPr>
        <p:spPr>
          <a:xfrm>
            <a:off x="8382305" y="2502713"/>
            <a:ext cx="883310" cy="883310"/>
          </a:xfrm>
          <a:prstGeom prst="ellipse">
            <a:avLst/>
          </a:prstGeom>
          <a:solidFill>
            <a:srgbClr val="7DB8E8">
              <a:alpha val="0"/>
            </a:srgbClr>
          </a:solidFill>
          <a:ln w="12852">
            <a:solidFill>
              <a:srgbClr val="7DB8E8">
                <a:alpha val="38000"/>
              </a:srgbClr>
            </a:solidFill>
            <a:prstDash val="solid"/>
          </a:ln>
        </p:spPr>
      </p:sp>
      <p:sp>
        <p:nvSpPr>
          <p:cNvPr id="15" name="!!halo-r1"/>
          <p:cNvSpPr/>
          <p:nvPr/>
        </p:nvSpPr>
        <p:spPr>
          <a:xfrm>
            <a:off x="8508492" y="2628900"/>
            <a:ext cx="630936" cy="630936"/>
          </a:xfrm>
          <a:prstGeom prst="ellipse">
            <a:avLst/>
          </a:prstGeom>
          <a:solidFill>
            <a:srgbClr val="7DB8E8">
              <a:alpha val="0"/>
            </a:srgbClr>
          </a:solidFill>
          <a:ln w="12852">
            <a:solidFill>
              <a:srgbClr val="7DB8E8">
                <a:alpha val="62000"/>
              </a:srgbClr>
            </a:solidFill>
            <a:prstDash val="solid"/>
          </a:ln>
        </p:spPr>
      </p:sp>
      <p:sp>
        <p:nvSpPr>
          <p:cNvPr id="16" name="!!halo-core"/>
          <p:cNvSpPr/>
          <p:nvPr/>
        </p:nvSpPr>
        <p:spPr>
          <a:xfrm>
            <a:off x="8613648" y="2734056"/>
            <a:ext cx="420624" cy="420624"/>
          </a:xfrm>
          <a:prstGeom prst="ellipse">
            <a:avLst/>
          </a:prstGeom>
          <a:solidFill>
            <a:srgbClr val="1B3550"/>
          </a:solidFill>
          <a:ln w="12700">
            <a:solidFill>
              <a:srgbClr val="1B3550"/>
            </a:solidFill>
            <a:prstDash val="solid"/>
          </a:ln>
        </p:spPr>
      </p:sp>
      <p:pic>
        <p:nvPicPr>
          <p:cNvPr id="17" name="!!halo-icon" descr="Scam check">    </p:cNvPr>
          <p:cNvPicPr>
            <a:picLocks noChangeAspect="1"/>
          </p:cNvPicPr>
          <p:nvPr/>
        </p:nvPicPr>
        <p:blipFill>
          <a:blip r:embed="rId1"/>
          <a:stretch>
            <a:fillRect/>
          </a:stretch>
        </p:blipFill>
        <p:spPr>
          <a:xfrm>
            <a:off x="8714598" y="2835006"/>
            <a:ext cx="218724" cy="218724"/>
          </a:xfrm>
          <a:prstGeom prst="rect">
            <a:avLst/>
          </a:prstGeom>
        </p:spPr>
      </p:pic>
      <p:sp>
        <p:nvSpPr>
          <p:cNvPr id="18" name="today-title-us"/>
          <p:cNvSpPr txBox="1"/>
          <p:nvPr/>
        </p:nvSpPr>
        <p:spPr>
          <a:xfrm>
            <a:off x="9555480" y="2761488"/>
            <a:ext cx="2011680" cy="365760"/>
          </a:xfrm>
          <a:prstGeom prst="rect">
            <a:avLst/>
          </a:prstGeom>
          <a:noFill/>
          <a:ln/>
        </p:spPr>
        <p:txBody>
          <a:bodyPr wrap="square" lIns="0" tIns="0" rIns="0" bIns="0" rtlCol="0" anchor="t"/>
          <a:lstStyle/>
          <a:p>
            <a:pPr indent="0" marL="0">
              <a:buNone/>
            </a:pPr>
            <a:r>
              <a:rPr lang="en-US" sz="2000" b="1" dirty="0">
                <a:solidFill>
                  <a:srgbClr val="FFFFFF"/>
                </a:solidFill>
                <a:latin typeface="Segoe UI" pitchFamily="34" charset="0"/>
                <a:ea typeface="Segoe UI" pitchFamily="34" charset="-122"/>
                <a:cs typeface="Segoe UI" pitchFamily="34" charset="-120"/>
              </a:rPr>
              <a:t>Edgerunners</a:t>
            </a:r>
            <a:endParaRPr lang="en-US" sz="2000" dirty="0"/>
          </a:p>
        </p:txBody>
      </p:sp>
      <p:sp>
        <p:nvSpPr>
          <p:cNvPr id="19" name="today-body-us"/>
          <p:cNvSpPr txBox="1"/>
          <p:nvPr/>
        </p:nvSpPr>
        <p:spPr>
          <a:xfrm>
            <a:off x="8366760" y="3703320"/>
            <a:ext cx="2834640" cy="1005840"/>
          </a:xfrm>
          <a:prstGeom prst="rect">
            <a:avLst/>
          </a:prstGeom>
          <a:noFill/>
          <a:ln/>
        </p:spPr>
        <p:txBody>
          <a:bodyPr wrap="square" lIns="0" tIns="0" rIns="0" bIns="0" rtlCol="0" anchor="t"/>
          <a:lstStyle/>
          <a:p>
            <a:pPr indent="0" marL="0">
              <a:buNone/>
            </a:pPr>
            <a:r>
              <a:rPr lang="en-US" sz="1500" dirty="0">
                <a:solidFill>
                  <a:srgbClr val="DCE6EF"/>
                </a:solidFill>
                <a:latin typeface="Segoe UI" pitchFamily="34" charset="0"/>
                <a:ea typeface="Segoe UI" pitchFamily="34" charset="-122"/>
                <a:cs typeface="Segoe UI" pitchFamily="34" charset="-120"/>
              </a:rPr>
              <a:t>Listens for what the caller asks you to do: scan a QR, type a PIN, share an OTP.</a:t>
            </a:r>
            <a:endParaRPr lang="en-US" sz="1500" dirty="0"/>
          </a:p>
        </p:txBody>
      </p:sp>
      <p:sp>
        <p:nvSpPr>
          <p:cNvPr id="20" name="today-watch-us"/>
          <p:cNvSpPr txBox="1"/>
          <p:nvPr/>
        </p:nvSpPr>
        <p:spPr>
          <a:xfrm>
            <a:off x="8366760" y="4800600"/>
            <a:ext cx="2834640" cy="731520"/>
          </a:xfrm>
          <a:prstGeom prst="rect">
            <a:avLst/>
          </a:prstGeom>
          <a:noFill/>
          <a:ln/>
        </p:spPr>
        <p:txBody>
          <a:bodyPr wrap="square" lIns="0" tIns="0" rIns="0" bIns="0" rtlCol="0" anchor="t"/>
          <a:lstStyle/>
          <a:p>
            <a:pPr indent="0" marL="0">
              <a:buNone/>
            </a:pPr>
            <a:r>
              <a:rPr lang="en-US" sz="1300" b="1" dirty="0">
                <a:solidFill>
                  <a:srgbClr val="7DB8E8"/>
                </a:solidFill>
                <a:latin typeface="Segoe UI" pitchFamily="34" charset="0"/>
                <a:ea typeface="Segoe UI" pitchFamily="34" charset="-122"/>
                <a:cs typeface="Segoe UI" pitchFamily="34" charset="-120"/>
              </a:rPr>
              <a:t>Punjabi, Hindi, English or mixed. Any Android phone</a:t>
            </a:r>
            <a:endParaRPr lang="en-US" sz="13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halo-r3"/>
          <p:cNvSpPr/>
          <p:nvPr/>
        </p:nvSpPr>
        <p:spPr>
          <a:xfrm>
            <a:off x="2826868" y="160020"/>
            <a:ext cx="6537960" cy="6537960"/>
          </a:xfrm>
          <a:prstGeom prst="ellipse">
            <a:avLst/>
          </a:prstGeom>
          <a:solidFill>
            <a:srgbClr val="7DB8E8">
              <a:alpha val="0"/>
            </a:srgbClr>
          </a:solidFill>
          <a:ln w="72644">
            <a:solidFill>
              <a:srgbClr val="7DB8E8">
                <a:alpha val="12000"/>
              </a:srgbClr>
            </a:solidFill>
            <a:prstDash val="solid"/>
          </a:ln>
        </p:spPr>
      </p:sp>
      <p:sp>
        <p:nvSpPr>
          <p:cNvPr id="3" name="!!halo-r2"/>
          <p:cNvSpPr/>
          <p:nvPr/>
        </p:nvSpPr>
        <p:spPr>
          <a:xfrm>
            <a:off x="3599536" y="932688"/>
            <a:ext cx="4992624" cy="4992624"/>
          </a:xfrm>
          <a:prstGeom prst="ellipse">
            <a:avLst/>
          </a:prstGeom>
          <a:solidFill>
            <a:srgbClr val="7DB8E8">
              <a:alpha val="0"/>
            </a:srgbClr>
          </a:solidFill>
          <a:ln w="72644">
            <a:solidFill>
              <a:srgbClr val="7DB8E8">
                <a:alpha val="20000"/>
              </a:srgbClr>
            </a:solidFill>
            <a:prstDash val="solid"/>
          </a:ln>
        </p:spPr>
      </p:sp>
      <p:sp>
        <p:nvSpPr>
          <p:cNvPr id="4" name="!!halo-r1"/>
          <p:cNvSpPr/>
          <p:nvPr/>
        </p:nvSpPr>
        <p:spPr>
          <a:xfrm>
            <a:off x="4312768" y="1645920"/>
            <a:ext cx="3566160" cy="3566160"/>
          </a:xfrm>
          <a:prstGeom prst="ellipse">
            <a:avLst/>
          </a:prstGeom>
          <a:solidFill>
            <a:srgbClr val="7DB8E8">
              <a:alpha val="0"/>
            </a:srgbClr>
          </a:solidFill>
          <a:ln w="72644">
            <a:solidFill>
              <a:srgbClr val="7DB8E8">
                <a:alpha val="34000"/>
              </a:srgbClr>
            </a:solidFill>
            <a:prstDash val="solid"/>
          </a:ln>
        </p:spPr>
      </p:sp>
      <p:sp>
        <p:nvSpPr>
          <p:cNvPr id="5" name="!!halo-core"/>
          <p:cNvSpPr/>
          <p:nvPr/>
        </p:nvSpPr>
        <p:spPr>
          <a:xfrm>
            <a:off x="4907128" y="2240280"/>
            <a:ext cx="2377440" cy="2377440"/>
          </a:xfrm>
          <a:prstGeom prst="ellipse">
            <a:avLst/>
          </a:prstGeom>
          <a:solidFill>
            <a:srgbClr val="16283A"/>
          </a:solidFill>
          <a:ln w="12700">
            <a:solidFill>
              <a:srgbClr val="16283A"/>
            </a:solidFill>
            <a:prstDash val="solid"/>
          </a:ln>
        </p:spPr>
      </p:sp>
      <p:pic>
        <p:nvPicPr>
          <p:cNvPr id="6" name="!!halo-icon" descr="Scam check">    </p:cNvPr>
          <p:cNvPicPr>
            <a:picLocks noChangeAspect="1"/>
          </p:cNvPicPr>
          <p:nvPr/>
        </p:nvPicPr>
        <p:blipFill>
          <a:blip r:embed="rId1"/>
          <a:stretch>
            <a:fillRect/>
          </a:stretch>
        </p:blipFill>
        <p:spPr>
          <a:xfrm>
            <a:off x="5477713" y="2810866"/>
            <a:ext cx="1236269" cy="1236269"/>
          </a:xfrm>
          <a:prstGeom prst="rect">
            <a:avLst/>
          </a:prstGeom>
        </p:spPr>
      </p:pic>
      <p:sp>
        <p:nvSpPr>
          <p:cNvPr id="7" name="!!kicker"/>
          <p:cNvSpPr txBox="1"/>
          <p:nvPr/>
        </p:nvSpPr>
        <p:spPr>
          <a:xfrm>
            <a:off x="731520" y="2148840"/>
            <a:ext cx="10728655" cy="822960"/>
          </a:xfrm>
          <a:prstGeom prst="rect">
            <a:avLst/>
          </a:prstGeom>
          <a:noFill/>
          <a:ln/>
        </p:spPr>
        <p:txBody>
          <a:bodyPr wrap="square" lIns="0" tIns="0" rIns="0" bIns="0" rtlCol="0" anchor="t"/>
          <a:lstStyle/>
          <a:p>
            <a:pPr algn="ctr" indent="0" marL="0">
              <a:buNone/>
            </a:pPr>
            <a:r>
              <a:rPr lang="en-US" sz="4000" b="1" dirty="0">
                <a:solidFill>
                  <a:srgbClr val="A9B6C3"/>
                </a:solidFill>
                <a:latin typeface="Segoe UI" pitchFamily="34" charset="0"/>
                <a:ea typeface="Segoe UI" pitchFamily="34" charset="-122"/>
                <a:cs typeface="Segoe UI" pitchFamily="34" charset="-120"/>
              </a:rPr>
              <a:t>Not who is calling.</a:t>
            </a:r>
            <a:endParaRPr lang="en-US" sz="4000" dirty="0"/>
          </a:p>
        </p:txBody>
      </p:sp>
      <p:sp>
        <p:nvSpPr>
          <p:cNvPr id="8" name="!!headline"/>
          <p:cNvSpPr txBox="1"/>
          <p:nvPr/>
        </p:nvSpPr>
        <p:spPr>
          <a:xfrm>
            <a:off x="731520" y="3017520"/>
            <a:ext cx="10728655" cy="1097280"/>
          </a:xfrm>
          <a:prstGeom prst="rect">
            <a:avLst/>
          </a:prstGeom>
          <a:noFill/>
          <a:ln/>
        </p:spPr>
        <p:txBody>
          <a:bodyPr wrap="square" lIns="0" tIns="0" rIns="0" bIns="0" rtlCol="0" anchor="t"/>
          <a:lstStyle/>
          <a:p>
            <a:pPr algn="ctr" indent="0" marL="0">
              <a:buNone/>
            </a:pPr>
            <a:r>
              <a:rPr lang="en-US" sz="5400" b="1" dirty="0">
                <a:solidFill>
                  <a:srgbClr val="FFFFFF"/>
                </a:solidFill>
                <a:latin typeface="Segoe UI" pitchFamily="34" charset="0"/>
                <a:ea typeface="Segoe UI" pitchFamily="34" charset="-122"/>
                <a:cs typeface="Segoe UI" pitchFamily="34" charset="-120"/>
              </a:rPr>
              <a:t>What are they asking you to do?</a:t>
            </a:r>
            <a:endParaRPr lang="en-US" sz="5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phone"/>
          <p:cNvSpPr/>
          <p:nvPr/>
        </p:nvSpPr>
        <p:spPr>
          <a:xfrm>
            <a:off x="8001000" y="411480"/>
            <a:ext cx="3017520" cy="6035040"/>
          </a:xfrm>
          <a:prstGeom prst="roundRect">
            <a:avLst>
              <a:gd name="adj" fmla="val 14545"/>
            </a:avLst>
          </a:prstGeom>
          <a:solidFill>
            <a:srgbClr val="0A131D"/>
          </a:solidFill>
          <a:ln w="19050">
            <a:solidFill>
              <a:srgbClr val="2E4257"/>
            </a:solidFill>
            <a:prstDash val="solid"/>
          </a:ln>
        </p:spPr>
      </p:sp>
      <p:sp>
        <p:nvSpPr>
          <p:cNvPr id="3" name="!!screen"/>
          <p:cNvSpPr/>
          <p:nvPr/>
        </p:nvSpPr>
        <p:spPr>
          <a:xfrm>
            <a:off x="8092440" y="502920"/>
            <a:ext cx="2834640" cy="5852160"/>
          </a:xfrm>
          <a:prstGeom prst="roundRect">
            <a:avLst>
              <a:gd name="adj" fmla="val 12903"/>
            </a:avLst>
          </a:prstGeom>
          <a:solidFill>
            <a:srgbClr val="FAFAF8"/>
          </a:solidFill>
          <a:ln w="12700">
            <a:solidFill>
              <a:srgbClr val="FAFAF8"/>
            </a:solidFill>
            <a:prstDash val="solid"/>
          </a:ln>
        </p:spPr>
      </p:sp>
      <p:pic>
        <p:nvPicPr>
          <p:cNvPr id="4" name="!!p-brand-icon" descr="preencoded.png">    </p:cNvPr>
          <p:cNvPicPr>
            <a:picLocks noChangeAspect="1"/>
          </p:cNvPicPr>
          <p:nvPr/>
        </p:nvPicPr>
        <p:blipFill>
          <a:blip r:embed="rId1"/>
          <a:stretch>
            <a:fillRect/>
          </a:stretch>
        </p:blipFill>
        <p:spPr>
          <a:xfrm>
            <a:off x="8321040" y="749808"/>
            <a:ext cx="219456" cy="219456"/>
          </a:xfrm>
          <a:prstGeom prst="rect">
            <a:avLst/>
          </a:prstGeom>
        </p:spPr>
      </p:pic>
      <p:sp>
        <p:nvSpPr>
          <p:cNvPr id="5" name="!!p-top"/>
          <p:cNvSpPr txBox="1"/>
          <p:nvPr/>
        </p:nvSpPr>
        <p:spPr>
          <a:xfrm>
            <a:off x="8595360" y="731520"/>
            <a:ext cx="1828800" cy="274320"/>
          </a:xfrm>
          <a:prstGeom prst="rect">
            <a:avLst/>
          </a:prstGeom>
          <a:noFill/>
          <a:ln/>
        </p:spPr>
        <p:txBody>
          <a:bodyPr wrap="square" lIns="0" tIns="0" rIns="0" bIns="0" rtlCol="0" anchor="t"/>
          <a:lstStyle/>
          <a:p>
            <a:pPr indent="0" marL="0">
              <a:buNone/>
            </a:pPr>
            <a:r>
              <a:rPr lang="en-US" sz="1200" b="1" dirty="0">
                <a:solidFill>
                  <a:srgbClr val="226192"/>
                </a:solidFill>
                <a:latin typeface="Segoe UI" pitchFamily="34" charset="0"/>
                <a:ea typeface="Segoe UI" pitchFamily="34" charset="-122"/>
                <a:cs typeface="Segoe UI" pitchFamily="34" charset="-120"/>
              </a:rPr>
              <a:t>Edgerunners</a:t>
            </a:r>
            <a:endParaRPr lang="en-US" sz="1200" dirty="0"/>
          </a:p>
        </p:txBody>
      </p:sp>
      <p:sp>
        <p:nvSpPr>
          <p:cNvPr id="6" name="!!halo-r3"/>
          <p:cNvSpPr/>
          <p:nvPr/>
        </p:nvSpPr>
        <p:spPr>
          <a:xfrm>
            <a:off x="8478774" y="1072134"/>
            <a:ext cx="2061972" cy="2061972"/>
          </a:xfrm>
          <a:prstGeom prst="ellipse">
            <a:avLst/>
          </a:prstGeom>
          <a:solidFill>
            <a:srgbClr val="226192">
              <a:alpha val="0"/>
            </a:srgbClr>
          </a:solidFill>
          <a:ln w="22911">
            <a:solidFill>
              <a:srgbClr val="226192">
                <a:alpha val="18000"/>
              </a:srgbClr>
            </a:solidFill>
            <a:prstDash val="solid"/>
          </a:ln>
        </p:spPr>
      </p:sp>
      <p:sp>
        <p:nvSpPr>
          <p:cNvPr id="7" name="!!halo-r2"/>
          <p:cNvSpPr/>
          <p:nvPr/>
        </p:nvSpPr>
        <p:spPr>
          <a:xfrm>
            <a:off x="8722462" y="1315822"/>
            <a:ext cx="1574597" cy="1574597"/>
          </a:xfrm>
          <a:prstGeom prst="ellipse">
            <a:avLst/>
          </a:prstGeom>
          <a:solidFill>
            <a:srgbClr val="226192">
              <a:alpha val="0"/>
            </a:srgbClr>
          </a:solidFill>
          <a:ln w="22911">
            <a:solidFill>
              <a:srgbClr val="226192">
                <a:alpha val="36000"/>
              </a:srgbClr>
            </a:solidFill>
            <a:prstDash val="solid"/>
          </a:ln>
        </p:spPr>
      </p:sp>
      <p:sp>
        <p:nvSpPr>
          <p:cNvPr id="8" name="!!halo-r1"/>
          <p:cNvSpPr/>
          <p:nvPr/>
        </p:nvSpPr>
        <p:spPr>
          <a:xfrm>
            <a:off x="8947404" y="1540764"/>
            <a:ext cx="1124712" cy="1124712"/>
          </a:xfrm>
          <a:prstGeom prst="ellipse">
            <a:avLst/>
          </a:prstGeom>
          <a:solidFill>
            <a:srgbClr val="226192">
              <a:alpha val="0"/>
            </a:srgbClr>
          </a:solidFill>
          <a:ln w="22911">
            <a:solidFill>
              <a:srgbClr val="226192">
                <a:alpha val="60000"/>
              </a:srgbClr>
            </a:solidFill>
            <a:prstDash val="solid"/>
          </a:ln>
        </p:spPr>
      </p:sp>
      <p:sp>
        <p:nvSpPr>
          <p:cNvPr id="9" name="!!halo-core"/>
          <p:cNvSpPr/>
          <p:nvPr/>
        </p:nvSpPr>
        <p:spPr>
          <a:xfrm>
            <a:off x="9134856" y="1728216"/>
            <a:ext cx="749808" cy="749808"/>
          </a:xfrm>
          <a:prstGeom prst="ellipse">
            <a:avLst/>
          </a:prstGeom>
          <a:solidFill>
            <a:srgbClr val="226192"/>
          </a:solidFill>
          <a:ln w="12700">
            <a:solidFill>
              <a:srgbClr val="226192"/>
            </a:solidFill>
            <a:prstDash val="solid"/>
          </a:ln>
        </p:spPr>
      </p:sp>
      <p:pic>
        <p:nvPicPr>
          <p:cNvPr id="10" name="!!halo-icon" descr="Scam check">    </p:cNvPr>
          <p:cNvPicPr>
            <a:picLocks noChangeAspect="1"/>
          </p:cNvPicPr>
          <p:nvPr/>
        </p:nvPicPr>
        <p:blipFill>
          <a:blip r:embed="rId2"/>
          <a:stretch>
            <a:fillRect/>
          </a:stretch>
        </p:blipFill>
        <p:spPr>
          <a:xfrm>
            <a:off x="9314810" y="1908170"/>
            <a:ext cx="389900" cy="389900"/>
          </a:xfrm>
          <a:prstGeom prst="rect">
            <a:avLst/>
          </a:prstGeom>
        </p:spPr>
      </p:pic>
      <p:sp>
        <p:nvSpPr>
          <p:cNvPr id="11" name="!!p-title"/>
          <p:cNvSpPr txBox="1"/>
          <p:nvPr/>
        </p:nvSpPr>
        <p:spPr>
          <a:xfrm>
            <a:off x="8183880" y="3310128"/>
            <a:ext cx="2651760" cy="365760"/>
          </a:xfrm>
          <a:prstGeom prst="rect">
            <a:avLst/>
          </a:prstGeom>
          <a:noFill/>
          <a:ln/>
        </p:spPr>
        <p:txBody>
          <a:bodyPr wrap="square" lIns="0" tIns="0" rIns="0" bIns="0" rtlCol="0" anchor="t"/>
          <a:lstStyle/>
          <a:p>
            <a:pPr algn="ctr" indent="0" marL="0">
              <a:buNone/>
            </a:pPr>
            <a:r>
              <a:rPr lang="en-US" sz="1600" b="1" dirty="0">
                <a:solidFill>
                  <a:srgbClr val="1F2937"/>
                </a:solidFill>
                <a:latin typeface="Segoe UI" pitchFamily="34" charset="0"/>
                <a:ea typeface="Segoe UI" pitchFamily="34" charset="-122"/>
                <a:cs typeface="Segoe UI" pitchFamily="34" charset="-120"/>
              </a:rPr>
              <a:t>Watching your calls</a:t>
            </a:r>
            <a:endParaRPr lang="en-US" sz="1600" dirty="0"/>
          </a:p>
        </p:txBody>
      </p:sp>
      <p:sp>
        <p:nvSpPr>
          <p:cNvPr id="12" name="!!p-sub"/>
          <p:cNvSpPr txBox="1"/>
          <p:nvPr/>
        </p:nvSpPr>
        <p:spPr>
          <a:xfrm>
            <a:off x="8275320" y="3703320"/>
            <a:ext cx="2468880" cy="548640"/>
          </a:xfrm>
          <a:prstGeom prst="rect">
            <a:avLst/>
          </a:prstGeom>
          <a:noFill/>
          <a:ln/>
        </p:spPr>
        <p:txBody>
          <a:bodyPr wrap="square" lIns="0" tIns="0" rIns="0" bIns="0" rtlCol="0" anchor="t"/>
          <a:lstStyle/>
          <a:p>
            <a:pPr algn="ctr" indent="0" marL="0">
              <a:buNone/>
            </a:pPr>
            <a:r>
              <a:rPr lang="en-US" sz="1000" dirty="0">
                <a:solidFill>
                  <a:srgbClr val="4B5563"/>
                </a:solidFill>
                <a:latin typeface="Segoe UI" pitchFamily="34" charset="0"/>
                <a:ea typeface="Segoe UI" pitchFamily="34" charset="-122"/>
                <a:cs typeface="Segoe UI" pitchFamily="34" charset="-120"/>
              </a:rPr>
              <a:t>If a caller asks for a QR scan, UPI PIN or OTP, you'll know in seconds.</a:t>
            </a:r>
            <a:endParaRPr lang="en-US" sz="1000" dirty="0"/>
          </a:p>
        </p:txBody>
      </p:sp>
      <p:sp>
        <p:nvSpPr>
          <p:cNvPr id="13" name="!!p-card"/>
          <p:cNvSpPr/>
          <p:nvPr/>
        </p:nvSpPr>
        <p:spPr>
          <a:xfrm>
            <a:off x="8275320" y="4434840"/>
            <a:ext cx="2468880" cy="658368"/>
          </a:xfrm>
          <a:prstGeom prst="roundRect">
            <a:avLst>
              <a:gd name="adj" fmla="val 19444"/>
            </a:avLst>
          </a:prstGeom>
          <a:solidFill>
            <a:srgbClr val="FFFFFF"/>
          </a:solidFill>
          <a:ln w="9525">
            <a:solidFill>
              <a:srgbClr val="E6E8EB"/>
            </a:solidFill>
            <a:prstDash val="solid"/>
          </a:ln>
        </p:spPr>
      </p:sp>
      <p:sp>
        <p:nvSpPr>
          <p:cNvPr id="14" name="!!p-card-title"/>
          <p:cNvSpPr txBox="1"/>
          <p:nvPr/>
        </p:nvSpPr>
        <p:spPr>
          <a:xfrm>
            <a:off x="8439912" y="4526280"/>
            <a:ext cx="1645920" cy="237744"/>
          </a:xfrm>
          <a:prstGeom prst="rect">
            <a:avLst/>
          </a:prstGeom>
          <a:noFill/>
          <a:ln/>
        </p:spPr>
        <p:txBody>
          <a:bodyPr wrap="square" lIns="0" tIns="0" rIns="0" bIns="0" rtlCol="0" anchor="t"/>
          <a:lstStyle/>
          <a:p>
            <a:pPr indent="0" marL="0">
              <a:buNone/>
            </a:pPr>
            <a:r>
              <a:rPr lang="en-US" sz="1100" b="1" dirty="0">
                <a:solidFill>
                  <a:srgbClr val="1F2937"/>
                </a:solidFill>
                <a:latin typeface="Segoe UI" pitchFamily="34" charset="0"/>
                <a:ea typeface="Segoe UI" pitchFamily="34" charset="-122"/>
                <a:cs typeface="Segoe UI" pitchFamily="34" charset="-120"/>
              </a:rPr>
              <a:t>Scam check</a:t>
            </a:r>
            <a:endParaRPr lang="en-US" sz="1100" dirty="0"/>
          </a:p>
        </p:txBody>
      </p:sp>
      <p:sp>
        <p:nvSpPr>
          <p:cNvPr id="15" name="!!p-card-sub"/>
          <p:cNvSpPr txBox="1"/>
          <p:nvPr/>
        </p:nvSpPr>
        <p:spPr>
          <a:xfrm>
            <a:off x="8439912" y="4773168"/>
            <a:ext cx="1645920" cy="219456"/>
          </a:xfrm>
          <a:prstGeom prst="rect">
            <a:avLst/>
          </a:prstGeom>
          <a:noFill/>
          <a:ln/>
        </p:spPr>
        <p:txBody>
          <a:bodyPr wrap="square" lIns="0" tIns="0" rIns="0" bIns="0" rtlCol="0" anchor="t"/>
          <a:lstStyle/>
          <a:p>
            <a:pPr indent="0" marL="0">
              <a:buNone/>
            </a:pPr>
            <a:r>
              <a:rPr lang="en-US" sz="900" dirty="0">
                <a:solidFill>
                  <a:srgbClr val="4B5563"/>
                </a:solidFill>
                <a:latin typeface="Segoe UI" pitchFamily="34" charset="0"/>
                <a:ea typeface="Segoe UI" pitchFamily="34" charset="-122"/>
                <a:cs typeface="Segoe UI" pitchFamily="34" charset="-120"/>
              </a:rPr>
              <a:t>On for every call</a:t>
            </a:r>
            <a:endParaRPr lang="en-US" sz="900" dirty="0"/>
          </a:p>
        </p:txBody>
      </p:sp>
      <p:sp>
        <p:nvSpPr>
          <p:cNvPr id="16" name="!!p-switch"/>
          <p:cNvSpPr/>
          <p:nvPr/>
        </p:nvSpPr>
        <p:spPr>
          <a:xfrm>
            <a:off x="10058400" y="4626864"/>
            <a:ext cx="512064" cy="292608"/>
          </a:xfrm>
          <a:prstGeom prst="roundRect">
            <a:avLst>
              <a:gd name="adj" fmla="val 50000"/>
            </a:avLst>
          </a:prstGeom>
          <a:solidFill>
            <a:srgbClr val="226192"/>
          </a:solidFill>
          <a:ln w="12700">
            <a:solidFill>
              <a:srgbClr val="226192"/>
            </a:solidFill>
            <a:prstDash val="solid"/>
          </a:ln>
        </p:spPr>
      </p:sp>
      <p:sp>
        <p:nvSpPr>
          <p:cNvPr id="17" name="!!p-knob"/>
          <p:cNvSpPr/>
          <p:nvPr/>
        </p:nvSpPr>
        <p:spPr>
          <a:xfrm>
            <a:off x="10296144" y="4654296"/>
            <a:ext cx="237744" cy="237744"/>
          </a:xfrm>
          <a:prstGeom prst="ellipse">
            <a:avLst/>
          </a:prstGeom>
          <a:solidFill>
            <a:srgbClr val="FFFFFF"/>
          </a:solidFill>
          <a:ln w="12700">
            <a:solidFill>
              <a:srgbClr val="FFFFFF"/>
            </a:solidFill>
            <a:prstDash val="solid"/>
          </a:ln>
        </p:spPr>
      </p:sp>
      <p:sp>
        <p:nvSpPr>
          <p:cNvPr id="18" name="!!p-lang"/>
          <p:cNvSpPr/>
          <p:nvPr/>
        </p:nvSpPr>
        <p:spPr>
          <a:xfrm>
            <a:off x="8275320" y="5303520"/>
            <a:ext cx="2468880" cy="420624"/>
          </a:xfrm>
          <a:prstGeom prst="roundRect">
            <a:avLst>
              <a:gd name="adj" fmla="val 26087"/>
            </a:avLst>
          </a:prstGeom>
          <a:solidFill>
            <a:srgbClr val="E6E8EB"/>
          </a:solidFill>
          <a:ln w="12700">
            <a:solidFill>
              <a:srgbClr val="E6E8EB"/>
            </a:solidFill>
            <a:prstDash val="solid"/>
          </a:ln>
        </p:spPr>
      </p:sp>
      <p:sp>
        <p:nvSpPr>
          <p:cNvPr id="19" name="!!p-lang-1"/>
          <p:cNvSpPr txBox="1"/>
          <p:nvPr/>
        </p:nvSpPr>
        <p:spPr>
          <a:xfrm>
            <a:off x="8330184" y="5349240"/>
            <a:ext cx="786384" cy="329184"/>
          </a:xfrm>
          <a:prstGeom prst="roundRect">
            <a:avLst>
              <a:gd name="adj" fmla="val 50000"/>
            </a:avLst>
          </a:prstGeom>
          <a:solidFill>
            <a:srgbClr val="FFFFFF"/>
          </a:solidFill>
          <a:ln/>
        </p:spPr>
        <p:txBody>
          <a:bodyPr wrap="square" lIns="0" tIns="0" rIns="0" bIns="0" rtlCol="0" anchor="ctr"/>
          <a:lstStyle/>
          <a:p>
            <a:pPr algn="ctr" indent="0" marL="0">
              <a:buNone/>
            </a:pPr>
            <a:r>
              <a:rPr lang="en-US" sz="900" b="1" dirty="0">
                <a:solidFill>
                  <a:srgbClr val="226192"/>
                </a:solidFill>
                <a:latin typeface="Segoe UI" pitchFamily="34" charset="0"/>
                <a:ea typeface="Segoe UI" pitchFamily="34" charset="-122"/>
                <a:cs typeface="Segoe UI" pitchFamily="34" charset="-120"/>
              </a:rPr>
              <a:t>English</a:t>
            </a:r>
            <a:endParaRPr lang="en-US" sz="900" dirty="0"/>
          </a:p>
        </p:txBody>
      </p:sp>
      <p:sp>
        <p:nvSpPr>
          <p:cNvPr id="20" name="!!p-lang-2"/>
          <p:cNvSpPr txBox="1"/>
          <p:nvPr/>
        </p:nvSpPr>
        <p:spPr>
          <a:xfrm>
            <a:off x="9134856" y="5349240"/>
            <a:ext cx="786384" cy="329184"/>
          </a:xfrm>
          <a:prstGeom prst="rect">
            <a:avLst/>
          </a:prstGeom>
          <a:noFill/>
          <a:ln/>
        </p:spPr>
        <p:txBody>
          <a:bodyPr wrap="square" lIns="0" tIns="0" rIns="0" bIns="0" rtlCol="0" anchor="ctr"/>
          <a:lstStyle/>
          <a:p>
            <a:pPr algn="ctr" indent="0" marL="0">
              <a:buNone/>
            </a:pPr>
            <a:r>
              <a:rPr lang="en-US" sz="900" b="1" dirty="0">
                <a:solidFill>
                  <a:srgbClr val="4B5563"/>
                </a:solidFill>
                <a:latin typeface="Segoe UI" pitchFamily="34" charset="0"/>
                <a:ea typeface="Segoe UI" pitchFamily="34" charset="-122"/>
                <a:cs typeface="Segoe UI" pitchFamily="34" charset="-120"/>
              </a:rPr>
              <a:t>हिन्दी</a:t>
            </a:r>
            <a:endParaRPr lang="en-US" sz="900" dirty="0"/>
          </a:p>
        </p:txBody>
      </p:sp>
      <p:sp>
        <p:nvSpPr>
          <p:cNvPr id="21" name="!!p-lang-3"/>
          <p:cNvSpPr txBox="1"/>
          <p:nvPr/>
        </p:nvSpPr>
        <p:spPr>
          <a:xfrm>
            <a:off x="9921240" y="5349240"/>
            <a:ext cx="786384" cy="329184"/>
          </a:xfrm>
          <a:prstGeom prst="rect">
            <a:avLst/>
          </a:prstGeom>
          <a:noFill/>
          <a:ln/>
        </p:spPr>
        <p:txBody>
          <a:bodyPr wrap="square" lIns="0" tIns="0" rIns="0" bIns="0" rtlCol="0" anchor="ctr"/>
          <a:lstStyle/>
          <a:p>
            <a:pPr algn="ctr" indent="0" marL="0">
              <a:buNone/>
            </a:pPr>
            <a:r>
              <a:rPr lang="en-US" sz="900" b="1" dirty="0">
                <a:solidFill>
                  <a:srgbClr val="4B5563"/>
                </a:solidFill>
                <a:latin typeface="Segoe UI" pitchFamily="34" charset="0"/>
                <a:ea typeface="Segoe UI" pitchFamily="34" charset="-122"/>
                <a:cs typeface="Segoe UI" pitchFamily="34" charset="-120"/>
              </a:rPr>
              <a:t>ਪੰਜਾਬੀ</a:t>
            </a:r>
            <a:endParaRPr lang="en-US" sz="900" dirty="0"/>
          </a:p>
        </p:txBody>
      </p:sp>
      <p:sp>
        <p:nvSpPr>
          <p:cNvPr id="22" name="!!kicker"/>
          <p:cNvSpPr txBox="1"/>
          <p:nvPr/>
        </p:nvSpPr>
        <p:spPr>
          <a:xfrm>
            <a:off x="731520" y="731520"/>
            <a:ext cx="5486400" cy="320040"/>
          </a:xfrm>
          <a:prstGeom prst="rect">
            <a:avLst/>
          </a:prstGeom>
          <a:noFill/>
          <a:ln/>
        </p:spPr>
        <p:txBody>
          <a:bodyPr wrap="square" lIns="0" tIns="0" rIns="0" bIns="0" rtlCol="0" anchor="t"/>
          <a:lstStyle/>
          <a:p>
            <a:pPr indent="0" marL="0">
              <a:buNone/>
            </a:pPr>
            <a:r>
              <a:rPr lang="en-US" sz="1400" b="1" spc="200" kern="0" dirty="0">
                <a:solidFill>
                  <a:srgbClr val="7DB8E8"/>
                </a:solidFill>
                <a:latin typeface="Segoe UI" pitchFamily="34" charset="0"/>
                <a:ea typeface="Segoe UI" pitchFamily="34" charset="-122"/>
                <a:cs typeface="Segoe UI" pitchFamily="34" charset="-120"/>
              </a:rPr>
              <a:t>TRY IT</a:t>
            </a:r>
            <a:endParaRPr lang="en-US" sz="1400" dirty="0"/>
          </a:p>
        </p:txBody>
      </p:sp>
      <p:sp>
        <p:nvSpPr>
          <p:cNvPr id="23" name="!!headline"/>
          <p:cNvSpPr txBox="1"/>
          <p:nvPr/>
        </p:nvSpPr>
        <p:spPr>
          <a:xfrm>
            <a:off x="731520" y="1097280"/>
            <a:ext cx="6400800" cy="731520"/>
          </a:xfrm>
          <a:prstGeom prst="rect">
            <a:avLst/>
          </a:prstGeom>
          <a:noFill/>
          <a:ln/>
        </p:spPr>
        <p:txBody>
          <a:bodyPr wrap="square" lIns="0" tIns="0" rIns="0" bIns="0" rtlCol="0" anchor="t"/>
          <a:lstStyle/>
          <a:p>
            <a:pPr indent="0" marL="0">
              <a:buNone/>
            </a:pPr>
            <a:r>
              <a:rPr lang="en-US" sz="4000" b="1" dirty="0">
                <a:solidFill>
                  <a:srgbClr val="FFFFFF"/>
                </a:solidFill>
                <a:latin typeface="Segoe UI" pitchFamily="34" charset="0"/>
                <a:ea typeface="Segoe UI" pitchFamily="34" charset="-122"/>
                <a:cs typeface="Segoe UI" pitchFamily="34" charset="-120"/>
              </a:rPr>
              <a:t>Pick a call</a:t>
            </a:r>
            <a:endParaRPr lang="en-US" sz="4000" dirty="0"/>
          </a:p>
        </p:txBody>
      </p:sp>
      <p:sp>
        <p:nvSpPr>
          <p:cNvPr id="24" name="menu-card-0"/>
          <p:cNvSpPr/>
          <p:nvPr/>
        </p:nvSpPr>
        <p:spPr>
          <a:xfrm>
            <a:off x="731520" y="2103120"/>
            <a:ext cx="6309360" cy="932688"/>
          </a:xfrm>
          <a:prstGeom prst="roundRect">
            <a:avLst>
              <a:gd name="adj" fmla="val 21569"/>
            </a:avLst>
          </a:prstGeom>
          <a:solidFill>
            <a:srgbClr val="16283A"/>
          </a:solidFill>
          <a:ln w="15875">
            <a:solidFill>
              <a:srgbClr val="2F4A63"/>
            </a:solidFill>
            <a:prstDash val="solid"/>
          </a:ln>
        </p:spPr>
      </p:sp>
      <p:sp>
        <p:nvSpPr>
          <p:cNvPr id="25" name="menu-badge-0"/>
          <p:cNvSpPr/>
          <p:nvPr/>
        </p:nvSpPr>
        <p:spPr>
          <a:xfrm>
            <a:off x="960120" y="2276856"/>
            <a:ext cx="585216" cy="585216"/>
          </a:xfrm>
          <a:prstGeom prst="roundRect">
            <a:avLst>
              <a:gd name="adj" fmla="val 25000"/>
            </a:avLst>
          </a:prstGeom>
          <a:solidFill>
            <a:srgbClr val="FBE3E1"/>
          </a:solidFill>
          <a:ln w="12700">
            <a:solidFill>
              <a:srgbClr val="FBE3E1"/>
            </a:solidFill>
            <a:prstDash val="solid"/>
          </a:ln>
        </p:spPr>
      </p:sp>
      <p:pic>
        <p:nvPicPr>
          <p:cNvPr id="26" name="menu-icon-0" descr="preencoded.png">    </p:cNvPr>
          <p:cNvPicPr>
            <a:picLocks noChangeAspect="1"/>
          </p:cNvPicPr>
          <p:nvPr/>
        </p:nvPicPr>
        <p:blipFill>
          <a:blip r:embed="rId3"/>
          <a:stretch>
            <a:fillRect/>
          </a:stretch>
        </p:blipFill>
        <p:spPr>
          <a:xfrm>
            <a:off x="1088136" y="2404872"/>
            <a:ext cx="329184" cy="329184"/>
          </a:xfrm>
          <a:prstGeom prst="rect">
            <a:avLst/>
          </a:prstGeom>
        </p:spPr>
      </p:pic>
      <p:sp>
        <p:nvSpPr>
          <p:cNvPr id="27" name="menu-title-0"/>
          <p:cNvSpPr txBox="1"/>
          <p:nvPr/>
        </p:nvSpPr>
        <p:spPr>
          <a:xfrm>
            <a:off x="1783080" y="2258568"/>
            <a:ext cx="4572000" cy="365760"/>
          </a:xfrm>
          <a:prstGeom prst="rect">
            <a:avLst/>
          </a:prstGeom>
          <a:noFill/>
          <a:ln/>
        </p:spPr>
        <p:txBody>
          <a:bodyPr wrap="square" lIns="0" tIns="0" rIns="0" bIns="0" rtlCol="0" anchor="t"/>
          <a:lstStyle/>
          <a:p>
            <a:pPr indent="0" marL="0">
              <a:buNone/>
            </a:pPr>
            <a:r>
              <a:rPr lang="en-US" sz="1800" b="1" dirty="0">
                <a:solidFill>
                  <a:srgbClr val="FFFFFF"/>
                </a:solidFill>
                <a:latin typeface="Segoe UI" pitchFamily="34" charset="0"/>
                <a:ea typeface="Segoe UI" pitchFamily="34" charset="-122"/>
                <a:cs typeface="Segoe UI" pitchFamily="34" charset="-120"/>
              </a:rPr>
              <a:t>A “seller” asks you to scan a QR</a:t>
            </a:r>
            <a:endParaRPr lang="en-US" sz="1800" dirty="0"/>
          </a:p>
        </p:txBody>
      </p:sp>
      <p:sp>
        <p:nvSpPr>
          <p:cNvPr id="28" name="menu-sub-0"/>
          <p:cNvSpPr txBox="1"/>
          <p:nvPr/>
        </p:nvSpPr>
        <p:spPr>
          <a:xfrm>
            <a:off x="1783080" y="2624328"/>
            <a:ext cx="4572000" cy="274320"/>
          </a:xfrm>
          <a:prstGeom prst="rect">
            <a:avLst/>
          </a:prstGeom>
          <a:noFill/>
          <a:ln/>
        </p:spPr>
        <p:txBody>
          <a:bodyPr wrap="square" lIns="0" tIns="0" rIns="0" bIns="0" rtlCol="0" anchor="t"/>
          <a:lstStyle/>
          <a:p>
            <a:pPr indent="0" marL="0">
              <a:buNone/>
            </a:pPr>
            <a:r>
              <a:rPr lang="en-US" sz="1300" dirty="0">
                <a:solidFill>
                  <a:srgbClr val="A9B6C3"/>
                </a:solidFill>
                <a:latin typeface="Segoe UI" pitchFamily="34" charset="0"/>
                <a:ea typeface="Segoe UI" pitchFamily="34" charset="-122"/>
                <a:cs typeface="Segoe UI" pitchFamily="34" charset="-120"/>
              </a:rPr>
              <a:t>Marketplace payment scam</a:t>
            </a:r>
            <a:endParaRPr lang="en-US" sz="1300" dirty="0"/>
          </a:p>
        </p:txBody>
      </p:sp>
      <p:pic>
        <p:nvPicPr>
          <p:cNvPr id="29" name="menu-go-0" descr="preencoded.png">    </p:cNvPr>
          <p:cNvPicPr>
            <a:picLocks noChangeAspect="1"/>
          </p:cNvPicPr>
          <p:nvPr/>
        </p:nvPicPr>
        <p:blipFill>
          <a:blip r:embed="rId4"/>
          <a:stretch>
            <a:fillRect/>
          </a:stretch>
        </p:blipFill>
        <p:spPr>
          <a:xfrm>
            <a:off x="6492240" y="2432304"/>
            <a:ext cx="274320" cy="274320"/>
          </a:xfrm>
          <a:prstGeom prst="rect">
            <a:avLst/>
          </a:prstGeom>
        </p:spPr>
      </p:pic>
      <p:pic>
        <p:nvPicPr>
          <p:cNvPr id="30" name="hot-A “seller” asks you to scan a QR" descr="A “seller” asks you to scan a QR">
            <a:hlinkClick r:id="rId6" tooltip="A “seller” asks you to scan a QR" action="ppaction://hlinksldjump"/>
          </p:cNvPr>
          <p:cNvPicPr>
            <a:picLocks noChangeAspect="1"/>
          </p:cNvPicPr>
          <p:nvPr/>
        </p:nvPicPr>
        <p:blipFill>
          <a:blip r:embed="rId5"/>
          <a:stretch>
            <a:fillRect/>
          </a:stretch>
        </p:blipFill>
        <p:spPr>
          <a:xfrm>
            <a:off x="731520" y="2103120"/>
            <a:ext cx="6309360" cy="932688"/>
          </a:xfrm>
          <a:prstGeom prst="rect">
            <a:avLst/>
          </a:prstGeom>
        </p:spPr>
      </p:pic>
      <p:sp>
        <p:nvSpPr>
          <p:cNvPr id="31" name="menu-card-1"/>
          <p:cNvSpPr/>
          <p:nvPr/>
        </p:nvSpPr>
        <p:spPr>
          <a:xfrm>
            <a:off x="731520" y="3218688"/>
            <a:ext cx="6309360" cy="932688"/>
          </a:xfrm>
          <a:prstGeom prst="roundRect">
            <a:avLst>
              <a:gd name="adj" fmla="val 21569"/>
            </a:avLst>
          </a:prstGeom>
          <a:solidFill>
            <a:srgbClr val="16283A"/>
          </a:solidFill>
          <a:ln w="15875">
            <a:solidFill>
              <a:srgbClr val="2F4A63"/>
            </a:solidFill>
            <a:prstDash val="solid"/>
          </a:ln>
        </p:spPr>
      </p:sp>
      <p:sp>
        <p:nvSpPr>
          <p:cNvPr id="32" name="menu-badge-1"/>
          <p:cNvSpPr/>
          <p:nvPr/>
        </p:nvSpPr>
        <p:spPr>
          <a:xfrm>
            <a:off x="960120" y="3392424"/>
            <a:ext cx="585216" cy="585216"/>
          </a:xfrm>
          <a:prstGeom prst="roundRect">
            <a:avLst>
              <a:gd name="adj" fmla="val 25000"/>
            </a:avLst>
          </a:prstGeom>
          <a:solidFill>
            <a:srgbClr val="FFF4DC"/>
          </a:solidFill>
          <a:ln w="12700">
            <a:solidFill>
              <a:srgbClr val="FFF4DC"/>
            </a:solidFill>
            <a:prstDash val="solid"/>
          </a:ln>
        </p:spPr>
      </p:sp>
      <p:pic>
        <p:nvPicPr>
          <p:cNvPr id="33" name="menu-icon-1" descr="preencoded.png">    </p:cNvPr>
          <p:cNvPicPr>
            <a:picLocks noChangeAspect="1"/>
          </p:cNvPicPr>
          <p:nvPr/>
        </p:nvPicPr>
        <p:blipFill>
          <a:blip r:embed="rId7"/>
          <a:stretch>
            <a:fillRect/>
          </a:stretch>
        </p:blipFill>
        <p:spPr>
          <a:xfrm>
            <a:off x="1088136" y="3520440"/>
            <a:ext cx="329184" cy="329184"/>
          </a:xfrm>
          <a:prstGeom prst="rect">
            <a:avLst/>
          </a:prstGeom>
        </p:spPr>
      </p:pic>
      <p:sp>
        <p:nvSpPr>
          <p:cNvPr id="34" name="menu-title-1"/>
          <p:cNvSpPr txBox="1"/>
          <p:nvPr/>
        </p:nvSpPr>
        <p:spPr>
          <a:xfrm>
            <a:off x="1783080" y="3374136"/>
            <a:ext cx="4572000" cy="365760"/>
          </a:xfrm>
          <a:prstGeom prst="rect">
            <a:avLst/>
          </a:prstGeom>
          <a:noFill/>
          <a:ln/>
        </p:spPr>
        <p:txBody>
          <a:bodyPr wrap="square" lIns="0" tIns="0" rIns="0" bIns="0" rtlCol="0" anchor="t"/>
          <a:lstStyle/>
          <a:p>
            <a:pPr indent="0" marL="0">
              <a:buNone/>
            </a:pPr>
            <a:r>
              <a:rPr lang="en-US" sz="1800" b="1" dirty="0">
                <a:solidFill>
                  <a:srgbClr val="FFFFFF"/>
                </a:solidFill>
                <a:latin typeface="Segoe UI" pitchFamily="34" charset="0"/>
                <a:ea typeface="Segoe UI" pitchFamily="34" charset="-122"/>
                <a:cs typeface="Segoe UI" pitchFamily="34" charset="-120"/>
              </a:rPr>
              <a:t>A caller asks for your OTP</a:t>
            </a:r>
            <a:endParaRPr lang="en-US" sz="1800" dirty="0"/>
          </a:p>
        </p:txBody>
      </p:sp>
      <p:sp>
        <p:nvSpPr>
          <p:cNvPr id="35" name="menu-sub-1"/>
          <p:cNvSpPr txBox="1"/>
          <p:nvPr/>
        </p:nvSpPr>
        <p:spPr>
          <a:xfrm>
            <a:off x="1783080" y="3739896"/>
            <a:ext cx="4572000" cy="274320"/>
          </a:xfrm>
          <a:prstGeom prst="rect">
            <a:avLst/>
          </a:prstGeom>
          <a:noFill/>
          <a:ln/>
        </p:spPr>
        <p:txBody>
          <a:bodyPr wrap="square" lIns="0" tIns="0" rIns="0" bIns="0" rtlCol="0" anchor="t"/>
          <a:lstStyle/>
          <a:p>
            <a:pPr indent="0" marL="0">
              <a:buNone/>
            </a:pPr>
            <a:r>
              <a:rPr lang="en-US" sz="1300" dirty="0">
                <a:solidFill>
                  <a:srgbClr val="A9B6C3"/>
                </a:solidFill>
                <a:latin typeface="Segoe UI" pitchFamily="34" charset="0"/>
                <a:ea typeface="Segoe UI" pitchFamily="34" charset="-122"/>
                <a:cs typeface="Segoe UI" pitchFamily="34" charset="-120"/>
              </a:rPr>
              <a:t>Bank or delivery impersonation</a:t>
            </a:r>
            <a:endParaRPr lang="en-US" sz="1300" dirty="0"/>
          </a:p>
        </p:txBody>
      </p:sp>
      <p:pic>
        <p:nvPicPr>
          <p:cNvPr id="36" name="menu-go-1" descr="preencoded.png">    </p:cNvPr>
          <p:cNvPicPr>
            <a:picLocks noChangeAspect="1"/>
          </p:cNvPicPr>
          <p:nvPr/>
        </p:nvPicPr>
        <p:blipFill>
          <a:blip r:embed="rId8"/>
          <a:stretch>
            <a:fillRect/>
          </a:stretch>
        </p:blipFill>
        <p:spPr>
          <a:xfrm>
            <a:off x="6492240" y="3547872"/>
            <a:ext cx="274320" cy="274320"/>
          </a:xfrm>
          <a:prstGeom prst="rect">
            <a:avLst/>
          </a:prstGeom>
        </p:spPr>
      </p:pic>
      <p:pic>
        <p:nvPicPr>
          <p:cNvPr id="37" name="hot-A caller asks for your OTP" descr="A caller asks for your OTP">
            <a:hlinkClick r:id="rId10" tooltip="A caller asks for your OTP" action="ppaction://hlinksldjump"/>
          </p:cNvPr>
          <p:cNvPicPr>
            <a:picLocks noChangeAspect="1"/>
          </p:cNvPicPr>
          <p:nvPr/>
        </p:nvPicPr>
        <p:blipFill>
          <a:blip r:embed="rId9"/>
          <a:stretch>
            <a:fillRect/>
          </a:stretch>
        </p:blipFill>
        <p:spPr>
          <a:xfrm>
            <a:off x="731520" y="3218688"/>
            <a:ext cx="6309360" cy="932688"/>
          </a:xfrm>
          <a:prstGeom prst="rect">
            <a:avLst/>
          </a:prstGeom>
        </p:spPr>
      </p:pic>
      <p:sp>
        <p:nvSpPr>
          <p:cNvPr id="38" name="menu-card-2"/>
          <p:cNvSpPr/>
          <p:nvPr/>
        </p:nvSpPr>
        <p:spPr>
          <a:xfrm>
            <a:off x="731520" y="4334256"/>
            <a:ext cx="6309360" cy="932688"/>
          </a:xfrm>
          <a:prstGeom prst="roundRect">
            <a:avLst>
              <a:gd name="adj" fmla="val 21569"/>
            </a:avLst>
          </a:prstGeom>
          <a:solidFill>
            <a:srgbClr val="16283A"/>
          </a:solidFill>
          <a:ln w="15875">
            <a:solidFill>
              <a:srgbClr val="2F4A63"/>
            </a:solidFill>
            <a:prstDash val="solid"/>
          </a:ln>
        </p:spPr>
      </p:sp>
      <p:sp>
        <p:nvSpPr>
          <p:cNvPr id="39" name="menu-badge-2"/>
          <p:cNvSpPr/>
          <p:nvPr/>
        </p:nvSpPr>
        <p:spPr>
          <a:xfrm>
            <a:off x="960120" y="4507992"/>
            <a:ext cx="585216" cy="585216"/>
          </a:xfrm>
          <a:prstGeom prst="roundRect">
            <a:avLst>
              <a:gd name="adj" fmla="val 25000"/>
            </a:avLst>
          </a:prstGeom>
          <a:solidFill>
            <a:srgbClr val="E3EDF5"/>
          </a:solidFill>
          <a:ln w="12700">
            <a:solidFill>
              <a:srgbClr val="E3EDF5"/>
            </a:solidFill>
            <a:prstDash val="solid"/>
          </a:ln>
        </p:spPr>
      </p:sp>
      <p:pic>
        <p:nvPicPr>
          <p:cNvPr id="40" name="menu-icon-2" descr="preencoded.png">    </p:cNvPr>
          <p:cNvPicPr>
            <a:picLocks noChangeAspect="1"/>
          </p:cNvPicPr>
          <p:nvPr/>
        </p:nvPicPr>
        <p:blipFill>
          <a:blip r:embed="rId11"/>
          <a:stretch>
            <a:fillRect/>
          </a:stretch>
        </p:blipFill>
        <p:spPr>
          <a:xfrm>
            <a:off x="1088136" y="4636008"/>
            <a:ext cx="329184" cy="329184"/>
          </a:xfrm>
          <a:prstGeom prst="rect">
            <a:avLst/>
          </a:prstGeom>
        </p:spPr>
      </p:pic>
      <p:sp>
        <p:nvSpPr>
          <p:cNvPr id="41" name="menu-title-2"/>
          <p:cNvSpPr txBox="1"/>
          <p:nvPr/>
        </p:nvSpPr>
        <p:spPr>
          <a:xfrm>
            <a:off x="1783080" y="4489704"/>
            <a:ext cx="4572000" cy="365760"/>
          </a:xfrm>
          <a:prstGeom prst="rect">
            <a:avLst/>
          </a:prstGeom>
          <a:noFill/>
          <a:ln/>
        </p:spPr>
        <p:txBody>
          <a:bodyPr wrap="square" lIns="0" tIns="0" rIns="0" bIns="0" rtlCol="0" anchor="t"/>
          <a:lstStyle/>
          <a:p>
            <a:pPr indent="0" marL="0">
              <a:buNone/>
            </a:pPr>
            <a:r>
              <a:rPr lang="en-US" sz="1800" b="1" dirty="0">
                <a:solidFill>
                  <a:srgbClr val="FFFFFF"/>
                </a:solidFill>
                <a:latin typeface="Segoe UI" pitchFamily="34" charset="0"/>
                <a:ea typeface="Segoe UI" pitchFamily="34" charset="-122"/>
                <a:cs typeface="Segoe UI" pitchFamily="34" charset="-120"/>
              </a:rPr>
              <a:t>An ordinary call</a:t>
            </a:r>
            <a:endParaRPr lang="en-US" sz="1800" dirty="0"/>
          </a:p>
        </p:txBody>
      </p:sp>
      <p:sp>
        <p:nvSpPr>
          <p:cNvPr id="42" name="menu-sub-2"/>
          <p:cNvSpPr txBox="1"/>
          <p:nvPr/>
        </p:nvSpPr>
        <p:spPr>
          <a:xfrm>
            <a:off x="1783080" y="4855464"/>
            <a:ext cx="4572000" cy="274320"/>
          </a:xfrm>
          <a:prstGeom prst="rect">
            <a:avLst/>
          </a:prstGeom>
          <a:noFill/>
          <a:ln/>
        </p:spPr>
        <p:txBody>
          <a:bodyPr wrap="square" lIns="0" tIns="0" rIns="0" bIns="0" rtlCol="0" anchor="t"/>
          <a:lstStyle/>
          <a:p>
            <a:pPr indent="0" marL="0">
              <a:buNone/>
            </a:pPr>
            <a:r>
              <a:rPr lang="en-US" sz="1300" dirty="0">
                <a:solidFill>
                  <a:srgbClr val="A9B6C3"/>
                </a:solidFill>
                <a:latin typeface="Segoe UI" pitchFamily="34" charset="0"/>
                <a:ea typeface="Segoe UI" pitchFamily="34" charset="-122"/>
                <a:cs typeface="Segoe UI" pitchFamily="34" charset="-120"/>
              </a:rPr>
              <a:t>No payment requests</a:t>
            </a:r>
            <a:endParaRPr lang="en-US" sz="1300" dirty="0"/>
          </a:p>
        </p:txBody>
      </p:sp>
      <p:pic>
        <p:nvPicPr>
          <p:cNvPr id="43" name="menu-go-2" descr="preencoded.png">    </p:cNvPr>
          <p:cNvPicPr>
            <a:picLocks noChangeAspect="1"/>
          </p:cNvPicPr>
          <p:nvPr/>
        </p:nvPicPr>
        <p:blipFill>
          <a:blip r:embed="rId12"/>
          <a:stretch>
            <a:fillRect/>
          </a:stretch>
        </p:blipFill>
        <p:spPr>
          <a:xfrm>
            <a:off x="6492240" y="4663440"/>
            <a:ext cx="274320" cy="274320"/>
          </a:xfrm>
          <a:prstGeom prst="rect">
            <a:avLst/>
          </a:prstGeom>
        </p:spPr>
      </p:pic>
      <p:pic>
        <p:nvPicPr>
          <p:cNvPr id="44" name="hot-An ordinary call" descr="An ordinary call">
            <a:hlinkClick r:id="rId14" tooltip="An ordinary call" action="ppaction://hlinksldjump"/>
          </p:cNvPr>
          <p:cNvPicPr>
            <a:picLocks noChangeAspect="1"/>
          </p:cNvPicPr>
          <p:nvPr/>
        </p:nvPicPr>
        <p:blipFill>
          <a:blip r:embed="rId13"/>
          <a:stretch>
            <a:fillRect/>
          </a:stretch>
        </p:blipFill>
        <p:spPr>
          <a:xfrm>
            <a:off x="731520" y="4334256"/>
            <a:ext cx="6309360" cy="932688"/>
          </a:xfrm>
          <a:prstGeom prst="rect">
            <a:avLst/>
          </a:prstGeom>
        </p:spPr>
      </p:pic>
      <p:sp>
        <p:nvSpPr>
          <p:cNvPr id="45" name="menu-skip"/>
          <p:cNvSpPr txBox="1"/>
          <p:nvPr/>
        </p:nvSpPr>
        <p:spPr>
          <a:xfrm>
            <a:off x="731520" y="5623560"/>
            <a:ext cx="2926080" cy="365760"/>
          </a:xfrm>
          <a:prstGeom prst="rect">
            <a:avLst/>
          </a:prstGeom>
          <a:noFill/>
          <a:ln/>
        </p:spPr>
        <p:txBody>
          <a:bodyPr wrap="square" lIns="0" tIns="0" rIns="0" bIns="0" rtlCol="0" anchor="t"/>
          <a:lstStyle/>
          <a:p>
            <a:pPr indent="0" marL="0">
              <a:buNone/>
            </a:pPr>
            <a:r>
              <a:rPr lang="en-US" sz="1500" b="1" dirty="0">
                <a:solidFill>
                  <a:srgbClr val="7DB8E8"/>
                </a:solidFill>
                <a:latin typeface="Segoe UI" pitchFamily="34" charset="0"/>
                <a:ea typeface="Segoe UI" pitchFamily="34" charset="-122"/>
                <a:cs typeface="Segoe UI" pitchFamily="34" charset="-120"/>
              </a:rPr>
              <a:t>Skip to how it works</a:t>
            </a:r>
            <a:endParaRPr lang="en-US" sz="1500" dirty="0"/>
          </a:p>
        </p:txBody>
      </p:sp>
      <p:pic>
        <p:nvPicPr>
          <p:cNvPr id="46" name="hot-Skip to how it works" descr="Skip to how it works">
            <a:hlinkClick r:id="rId16" tooltip="Skip to how it works" action="ppaction://hlinksldjump"/>
          </p:cNvPr>
          <p:cNvPicPr>
            <a:picLocks noChangeAspect="1"/>
          </p:cNvPicPr>
          <p:nvPr/>
        </p:nvPicPr>
        <p:blipFill>
          <a:blip r:embed="rId15"/>
          <a:stretch>
            <a:fillRect/>
          </a:stretch>
        </p:blipFill>
        <p:spPr>
          <a:xfrm>
            <a:off x="731520" y="5532120"/>
            <a:ext cx="2926080" cy="54864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phone"/>
          <p:cNvSpPr/>
          <p:nvPr/>
        </p:nvSpPr>
        <p:spPr>
          <a:xfrm>
            <a:off x="8001000" y="411480"/>
            <a:ext cx="3017520" cy="6035040"/>
          </a:xfrm>
          <a:prstGeom prst="roundRect">
            <a:avLst>
              <a:gd name="adj" fmla="val 14545"/>
            </a:avLst>
          </a:prstGeom>
          <a:solidFill>
            <a:srgbClr val="0A131D"/>
          </a:solidFill>
          <a:ln w="19050">
            <a:solidFill>
              <a:srgbClr val="2E4257"/>
            </a:solidFill>
            <a:prstDash val="solid"/>
          </a:ln>
        </p:spPr>
      </p:sp>
      <p:sp>
        <p:nvSpPr>
          <p:cNvPr id="3" name="!!screen"/>
          <p:cNvSpPr/>
          <p:nvPr/>
        </p:nvSpPr>
        <p:spPr>
          <a:xfrm>
            <a:off x="8092440" y="502920"/>
            <a:ext cx="2834640" cy="5852160"/>
          </a:xfrm>
          <a:prstGeom prst="roundRect">
            <a:avLst>
              <a:gd name="adj" fmla="val 12903"/>
            </a:avLst>
          </a:prstGeom>
          <a:solidFill>
            <a:srgbClr val="0E1A27"/>
          </a:solidFill>
          <a:ln w="12700">
            <a:solidFill>
              <a:srgbClr val="0E1A27"/>
            </a:solidFill>
            <a:prstDash val="solid"/>
          </a:ln>
        </p:spPr>
      </p:sp>
      <p:sp>
        <p:nvSpPr>
          <p:cNvPr id="4" name="!!p-top"/>
          <p:cNvSpPr txBox="1"/>
          <p:nvPr/>
        </p:nvSpPr>
        <p:spPr>
          <a:xfrm>
            <a:off x="8183880" y="749808"/>
            <a:ext cx="2651760" cy="274320"/>
          </a:xfrm>
          <a:prstGeom prst="rect">
            <a:avLst/>
          </a:prstGeom>
          <a:noFill/>
          <a:ln/>
        </p:spPr>
        <p:txBody>
          <a:bodyPr wrap="square" lIns="0" tIns="0" rIns="0" bIns="0" rtlCol="0" anchor="t"/>
          <a:lstStyle/>
          <a:p>
            <a:pPr algn="ctr" indent="0" marL="0">
              <a:buNone/>
            </a:pPr>
            <a:r>
              <a:rPr lang="en-US" sz="1100" dirty="0">
                <a:solidFill>
                  <a:srgbClr val="A9B6C3"/>
                </a:solidFill>
                <a:latin typeface="Segoe UI" pitchFamily="34" charset="0"/>
                <a:ea typeface="Segoe UI" pitchFamily="34" charset="-122"/>
                <a:cs typeface="Segoe UI" pitchFamily="34" charset="-120"/>
              </a:rPr>
              <a:t>Incoming call</a:t>
            </a:r>
            <a:endParaRPr lang="en-US" sz="1100" dirty="0"/>
          </a:p>
        </p:txBody>
      </p:sp>
      <p:sp>
        <p:nvSpPr>
          <p:cNvPr id="5" name="!!halo-r3"/>
          <p:cNvSpPr/>
          <p:nvPr/>
        </p:nvSpPr>
        <p:spPr>
          <a:xfrm>
            <a:off x="8315325" y="1091565"/>
            <a:ext cx="2388870" cy="2388870"/>
          </a:xfrm>
          <a:prstGeom prst="ellipse">
            <a:avLst/>
          </a:prstGeom>
          <a:solidFill>
            <a:srgbClr val="7DB8E8">
              <a:alpha val="0"/>
            </a:srgbClr>
          </a:solidFill>
          <a:ln w="26543">
            <a:solidFill>
              <a:srgbClr val="7DB8E8">
                <a:alpha val="34000"/>
              </a:srgbClr>
            </a:solidFill>
            <a:prstDash val="solid"/>
          </a:ln>
        </p:spPr>
      </p:sp>
      <p:sp>
        <p:nvSpPr>
          <p:cNvPr id="6" name="!!halo-r2"/>
          <p:cNvSpPr/>
          <p:nvPr/>
        </p:nvSpPr>
        <p:spPr>
          <a:xfrm>
            <a:off x="8597646" y="1373886"/>
            <a:ext cx="1824228" cy="1824228"/>
          </a:xfrm>
          <a:prstGeom prst="ellipse">
            <a:avLst/>
          </a:prstGeom>
          <a:solidFill>
            <a:srgbClr val="7DB8E8">
              <a:alpha val="0"/>
            </a:srgbClr>
          </a:solidFill>
          <a:ln w="26543">
            <a:solidFill>
              <a:srgbClr val="7DB8E8">
                <a:alpha val="56000"/>
              </a:srgbClr>
            </a:solidFill>
            <a:prstDash val="solid"/>
          </a:ln>
        </p:spPr>
      </p:sp>
      <p:sp>
        <p:nvSpPr>
          <p:cNvPr id="7" name="!!halo-r1"/>
          <p:cNvSpPr/>
          <p:nvPr/>
        </p:nvSpPr>
        <p:spPr>
          <a:xfrm>
            <a:off x="8858250" y="1634490"/>
            <a:ext cx="1303020" cy="1303020"/>
          </a:xfrm>
          <a:prstGeom prst="ellipse">
            <a:avLst/>
          </a:prstGeom>
          <a:solidFill>
            <a:srgbClr val="7DB8E8">
              <a:alpha val="0"/>
            </a:srgbClr>
          </a:solidFill>
          <a:ln w="26543">
            <a:solidFill>
              <a:srgbClr val="7DB8E8">
                <a:alpha val="80000"/>
              </a:srgbClr>
            </a:solidFill>
            <a:prstDash val="solid"/>
          </a:ln>
        </p:spPr>
      </p:sp>
      <p:sp>
        <p:nvSpPr>
          <p:cNvPr id="8" name="!!halo-core"/>
          <p:cNvSpPr/>
          <p:nvPr/>
        </p:nvSpPr>
        <p:spPr>
          <a:xfrm>
            <a:off x="9075420" y="1851660"/>
            <a:ext cx="868680" cy="868680"/>
          </a:xfrm>
          <a:prstGeom prst="ellipse">
            <a:avLst/>
          </a:prstGeom>
          <a:solidFill>
            <a:srgbClr val="1B3550"/>
          </a:solidFill>
          <a:ln w="12700">
            <a:solidFill>
              <a:srgbClr val="1B3550"/>
            </a:solidFill>
            <a:prstDash val="solid"/>
          </a:ln>
        </p:spPr>
      </p:sp>
      <p:pic>
        <p:nvPicPr>
          <p:cNvPr id="9" name="!!halo-icon" descr="Scam check">    </p:cNvPr>
          <p:cNvPicPr>
            <a:picLocks noChangeAspect="1"/>
          </p:cNvPicPr>
          <p:nvPr/>
        </p:nvPicPr>
        <p:blipFill>
          <a:blip r:embed="rId1"/>
          <a:stretch>
            <a:fillRect/>
          </a:stretch>
        </p:blipFill>
        <p:spPr>
          <a:xfrm>
            <a:off x="9283903" y="2060143"/>
            <a:ext cx="451714" cy="451714"/>
          </a:xfrm>
          <a:prstGeom prst="rect">
            <a:avLst/>
          </a:prstGeom>
        </p:spPr>
      </p:pic>
      <p:sp>
        <p:nvSpPr>
          <p:cNvPr id="10" name="!!p-title"/>
          <p:cNvSpPr txBox="1"/>
          <p:nvPr/>
        </p:nvSpPr>
        <p:spPr>
          <a:xfrm>
            <a:off x="8183880" y="3611880"/>
            <a:ext cx="2651760" cy="384048"/>
          </a:xfrm>
          <a:prstGeom prst="rect">
            <a:avLst/>
          </a:prstGeom>
          <a:noFill/>
          <a:ln/>
        </p:spPr>
        <p:txBody>
          <a:bodyPr wrap="square" lIns="0" tIns="0" rIns="0" bIns="0" rtlCol="0" anchor="t"/>
          <a:lstStyle/>
          <a:p>
            <a:pPr algn="ctr" indent="0" marL="0">
              <a:buNone/>
            </a:pPr>
            <a:r>
              <a:rPr lang="en-US" sz="1700" b="1" dirty="0">
                <a:solidFill>
                  <a:srgbClr val="FFFFFF"/>
                </a:solidFill>
                <a:latin typeface="Segoe UI" pitchFamily="34" charset="0"/>
                <a:ea typeface="Segoe UI" pitchFamily="34" charset="-122"/>
                <a:cs typeface="Segoe UI" pitchFamily="34" charset="-120"/>
              </a:rPr>
              <a:t>Unknown number</a:t>
            </a:r>
            <a:endParaRPr lang="en-US" sz="1700" dirty="0"/>
          </a:p>
        </p:txBody>
      </p:sp>
      <p:sp>
        <p:nvSpPr>
          <p:cNvPr id="11" name="!!p-sub"/>
          <p:cNvSpPr txBox="1"/>
          <p:nvPr/>
        </p:nvSpPr>
        <p:spPr>
          <a:xfrm>
            <a:off x="8183880" y="4005072"/>
            <a:ext cx="2651760" cy="274320"/>
          </a:xfrm>
          <a:prstGeom prst="rect">
            <a:avLst/>
          </a:prstGeom>
          <a:noFill/>
          <a:ln/>
        </p:spPr>
        <p:txBody>
          <a:bodyPr wrap="square" lIns="0" tIns="0" rIns="0" bIns="0" rtlCol="0" anchor="t"/>
          <a:lstStyle/>
          <a:p>
            <a:pPr algn="ctr" indent="0" marL="0">
              <a:buNone/>
            </a:pPr>
            <a:r>
              <a:rPr lang="en-US" sz="1100" dirty="0">
                <a:solidFill>
                  <a:srgbClr val="A9B6C3"/>
                </a:solidFill>
                <a:latin typeface="Segoe UI" pitchFamily="34" charset="0"/>
                <a:ea typeface="Segoe UI" pitchFamily="34" charset="-122"/>
                <a:cs typeface="Segoe UI" pitchFamily="34" charset="-120"/>
              </a:rPr>
              <a:t>+91 98XXX XXX21</a:t>
            </a:r>
            <a:endParaRPr lang="en-US" sz="1100" dirty="0"/>
          </a:p>
        </p:txBody>
      </p:sp>
      <p:sp>
        <p:nvSpPr>
          <p:cNvPr id="12" name="!!p-card"/>
          <p:cNvSpPr txBox="1"/>
          <p:nvPr/>
        </p:nvSpPr>
        <p:spPr>
          <a:xfrm>
            <a:off x="8321040" y="4434840"/>
            <a:ext cx="2377440" cy="347472"/>
          </a:xfrm>
          <a:prstGeom prst="roundRect">
            <a:avLst>
              <a:gd name="adj" fmla="val 50000"/>
            </a:avLst>
          </a:prstGeom>
          <a:solidFill>
            <a:srgbClr val="21384F"/>
          </a:solidFill>
          <a:ln/>
        </p:spPr>
        <p:txBody>
          <a:bodyPr wrap="square" lIns="0" tIns="0" rIns="0" bIns="0" rtlCol="0" anchor="ctr"/>
          <a:lstStyle/>
          <a:p>
            <a:pPr algn="ctr" indent="0" marL="0">
              <a:buNone/>
            </a:pPr>
            <a:r>
              <a:rPr lang="en-US" sz="900" b="1" dirty="0">
                <a:solidFill>
                  <a:srgbClr val="CFE4F6"/>
                </a:solidFill>
                <a:latin typeface="Segoe UI" pitchFamily="34" charset="0"/>
                <a:ea typeface="Segoe UI" pitchFamily="34" charset="-122"/>
                <a:cs typeface="Segoe UI" pitchFamily="34" charset="-120"/>
              </a:rPr>
              <a:t>Scam check will listen with you</a:t>
            </a:r>
            <a:endParaRPr lang="en-US" sz="900" dirty="0"/>
          </a:p>
        </p:txBody>
      </p:sp>
      <p:sp>
        <p:nvSpPr>
          <p:cNvPr id="13" name="!!p-btn-a"/>
          <p:cNvSpPr/>
          <p:nvPr/>
        </p:nvSpPr>
        <p:spPr>
          <a:xfrm>
            <a:off x="8540496" y="5157216"/>
            <a:ext cx="658368" cy="658368"/>
          </a:xfrm>
          <a:prstGeom prst="ellipse">
            <a:avLst/>
          </a:prstGeom>
          <a:solidFill>
            <a:srgbClr val="D92D20"/>
          </a:solidFill>
          <a:ln w="12700">
            <a:solidFill>
              <a:srgbClr val="D92D20"/>
            </a:solidFill>
            <a:prstDash val="solid"/>
          </a:ln>
        </p:spPr>
      </p:sp>
      <p:pic>
        <p:nvPicPr>
          <p:cNvPr id="14" name="!!p-btn-a-icon" descr="Decline">    </p:cNvPr>
          <p:cNvPicPr>
            <a:picLocks noChangeAspect="1"/>
          </p:cNvPicPr>
          <p:nvPr/>
        </p:nvPicPr>
        <p:blipFill>
          <a:blip r:embed="rId2"/>
          <a:stretch>
            <a:fillRect/>
          </a:stretch>
        </p:blipFill>
        <p:spPr>
          <a:xfrm>
            <a:off x="8721547" y="5338267"/>
            <a:ext cx="296266" cy="296266"/>
          </a:xfrm>
          <a:prstGeom prst="rect">
            <a:avLst/>
          </a:prstGeom>
        </p:spPr>
      </p:pic>
      <p:sp>
        <p:nvSpPr>
          <p:cNvPr id="15" name="!!p-btn-a-label"/>
          <p:cNvSpPr txBox="1"/>
          <p:nvPr/>
        </p:nvSpPr>
        <p:spPr>
          <a:xfrm>
            <a:off x="8321040" y="5870448"/>
            <a:ext cx="1097280" cy="228600"/>
          </a:xfrm>
          <a:prstGeom prst="rect">
            <a:avLst/>
          </a:prstGeom>
          <a:noFill/>
          <a:ln/>
        </p:spPr>
        <p:txBody>
          <a:bodyPr wrap="square" lIns="0" tIns="0" rIns="0" bIns="0" rtlCol="0" anchor="t"/>
          <a:lstStyle/>
          <a:p>
            <a:pPr algn="ctr" indent="0" marL="0">
              <a:buNone/>
            </a:pPr>
            <a:r>
              <a:rPr lang="en-US" sz="1000" dirty="0">
                <a:solidFill>
                  <a:srgbClr val="A9B6C3"/>
                </a:solidFill>
                <a:latin typeface="Segoe UI" pitchFamily="34" charset="0"/>
                <a:ea typeface="Segoe UI" pitchFamily="34" charset="-122"/>
                <a:cs typeface="Segoe UI" pitchFamily="34" charset="-120"/>
              </a:rPr>
              <a:t>Decline</a:t>
            </a:r>
            <a:endParaRPr lang="en-US" sz="1000" dirty="0"/>
          </a:p>
        </p:txBody>
      </p:sp>
      <p:sp>
        <p:nvSpPr>
          <p:cNvPr id="16" name="!!p-btn-c"/>
          <p:cNvSpPr/>
          <p:nvPr/>
        </p:nvSpPr>
        <p:spPr>
          <a:xfrm>
            <a:off x="9820656" y="5157216"/>
            <a:ext cx="658368" cy="658368"/>
          </a:xfrm>
          <a:prstGeom prst="ellipse">
            <a:avLst/>
          </a:prstGeom>
          <a:solidFill>
            <a:srgbClr val="2E7BC0"/>
          </a:solidFill>
          <a:ln w="12700">
            <a:solidFill>
              <a:srgbClr val="2E7BC0"/>
            </a:solidFill>
            <a:prstDash val="solid"/>
          </a:ln>
        </p:spPr>
      </p:sp>
      <p:pic>
        <p:nvPicPr>
          <p:cNvPr id="17" name="!!p-btn-c-icon" descr="Answer">    </p:cNvPr>
          <p:cNvPicPr>
            <a:picLocks noChangeAspect="1"/>
          </p:cNvPicPr>
          <p:nvPr/>
        </p:nvPicPr>
        <p:blipFill>
          <a:blip r:embed="rId3"/>
          <a:stretch>
            <a:fillRect/>
          </a:stretch>
        </p:blipFill>
        <p:spPr>
          <a:xfrm>
            <a:off x="10001707" y="5338267"/>
            <a:ext cx="296266" cy="296266"/>
          </a:xfrm>
          <a:prstGeom prst="rect">
            <a:avLst/>
          </a:prstGeom>
        </p:spPr>
      </p:pic>
      <p:sp>
        <p:nvSpPr>
          <p:cNvPr id="18" name="!!p-btn-c-label"/>
          <p:cNvSpPr txBox="1"/>
          <p:nvPr/>
        </p:nvSpPr>
        <p:spPr>
          <a:xfrm>
            <a:off x="9601200" y="5870448"/>
            <a:ext cx="1097280" cy="228600"/>
          </a:xfrm>
          <a:prstGeom prst="rect">
            <a:avLst/>
          </a:prstGeom>
          <a:noFill/>
          <a:ln/>
        </p:spPr>
        <p:txBody>
          <a:bodyPr wrap="square" lIns="0" tIns="0" rIns="0" bIns="0" rtlCol="0" anchor="t"/>
          <a:lstStyle/>
          <a:p>
            <a:pPr algn="ctr" indent="0" marL="0">
              <a:buNone/>
            </a:pPr>
            <a:r>
              <a:rPr lang="en-US" sz="1000" dirty="0">
                <a:solidFill>
                  <a:srgbClr val="A9B6C3"/>
                </a:solidFill>
                <a:latin typeface="Segoe UI" pitchFamily="34" charset="0"/>
                <a:ea typeface="Segoe UI" pitchFamily="34" charset="-122"/>
                <a:cs typeface="Segoe UI" pitchFamily="34" charset="-120"/>
              </a:rPr>
              <a:t>Answer</a:t>
            </a:r>
            <a:endParaRPr lang="en-US" sz="1000" dirty="0"/>
          </a:p>
        </p:txBody>
      </p:sp>
      <p:sp>
        <p:nvSpPr>
          <p:cNvPr id="19" name="!!step-num"/>
          <p:cNvSpPr txBox="1"/>
          <p:nvPr/>
        </p:nvSpPr>
        <p:spPr>
          <a:xfrm>
            <a:off x="731520" y="1417320"/>
            <a:ext cx="6400800" cy="365760"/>
          </a:xfrm>
          <a:prstGeom prst="rect">
            <a:avLst/>
          </a:prstGeom>
          <a:noFill/>
          <a:ln/>
        </p:spPr>
        <p:txBody>
          <a:bodyPr wrap="square" lIns="0" tIns="0" rIns="0" bIns="0" rtlCol="0" anchor="t"/>
          <a:lstStyle/>
          <a:p>
            <a:pPr indent="0" marL="0">
              <a:buNone/>
            </a:pPr>
            <a:r>
              <a:rPr lang="en-US" sz="1400" b="1" spc="200" kern="0" dirty="0">
                <a:solidFill>
                  <a:srgbClr val="7DB8E8"/>
                </a:solidFill>
                <a:latin typeface="Segoe UI" pitchFamily="34" charset="0"/>
                <a:ea typeface="Segoe UI" pitchFamily="34" charset="-122"/>
                <a:cs typeface="Segoe UI" pitchFamily="34" charset="-120"/>
              </a:rPr>
              <a:t>1 · THE PHONE RINGS</a:t>
            </a:r>
            <a:endParaRPr lang="en-US" sz="1400" dirty="0"/>
          </a:p>
        </p:txBody>
      </p:sp>
      <p:sp>
        <p:nvSpPr>
          <p:cNvPr id="20" name="!!step-title"/>
          <p:cNvSpPr txBox="1"/>
          <p:nvPr/>
        </p:nvSpPr>
        <p:spPr>
          <a:xfrm>
            <a:off x="731520" y="1828800"/>
            <a:ext cx="6583680" cy="1737360"/>
          </a:xfrm>
          <a:prstGeom prst="rect">
            <a:avLst/>
          </a:prstGeom>
          <a:noFill/>
          <a:ln/>
        </p:spPr>
        <p:txBody>
          <a:bodyPr wrap="square" lIns="0" tIns="0" rIns="0" bIns="0" rtlCol="0" anchor="t"/>
          <a:lstStyle/>
          <a:p>
            <a:pPr indent="0" marL="0">
              <a:buNone/>
            </a:pPr>
            <a:r>
              <a:rPr lang="en-US" sz="3800" b="1" dirty="0">
                <a:solidFill>
                  <a:srgbClr val="FFFFFF"/>
                </a:solidFill>
                <a:latin typeface="Segoe UI" pitchFamily="34" charset="0"/>
                <a:ea typeface="Segoe UI" pitchFamily="34" charset="-122"/>
                <a:cs typeface="Segoe UI" pitchFamily="34" charset="-120"/>
              </a:rPr>
              <a:t>The caller uses any phone</a:t>
            </a:r>
            <a:endParaRPr lang="en-US" sz="3800" dirty="0"/>
          </a:p>
        </p:txBody>
      </p:sp>
      <p:sp>
        <p:nvSpPr>
          <p:cNvPr id="21" name="!!step-body"/>
          <p:cNvSpPr txBox="1"/>
          <p:nvPr/>
        </p:nvSpPr>
        <p:spPr>
          <a:xfrm>
            <a:off x="731520" y="2788920"/>
            <a:ext cx="6217920" cy="1188720"/>
          </a:xfrm>
          <a:prstGeom prst="rect">
            <a:avLst/>
          </a:prstGeom>
          <a:noFill/>
          <a:ln/>
        </p:spPr>
        <p:txBody>
          <a:bodyPr wrap="square" lIns="0" tIns="0" rIns="0" bIns="0" rtlCol="0" anchor="t"/>
          <a:lstStyle/>
          <a:p>
            <a:pPr indent="0" marL="0">
              <a:buNone/>
            </a:pPr>
            <a:r>
              <a:rPr lang="en-US" sz="1800" dirty="0">
                <a:solidFill>
                  <a:srgbClr val="A9B6C3"/>
                </a:solidFill>
                <a:latin typeface="Segoe UI" pitchFamily="34" charset="0"/>
                <a:ea typeface="Segoe UI" pitchFamily="34" charset="-122"/>
                <a:cs typeface="Segoe UI" pitchFamily="34" charset="-120"/>
              </a:rPr>
              <a:t>No app on their side, just the default dialer. Our user answers in Edgerunners.</a:t>
            </a:r>
            <a:endParaRPr lang="en-US" sz="1800" dirty="0"/>
          </a:p>
        </p:txBody>
      </p:sp>
      <p:sp>
        <p:nvSpPr>
          <p:cNvPr id="22" name="!!step-hint"/>
          <p:cNvSpPr txBox="1"/>
          <p:nvPr/>
        </p:nvSpPr>
        <p:spPr>
          <a:xfrm>
            <a:off x="731520" y="5897880"/>
            <a:ext cx="6400800" cy="320040"/>
          </a:xfrm>
          <a:prstGeom prst="rect">
            <a:avLst/>
          </a:prstGeom>
          <a:noFill/>
          <a:ln/>
        </p:spPr>
        <p:txBody>
          <a:bodyPr wrap="square" lIns="0" tIns="0" rIns="0" bIns="0" rtlCol="0" anchor="t"/>
          <a:lstStyle/>
          <a:p>
            <a:pPr indent="0" marL="0">
              <a:buNone/>
            </a:pPr>
            <a:r>
              <a:rPr lang="en-US" sz="1300" i="1" dirty="0">
                <a:solidFill>
                  <a:srgbClr val="7DB8E8"/>
                </a:solidFill>
                <a:latin typeface="Segoe UI" pitchFamily="34" charset="0"/>
                <a:ea typeface="Segoe UI" pitchFamily="34" charset="-122"/>
                <a:cs typeface="Segoe UI" pitchFamily="34" charset="-120"/>
              </a:rPr>
              <a:t>Click Answer on the phone</a:t>
            </a:r>
            <a:endParaRPr lang="en-US" sz="1300" dirty="0"/>
          </a:p>
        </p:txBody>
      </p:sp>
      <p:pic>
        <p:nvPicPr>
          <p:cNvPr id="23" name="hot-Answer" descr="Answer">
            <a:hlinkClick r:id="rId5" tooltip="Answer" action="ppaction://hlinksldjump"/>
          </p:cNvPr>
          <p:cNvPicPr>
            <a:picLocks noChangeAspect="1"/>
          </p:cNvPicPr>
          <p:nvPr/>
        </p:nvPicPr>
        <p:blipFill>
          <a:blip r:embed="rId4"/>
          <a:stretch>
            <a:fillRect/>
          </a:stretch>
        </p:blipFill>
        <p:spPr>
          <a:xfrm>
            <a:off x="9738360" y="5074920"/>
            <a:ext cx="822960" cy="91440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phone"/>
          <p:cNvSpPr/>
          <p:nvPr/>
        </p:nvSpPr>
        <p:spPr>
          <a:xfrm>
            <a:off x="8001000" y="411480"/>
            <a:ext cx="3017520" cy="6035040"/>
          </a:xfrm>
          <a:prstGeom prst="roundRect">
            <a:avLst>
              <a:gd name="adj" fmla="val 14545"/>
            </a:avLst>
          </a:prstGeom>
          <a:solidFill>
            <a:srgbClr val="0A131D"/>
          </a:solidFill>
          <a:ln w="19050">
            <a:solidFill>
              <a:srgbClr val="2E4257"/>
            </a:solidFill>
            <a:prstDash val="solid"/>
          </a:ln>
        </p:spPr>
      </p:sp>
      <p:sp>
        <p:nvSpPr>
          <p:cNvPr id="3" name="!!screen"/>
          <p:cNvSpPr/>
          <p:nvPr/>
        </p:nvSpPr>
        <p:spPr>
          <a:xfrm>
            <a:off x="8092440" y="502920"/>
            <a:ext cx="2834640" cy="5852160"/>
          </a:xfrm>
          <a:prstGeom prst="roundRect">
            <a:avLst>
              <a:gd name="adj" fmla="val 12903"/>
            </a:avLst>
          </a:prstGeom>
          <a:solidFill>
            <a:srgbClr val="0E1A27"/>
          </a:solidFill>
          <a:ln w="12700">
            <a:solidFill>
              <a:srgbClr val="0E1A27"/>
            </a:solidFill>
            <a:prstDash val="solid"/>
          </a:ln>
        </p:spPr>
      </p:sp>
      <p:sp>
        <p:nvSpPr>
          <p:cNvPr id="4" name="!!p-top"/>
          <p:cNvSpPr txBox="1"/>
          <p:nvPr/>
        </p:nvSpPr>
        <p:spPr>
          <a:xfrm>
            <a:off x="8183880" y="713232"/>
            <a:ext cx="2651760" cy="310896"/>
          </a:xfrm>
          <a:prstGeom prst="rect">
            <a:avLst/>
          </a:prstGeom>
          <a:noFill/>
          <a:ln/>
        </p:spPr>
        <p:txBody>
          <a:bodyPr wrap="square" lIns="0" tIns="0" rIns="0" bIns="0" rtlCol="0" anchor="t"/>
          <a:lstStyle/>
          <a:p>
            <a:pPr algn="ctr" indent="0" marL="0">
              <a:buNone/>
            </a:pPr>
            <a:r>
              <a:rPr lang="en-US" sz="1400" b="1" dirty="0">
                <a:solidFill>
                  <a:srgbClr val="FFFFFF"/>
                </a:solidFill>
                <a:latin typeface="Segoe UI" pitchFamily="34" charset="0"/>
                <a:ea typeface="Segoe UI" pitchFamily="34" charset="-122"/>
                <a:cs typeface="Segoe UI" pitchFamily="34" charset="-120"/>
              </a:rPr>
              <a:t>Unknown number</a:t>
            </a:r>
            <a:endParaRPr lang="en-US" sz="1400" dirty="0"/>
          </a:p>
        </p:txBody>
      </p:sp>
      <p:sp>
        <p:nvSpPr>
          <p:cNvPr id="5" name="!!p-clock"/>
          <p:cNvSpPr txBox="1"/>
          <p:nvPr/>
        </p:nvSpPr>
        <p:spPr>
          <a:xfrm>
            <a:off x="8183880" y="1005840"/>
            <a:ext cx="2651760" cy="237744"/>
          </a:xfrm>
          <a:prstGeom prst="rect">
            <a:avLst/>
          </a:prstGeom>
          <a:noFill/>
          <a:ln/>
        </p:spPr>
        <p:txBody>
          <a:bodyPr wrap="square" lIns="0" tIns="0" rIns="0" bIns="0" rtlCol="0" anchor="t"/>
          <a:lstStyle/>
          <a:p>
            <a:pPr algn="ctr" indent="0" marL="0">
              <a:buNone/>
            </a:pPr>
            <a:r>
              <a:rPr lang="en-US" sz="1000" dirty="0">
                <a:solidFill>
                  <a:srgbClr val="A9B6C3"/>
                </a:solidFill>
                <a:latin typeface="Segoe UI" pitchFamily="34" charset="0"/>
                <a:ea typeface="Segoe UI" pitchFamily="34" charset="-122"/>
                <a:cs typeface="Segoe UI" pitchFamily="34" charset="-120"/>
              </a:rPr>
              <a:t>0:04</a:t>
            </a:r>
            <a:endParaRPr lang="en-US" sz="1000" dirty="0"/>
          </a:p>
        </p:txBody>
      </p:sp>
      <p:sp>
        <p:nvSpPr>
          <p:cNvPr id="6" name="!!halo-r3"/>
          <p:cNvSpPr/>
          <p:nvPr/>
        </p:nvSpPr>
        <p:spPr>
          <a:xfrm>
            <a:off x="8378190" y="1200150"/>
            <a:ext cx="2263140" cy="2263140"/>
          </a:xfrm>
          <a:prstGeom prst="ellipse">
            <a:avLst/>
          </a:prstGeom>
          <a:solidFill>
            <a:srgbClr val="7DB8E8">
              <a:alpha val="0"/>
            </a:srgbClr>
          </a:solidFill>
          <a:ln w="25146">
            <a:solidFill>
              <a:srgbClr val="7DB8E8">
                <a:alpha val="20000"/>
              </a:srgbClr>
            </a:solidFill>
            <a:prstDash val="solid"/>
          </a:ln>
        </p:spPr>
      </p:sp>
      <p:sp>
        <p:nvSpPr>
          <p:cNvPr id="7" name="!!halo-r2"/>
          <p:cNvSpPr/>
          <p:nvPr/>
        </p:nvSpPr>
        <p:spPr>
          <a:xfrm>
            <a:off x="8645652" y="1467612"/>
            <a:ext cx="1728216" cy="1728216"/>
          </a:xfrm>
          <a:prstGeom prst="ellipse">
            <a:avLst/>
          </a:prstGeom>
          <a:solidFill>
            <a:srgbClr val="7DB8E8">
              <a:alpha val="0"/>
            </a:srgbClr>
          </a:solidFill>
          <a:ln w="25146">
            <a:solidFill>
              <a:srgbClr val="7DB8E8">
                <a:alpha val="38000"/>
              </a:srgbClr>
            </a:solidFill>
            <a:prstDash val="solid"/>
          </a:ln>
        </p:spPr>
      </p:sp>
      <p:sp>
        <p:nvSpPr>
          <p:cNvPr id="8" name="!!halo-r1"/>
          <p:cNvSpPr/>
          <p:nvPr/>
        </p:nvSpPr>
        <p:spPr>
          <a:xfrm>
            <a:off x="8892540" y="1714500"/>
            <a:ext cx="1234440" cy="1234440"/>
          </a:xfrm>
          <a:prstGeom prst="ellipse">
            <a:avLst/>
          </a:prstGeom>
          <a:solidFill>
            <a:srgbClr val="7DB8E8">
              <a:alpha val="0"/>
            </a:srgbClr>
          </a:solidFill>
          <a:ln w="25146">
            <a:solidFill>
              <a:srgbClr val="7DB8E8">
                <a:alpha val="62000"/>
              </a:srgbClr>
            </a:solidFill>
            <a:prstDash val="solid"/>
          </a:ln>
        </p:spPr>
      </p:sp>
      <p:sp>
        <p:nvSpPr>
          <p:cNvPr id="9" name="!!halo-core"/>
          <p:cNvSpPr/>
          <p:nvPr/>
        </p:nvSpPr>
        <p:spPr>
          <a:xfrm>
            <a:off x="9098280" y="1920240"/>
            <a:ext cx="822960" cy="822960"/>
          </a:xfrm>
          <a:prstGeom prst="ellipse">
            <a:avLst/>
          </a:prstGeom>
          <a:solidFill>
            <a:srgbClr val="1B3550"/>
          </a:solidFill>
          <a:ln w="12700">
            <a:solidFill>
              <a:srgbClr val="1B3550"/>
            </a:solidFill>
            <a:prstDash val="solid"/>
          </a:ln>
        </p:spPr>
      </p:sp>
      <p:pic>
        <p:nvPicPr>
          <p:cNvPr id="10" name="!!halo-icon" descr="Scam check">    </p:cNvPr>
          <p:cNvPicPr>
            <a:picLocks noChangeAspect="1"/>
          </p:cNvPicPr>
          <p:nvPr/>
        </p:nvPicPr>
        <p:blipFill>
          <a:blip r:embed="rId1"/>
          <a:stretch>
            <a:fillRect/>
          </a:stretch>
        </p:blipFill>
        <p:spPr>
          <a:xfrm>
            <a:off x="9295790" y="2117750"/>
            <a:ext cx="427939" cy="427939"/>
          </a:xfrm>
          <a:prstGeom prst="rect">
            <a:avLst/>
          </a:prstGeom>
        </p:spPr>
      </p:pic>
      <p:sp>
        <p:nvSpPr>
          <p:cNvPr id="11" name="!!p-card"/>
          <p:cNvSpPr/>
          <p:nvPr/>
        </p:nvSpPr>
        <p:spPr>
          <a:xfrm>
            <a:off x="8229600" y="3611880"/>
            <a:ext cx="2560320" cy="1325880"/>
          </a:xfrm>
          <a:prstGeom prst="roundRect">
            <a:avLst>
              <a:gd name="adj" fmla="val 11034"/>
            </a:avLst>
          </a:prstGeom>
          <a:solidFill>
            <a:srgbClr val="16283A"/>
          </a:solidFill>
          <a:ln w="15875">
            <a:solidFill>
              <a:srgbClr val="2F4A63"/>
            </a:solidFill>
            <a:prstDash val="solid"/>
          </a:ln>
        </p:spPr>
      </p:sp>
      <p:sp>
        <p:nvSpPr>
          <p:cNvPr id="12" name="!!p-card-title"/>
          <p:cNvSpPr txBox="1"/>
          <p:nvPr/>
        </p:nvSpPr>
        <p:spPr>
          <a:xfrm>
            <a:off x="8385048" y="3721608"/>
            <a:ext cx="2249424" cy="274320"/>
          </a:xfrm>
          <a:prstGeom prst="rect">
            <a:avLst/>
          </a:prstGeom>
          <a:noFill/>
          <a:ln/>
        </p:spPr>
        <p:txBody>
          <a:bodyPr wrap="square" lIns="0" tIns="0" rIns="0" bIns="0" rtlCol="0" anchor="t"/>
          <a:lstStyle/>
          <a:p>
            <a:pPr indent="0" marL="0">
              <a:buNone/>
            </a:pPr>
            <a:r>
              <a:rPr lang="en-US" sz="1200" b="1" dirty="0">
                <a:solidFill>
                  <a:srgbClr val="E8F1F9"/>
                </a:solidFill>
                <a:latin typeface="Segoe UI" pitchFamily="34" charset="0"/>
                <a:ea typeface="Segoe UI" pitchFamily="34" charset="-122"/>
                <a:cs typeface="Segoe UI" pitchFamily="34" charset="-120"/>
              </a:rPr>
              <a:t>Listening with you</a:t>
            </a:r>
            <a:endParaRPr lang="en-US" sz="1200" dirty="0"/>
          </a:p>
        </p:txBody>
      </p:sp>
      <p:sp>
        <p:nvSpPr>
          <p:cNvPr id="13" name="!!p-card-sub"/>
          <p:cNvSpPr txBox="1"/>
          <p:nvPr/>
        </p:nvSpPr>
        <p:spPr>
          <a:xfrm>
            <a:off x="8385048" y="4023360"/>
            <a:ext cx="2249424" cy="420624"/>
          </a:xfrm>
          <a:prstGeom prst="rect">
            <a:avLst/>
          </a:prstGeom>
          <a:noFill/>
          <a:ln/>
        </p:spPr>
        <p:txBody>
          <a:bodyPr wrap="square" lIns="0" tIns="0" rIns="0" bIns="0" rtlCol="0" anchor="t"/>
          <a:lstStyle/>
          <a:p>
            <a:pPr indent="0" marL="0">
              <a:buNone/>
            </a:pPr>
            <a:r>
              <a:rPr lang="en-US" sz="950" dirty="0">
                <a:solidFill>
                  <a:srgbClr val="E8F1F9"/>
                </a:solidFill>
                <a:latin typeface="Segoe UI" pitchFamily="34" charset="0"/>
                <a:ea typeface="Segoe UI" pitchFamily="34" charset="-122"/>
                <a:cs typeface="Segoe UI" pitchFamily="34" charset="-120"/>
              </a:rPr>
              <a:t>We'll warn you if they ask for a QR scan, UPI PIN or OTP.</a:t>
            </a:r>
            <a:endParaRPr lang="en-US" sz="950" dirty="0"/>
          </a:p>
        </p:txBody>
      </p:sp>
      <p:sp>
        <p:nvSpPr>
          <p:cNvPr id="14" name="!!p-btn-a"/>
          <p:cNvSpPr/>
          <p:nvPr/>
        </p:nvSpPr>
        <p:spPr>
          <a:xfrm>
            <a:off x="8403336" y="5202936"/>
            <a:ext cx="566928" cy="566928"/>
          </a:xfrm>
          <a:prstGeom prst="ellipse">
            <a:avLst/>
          </a:prstGeom>
          <a:solidFill>
            <a:srgbClr val="FFFFFF">
              <a:alpha val="8000"/>
            </a:srgbClr>
          </a:solidFill>
          <a:ln w="12700">
            <a:solidFill>
              <a:srgbClr val="3A4E63"/>
            </a:solidFill>
            <a:prstDash val="solid"/>
          </a:ln>
        </p:spPr>
      </p:sp>
      <p:pic>
        <p:nvPicPr>
          <p:cNvPr id="15" name="!!p-btn-a-icon" descr="Mute">    </p:cNvPr>
          <p:cNvPicPr>
            <a:picLocks noChangeAspect="1"/>
          </p:cNvPicPr>
          <p:nvPr/>
        </p:nvPicPr>
        <p:blipFill>
          <a:blip r:embed="rId2"/>
          <a:stretch>
            <a:fillRect/>
          </a:stretch>
        </p:blipFill>
        <p:spPr>
          <a:xfrm>
            <a:off x="8559241" y="5358841"/>
            <a:ext cx="255118" cy="255118"/>
          </a:xfrm>
          <a:prstGeom prst="rect">
            <a:avLst/>
          </a:prstGeom>
        </p:spPr>
      </p:pic>
      <p:sp>
        <p:nvSpPr>
          <p:cNvPr id="16" name="!!p-btn-a-label"/>
          <p:cNvSpPr txBox="1"/>
          <p:nvPr/>
        </p:nvSpPr>
        <p:spPr>
          <a:xfrm>
            <a:off x="8138160" y="5824728"/>
            <a:ext cx="1097280" cy="228600"/>
          </a:xfrm>
          <a:prstGeom prst="rect">
            <a:avLst/>
          </a:prstGeom>
          <a:noFill/>
          <a:ln/>
        </p:spPr>
        <p:txBody>
          <a:bodyPr wrap="square" lIns="0" tIns="0" rIns="0" bIns="0" rtlCol="0" anchor="t"/>
          <a:lstStyle/>
          <a:p>
            <a:pPr algn="ctr" indent="0" marL="0">
              <a:buNone/>
            </a:pPr>
            <a:r>
              <a:rPr lang="en-US" sz="1000" dirty="0">
                <a:solidFill>
                  <a:srgbClr val="A9B6C3"/>
                </a:solidFill>
                <a:latin typeface="Segoe UI" pitchFamily="34" charset="0"/>
                <a:ea typeface="Segoe UI" pitchFamily="34" charset="-122"/>
                <a:cs typeface="Segoe UI" pitchFamily="34" charset="-120"/>
              </a:rPr>
              <a:t>Mute</a:t>
            </a:r>
            <a:endParaRPr lang="en-US" sz="1000" dirty="0"/>
          </a:p>
        </p:txBody>
      </p:sp>
      <p:sp>
        <p:nvSpPr>
          <p:cNvPr id="17" name="!!p-btn-b"/>
          <p:cNvSpPr/>
          <p:nvPr/>
        </p:nvSpPr>
        <p:spPr>
          <a:xfrm>
            <a:off x="9226296" y="5202936"/>
            <a:ext cx="566928" cy="566928"/>
          </a:xfrm>
          <a:prstGeom prst="ellipse">
            <a:avLst/>
          </a:prstGeom>
          <a:solidFill>
            <a:srgbClr val="FFFFFF">
              <a:alpha val="8000"/>
            </a:srgbClr>
          </a:solidFill>
          <a:ln w="12700">
            <a:solidFill>
              <a:srgbClr val="3A4E63"/>
            </a:solidFill>
            <a:prstDash val="solid"/>
          </a:ln>
        </p:spPr>
      </p:sp>
      <p:pic>
        <p:nvPicPr>
          <p:cNvPr id="18" name="!!p-btn-b-icon" descr="Speaker">    </p:cNvPr>
          <p:cNvPicPr>
            <a:picLocks noChangeAspect="1"/>
          </p:cNvPicPr>
          <p:nvPr/>
        </p:nvPicPr>
        <p:blipFill>
          <a:blip r:embed="rId3"/>
          <a:stretch>
            <a:fillRect/>
          </a:stretch>
        </p:blipFill>
        <p:spPr>
          <a:xfrm>
            <a:off x="9382201" y="5358841"/>
            <a:ext cx="255118" cy="255118"/>
          </a:xfrm>
          <a:prstGeom prst="rect">
            <a:avLst/>
          </a:prstGeom>
        </p:spPr>
      </p:pic>
      <p:sp>
        <p:nvSpPr>
          <p:cNvPr id="19" name="!!p-btn-b-label"/>
          <p:cNvSpPr txBox="1"/>
          <p:nvPr/>
        </p:nvSpPr>
        <p:spPr>
          <a:xfrm>
            <a:off x="8961120" y="5824728"/>
            <a:ext cx="1097280" cy="228600"/>
          </a:xfrm>
          <a:prstGeom prst="rect">
            <a:avLst/>
          </a:prstGeom>
          <a:noFill/>
          <a:ln/>
        </p:spPr>
        <p:txBody>
          <a:bodyPr wrap="square" lIns="0" tIns="0" rIns="0" bIns="0" rtlCol="0" anchor="t"/>
          <a:lstStyle/>
          <a:p>
            <a:pPr algn="ctr" indent="0" marL="0">
              <a:buNone/>
            </a:pPr>
            <a:r>
              <a:rPr lang="en-US" sz="1000" dirty="0">
                <a:solidFill>
                  <a:srgbClr val="A9B6C3"/>
                </a:solidFill>
                <a:latin typeface="Segoe UI" pitchFamily="34" charset="0"/>
                <a:ea typeface="Segoe UI" pitchFamily="34" charset="-122"/>
                <a:cs typeface="Segoe UI" pitchFamily="34" charset="-120"/>
              </a:rPr>
              <a:t>Speaker</a:t>
            </a:r>
            <a:endParaRPr lang="en-US" sz="1000" dirty="0"/>
          </a:p>
        </p:txBody>
      </p:sp>
      <p:sp>
        <p:nvSpPr>
          <p:cNvPr id="20" name="!!p-btn-c"/>
          <p:cNvSpPr/>
          <p:nvPr/>
        </p:nvSpPr>
        <p:spPr>
          <a:xfrm>
            <a:off x="10049256" y="5202936"/>
            <a:ext cx="566928" cy="566928"/>
          </a:xfrm>
          <a:prstGeom prst="ellipse">
            <a:avLst/>
          </a:prstGeom>
          <a:solidFill>
            <a:srgbClr val="D92D20"/>
          </a:solidFill>
          <a:ln w="12700">
            <a:solidFill>
              <a:srgbClr val="D92D20"/>
            </a:solidFill>
            <a:prstDash val="solid"/>
          </a:ln>
        </p:spPr>
      </p:sp>
      <p:pic>
        <p:nvPicPr>
          <p:cNvPr id="21" name="!!p-btn-c-icon" descr="End">    </p:cNvPr>
          <p:cNvPicPr>
            <a:picLocks noChangeAspect="1"/>
          </p:cNvPicPr>
          <p:nvPr/>
        </p:nvPicPr>
        <p:blipFill>
          <a:blip r:embed="rId4"/>
          <a:stretch>
            <a:fillRect/>
          </a:stretch>
        </p:blipFill>
        <p:spPr>
          <a:xfrm>
            <a:off x="10205161" y="5358841"/>
            <a:ext cx="255118" cy="255118"/>
          </a:xfrm>
          <a:prstGeom prst="rect">
            <a:avLst/>
          </a:prstGeom>
        </p:spPr>
      </p:pic>
      <p:sp>
        <p:nvSpPr>
          <p:cNvPr id="22" name="!!p-btn-c-label"/>
          <p:cNvSpPr txBox="1"/>
          <p:nvPr/>
        </p:nvSpPr>
        <p:spPr>
          <a:xfrm>
            <a:off x="9784080" y="5824728"/>
            <a:ext cx="1097280" cy="228600"/>
          </a:xfrm>
          <a:prstGeom prst="rect">
            <a:avLst/>
          </a:prstGeom>
          <a:noFill/>
          <a:ln/>
        </p:spPr>
        <p:txBody>
          <a:bodyPr wrap="square" lIns="0" tIns="0" rIns="0" bIns="0" rtlCol="0" anchor="t"/>
          <a:lstStyle/>
          <a:p>
            <a:pPr algn="ctr" indent="0" marL="0">
              <a:buNone/>
            </a:pPr>
            <a:r>
              <a:rPr lang="en-US" sz="1000" dirty="0">
                <a:solidFill>
                  <a:srgbClr val="A9B6C3"/>
                </a:solidFill>
                <a:latin typeface="Segoe UI" pitchFamily="34" charset="0"/>
                <a:ea typeface="Segoe UI" pitchFamily="34" charset="-122"/>
                <a:cs typeface="Segoe UI" pitchFamily="34" charset="-120"/>
              </a:rPr>
              <a:t>End</a:t>
            </a:r>
            <a:endParaRPr lang="en-US" sz="1000" dirty="0"/>
          </a:p>
        </p:txBody>
      </p:sp>
      <p:sp>
        <p:nvSpPr>
          <p:cNvPr id="23" name="!!step-num"/>
          <p:cNvSpPr txBox="1"/>
          <p:nvPr/>
        </p:nvSpPr>
        <p:spPr>
          <a:xfrm>
            <a:off x="731520" y="1417320"/>
            <a:ext cx="6400800" cy="365760"/>
          </a:xfrm>
          <a:prstGeom prst="rect">
            <a:avLst/>
          </a:prstGeom>
          <a:noFill/>
          <a:ln/>
        </p:spPr>
        <p:txBody>
          <a:bodyPr wrap="square" lIns="0" tIns="0" rIns="0" bIns="0" rtlCol="0" anchor="t"/>
          <a:lstStyle/>
          <a:p>
            <a:pPr indent="0" marL="0">
              <a:buNone/>
            </a:pPr>
            <a:r>
              <a:rPr lang="en-US" sz="1400" b="1" spc="200" kern="0" dirty="0">
                <a:solidFill>
                  <a:srgbClr val="7DB8E8"/>
                </a:solidFill>
                <a:latin typeface="Segoe UI" pitchFamily="34" charset="0"/>
                <a:ea typeface="Segoe UI" pitchFamily="34" charset="-122"/>
                <a:cs typeface="Segoe UI" pitchFamily="34" charset="-120"/>
              </a:rPr>
              <a:t>2 · LISTENING</a:t>
            </a:r>
            <a:endParaRPr lang="en-US" sz="1400" dirty="0"/>
          </a:p>
        </p:txBody>
      </p:sp>
      <p:sp>
        <p:nvSpPr>
          <p:cNvPr id="24" name="!!step-title"/>
          <p:cNvSpPr txBox="1"/>
          <p:nvPr/>
        </p:nvSpPr>
        <p:spPr>
          <a:xfrm>
            <a:off x="731520" y="1828800"/>
            <a:ext cx="6583680" cy="1737360"/>
          </a:xfrm>
          <a:prstGeom prst="rect">
            <a:avLst/>
          </a:prstGeom>
          <a:noFill/>
          <a:ln/>
        </p:spPr>
        <p:txBody>
          <a:bodyPr wrap="square" lIns="0" tIns="0" rIns="0" bIns="0" rtlCol="0" anchor="t"/>
          <a:lstStyle/>
          <a:p>
            <a:pPr indent="0" marL="0">
              <a:buNone/>
            </a:pPr>
            <a:r>
              <a:rPr lang="en-US" sz="3800" b="1" dirty="0">
                <a:solidFill>
                  <a:srgbClr val="FFFFFF"/>
                </a:solidFill>
                <a:latin typeface="Segoe UI" pitchFamily="34" charset="0"/>
                <a:ea typeface="Segoe UI" pitchFamily="34" charset="-122"/>
                <a:cs typeface="Segoe UI" pitchFamily="34" charset="-120"/>
              </a:rPr>
              <a:t>The halo breathes while it listens</a:t>
            </a:r>
            <a:endParaRPr lang="en-US" sz="3800" dirty="0"/>
          </a:p>
        </p:txBody>
      </p:sp>
      <p:sp>
        <p:nvSpPr>
          <p:cNvPr id="25" name="!!step-body"/>
          <p:cNvSpPr txBox="1"/>
          <p:nvPr/>
        </p:nvSpPr>
        <p:spPr>
          <a:xfrm>
            <a:off x="731520" y="3611880"/>
            <a:ext cx="6217920" cy="1188720"/>
          </a:xfrm>
          <a:prstGeom prst="rect">
            <a:avLst/>
          </a:prstGeom>
          <a:noFill/>
          <a:ln/>
        </p:spPr>
        <p:txBody>
          <a:bodyPr wrap="square" lIns="0" tIns="0" rIns="0" bIns="0" rtlCol="0" anchor="t"/>
          <a:lstStyle/>
          <a:p>
            <a:pPr indent="0" marL="0">
              <a:buNone/>
            </a:pPr>
            <a:r>
              <a:rPr lang="en-US" sz="1800" dirty="0">
                <a:solidFill>
                  <a:srgbClr val="A9B6C3"/>
                </a:solidFill>
                <a:latin typeface="Segoe UI" pitchFamily="34" charset="0"/>
                <a:ea typeface="Segoe UI" pitchFamily="34" charset="-122"/>
                <a:cs typeface="Segoe UI" pitchFamily="34" charset="-120"/>
              </a:rPr>
              <a:t>You can forget it's there. Nothing happens unless the caller asks for a payment, PIN or OTP.</a:t>
            </a:r>
            <a:endParaRPr lang="en-US" sz="18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advTm="3500">
        <p159:morph option="byObject"/>
      </p:transition>
    </mc:Choice>
    <mc:Fallback>
      <p:transition spd="slow" advTm="350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phone"/>
          <p:cNvSpPr/>
          <p:nvPr/>
        </p:nvSpPr>
        <p:spPr>
          <a:xfrm>
            <a:off x="8001000" y="411480"/>
            <a:ext cx="3017520" cy="6035040"/>
          </a:xfrm>
          <a:prstGeom prst="roundRect">
            <a:avLst>
              <a:gd name="adj" fmla="val 14545"/>
            </a:avLst>
          </a:prstGeom>
          <a:solidFill>
            <a:srgbClr val="0A131D"/>
          </a:solidFill>
          <a:ln w="19050">
            <a:solidFill>
              <a:srgbClr val="2E4257"/>
            </a:solidFill>
            <a:prstDash val="solid"/>
          </a:ln>
        </p:spPr>
      </p:sp>
      <p:sp>
        <p:nvSpPr>
          <p:cNvPr id="3" name="!!screen"/>
          <p:cNvSpPr/>
          <p:nvPr/>
        </p:nvSpPr>
        <p:spPr>
          <a:xfrm>
            <a:off x="8092440" y="502920"/>
            <a:ext cx="2834640" cy="5852160"/>
          </a:xfrm>
          <a:prstGeom prst="roundRect">
            <a:avLst>
              <a:gd name="adj" fmla="val 12903"/>
            </a:avLst>
          </a:prstGeom>
          <a:solidFill>
            <a:srgbClr val="0E1A27"/>
          </a:solidFill>
          <a:ln w="12700">
            <a:solidFill>
              <a:srgbClr val="0E1A27"/>
            </a:solidFill>
            <a:prstDash val="solid"/>
          </a:ln>
        </p:spPr>
      </p:sp>
      <p:sp>
        <p:nvSpPr>
          <p:cNvPr id="4" name="!!p-top"/>
          <p:cNvSpPr txBox="1"/>
          <p:nvPr/>
        </p:nvSpPr>
        <p:spPr>
          <a:xfrm>
            <a:off x="8183880" y="713232"/>
            <a:ext cx="2651760" cy="310896"/>
          </a:xfrm>
          <a:prstGeom prst="rect">
            <a:avLst/>
          </a:prstGeom>
          <a:noFill/>
          <a:ln/>
        </p:spPr>
        <p:txBody>
          <a:bodyPr wrap="square" lIns="0" tIns="0" rIns="0" bIns="0" rtlCol="0" anchor="t"/>
          <a:lstStyle/>
          <a:p>
            <a:pPr algn="ctr" indent="0" marL="0">
              <a:buNone/>
            </a:pPr>
            <a:r>
              <a:rPr lang="en-US" sz="1400" b="1" dirty="0">
                <a:solidFill>
                  <a:srgbClr val="FFFFFF"/>
                </a:solidFill>
                <a:latin typeface="Segoe UI" pitchFamily="34" charset="0"/>
                <a:ea typeface="Segoe UI" pitchFamily="34" charset="-122"/>
                <a:cs typeface="Segoe UI" pitchFamily="34" charset="-120"/>
              </a:rPr>
              <a:t>Unknown number</a:t>
            </a:r>
            <a:endParaRPr lang="en-US" sz="1400" dirty="0"/>
          </a:p>
        </p:txBody>
      </p:sp>
      <p:sp>
        <p:nvSpPr>
          <p:cNvPr id="5" name="!!p-clock"/>
          <p:cNvSpPr txBox="1"/>
          <p:nvPr/>
        </p:nvSpPr>
        <p:spPr>
          <a:xfrm>
            <a:off x="8183880" y="1005840"/>
            <a:ext cx="2651760" cy="237744"/>
          </a:xfrm>
          <a:prstGeom prst="rect">
            <a:avLst/>
          </a:prstGeom>
          <a:noFill/>
          <a:ln/>
        </p:spPr>
        <p:txBody>
          <a:bodyPr wrap="square" lIns="0" tIns="0" rIns="0" bIns="0" rtlCol="0" anchor="t"/>
          <a:lstStyle/>
          <a:p>
            <a:pPr algn="ctr" indent="0" marL="0">
              <a:buNone/>
            </a:pPr>
            <a:r>
              <a:rPr lang="en-US" sz="1000" dirty="0">
                <a:solidFill>
                  <a:srgbClr val="A9B6C3"/>
                </a:solidFill>
                <a:latin typeface="Segoe UI" pitchFamily="34" charset="0"/>
                <a:ea typeface="Segoe UI" pitchFamily="34" charset="-122"/>
                <a:cs typeface="Segoe UI" pitchFamily="34" charset="-120"/>
              </a:rPr>
              <a:t>0:21</a:t>
            </a:r>
            <a:endParaRPr lang="en-US" sz="1000" dirty="0"/>
          </a:p>
        </p:txBody>
      </p:sp>
      <p:sp>
        <p:nvSpPr>
          <p:cNvPr id="6" name="!!halo-r3"/>
          <p:cNvSpPr/>
          <p:nvPr/>
        </p:nvSpPr>
        <p:spPr>
          <a:xfrm>
            <a:off x="8378190" y="1200150"/>
            <a:ext cx="2263140" cy="2263140"/>
          </a:xfrm>
          <a:prstGeom prst="ellipse">
            <a:avLst/>
          </a:prstGeom>
          <a:solidFill>
            <a:srgbClr val="F5B83D">
              <a:alpha val="0"/>
            </a:srgbClr>
          </a:solidFill>
          <a:ln w="25146">
            <a:solidFill>
              <a:srgbClr val="F5B83D">
                <a:alpha val="30000"/>
              </a:srgbClr>
            </a:solidFill>
            <a:prstDash val="solid"/>
          </a:ln>
        </p:spPr>
      </p:sp>
      <p:sp>
        <p:nvSpPr>
          <p:cNvPr id="7" name="!!halo-r2"/>
          <p:cNvSpPr/>
          <p:nvPr/>
        </p:nvSpPr>
        <p:spPr>
          <a:xfrm>
            <a:off x="8645652" y="1467612"/>
            <a:ext cx="1728216" cy="1728216"/>
          </a:xfrm>
          <a:prstGeom prst="ellipse">
            <a:avLst/>
          </a:prstGeom>
          <a:solidFill>
            <a:srgbClr val="F5B83D">
              <a:alpha val="0"/>
            </a:srgbClr>
          </a:solidFill>
          <a:ln w="25146">
            <a:solidFill>
              <a:srgbClr val="F5B83D">
                <a:alpha val="58000"/>
              </a:srgbClr>
            </a:solidFill>
            <a:prstDash val="solid"/>
          </a:ln>
        </p:spPr>
      </p:sp>
      <p:sp>
        <p:nvSpPr>
          <p:cNvPr id="8" name="!!halo-r1"/>
          <p:cNvSpPr/>
          <p:nvPr/>
        </p:nvSpPr>
        <p:spPr>
          <a:xfrm>
            <a:off x="8892540" y="1714500"/>
            <a:ext cx="1234440" cy="1234440"/>
          </a:xfrm>
          <a:prstGeom prst="ellipse">
            <a:avLst/>
          </a:prstGeom>
          <a:solidFill>
            <a:srgbClr val="F5B83D">
              <a:alpha val="0"/>
            </a:srgbClr>
          </a:solidFill>
          <a:ln w="25146">
            <a:solidFill>
              <a:srgbClr val="F5B83D">
                <a:alpha val="90000"/>
              </a:srgbClr>
            </a:solidFill>
            <a:prstDash val="solid"/>
          </a:ln>
        </p:spPr>
      </p:sp>
      <p:sp>
        <p:nvSpPr>
          <p:cNvPr id="9" name="!!halo-core"/>
          <p:cNvSpPr/>
          <p:nvPr/>
        </p:nvSpPr>
        <p:spPr>
          <a:xfrm>
            <a:off x="9098280" y="1920240"/>
            <a:ext cx="822960" cy="822960"/>
          </a:xfrm>
          <a:prstGeom prst="ellipse">
            <a:avLst/>
          </a:prstGeom>
          <a:solidFill>
            <a:srgbClr val="3A2A08"/>
          </a:solidFill>
          <a:ln w="12700">
            <a:solidFill>
              <a:srgbClr val="3A2A08"/>
            </a:solidFill>
            <a:prstDash val="solid"/>
          </a:ln>
        </p:spPr>
      </p:sp>
      <p:pic>
        <p:nvPicPr>
          <p:cNvPr id="10" name="!!halo-icon" descr="Scam check">    </p:cNvPr>
          <p:cNvPicPr>
            <a:picLocks noChangeAspect="1"/>
          </p:cNvPicPr>
          <p:nvPr/>
        </p:nvPicPr>
        <p:blipFill>
          <a:blip r:embed="rId1"/>
          <a:stretch>
            <a:fillRect/>
          </a:stretch>
        </p:blipFill>
        <p:spPr>
          <a:xfrm>
            <a:off x="9295790" y="2117750"/>
            <a:ext cx="427939" cy="427939"/>
          </a:xfrm>
          <a:prstGeom prst="rect">
            <a:avLst/>
          </a:prstGeom>
        </p:spPr>
      </p:pic>
      <p:sp>
        <p:nvSpPr>
          <p:cNvPr id="11" name="!!p-card"/>
          <p:cNvSpPr/>
          <p:nvPr/>
        </p:nvSpPr>
        <p:spPr>
          <a:xfrm>
            <a:off x="8229600" y="3611880"/>
            <a:ext cx="2560320" cy="1325880"/>
          </a:xfrm>
          <a:prstGeom prst="roundRect">
            <a:avLst>
              <a:gd name="adj" fmla="val 11034"/>
            </a:avLst>
          </a:prstGeom>
          <a:solidFill>
            <a:srgbClr val="2A2412"/>
          </a:solidFill>
          <a:ln w="15875">
            <a:solidFill>
              <a:srgbClr val="F5B83D"/>
            </a:solidFill>
            <a:prstDash val="solid"/>
          </a:ln>
        </p:spPr>
      </p:sp>
      <p:sp>
        <p:nvSpPr>
          <p:cNvPr id="12" name="!!p-card-title"/>
          <p:cNvSpPr txBox="1"/>
          <p:nvPr/>
        </p:nvSpPr>
        <p:spPr>
          <a:xfrm>
            <a:off x="8385048" y="3721608"/>
            <a:ext cx="2249424" cy="274320"/>
          </a:xfrm>
          <a:prstGeom prst="rect">
            <a:avLst/>
          </a:prstGeom>
          <a:noFill/>
          <a:ln/>
        </p:spPr>
        <p:txBody>
          <a:bodyPr wrap="square" lIns="0" tIns="0" rIns="0" bIns="0" rtlCol="0" anchor="t"/>
          <a:lstStyle/>
          <a:p>
            <a:pPr indent="0" marL="0">
              <a:buNone/>
            </a:pPr>
            <a:r>
              <a:rPr lang="en-US" sz="1200" b="1" dirty="0">
                <a:solidFill>
                  <a:srgbClr val="FFE3A6"/>
                </a:solidFill>
                <a:latin typeface="Segoe UI" pitchFamily="34" charset="0"/>
                <a:ea typeface="Segoe UI" pitchFamily="34" charset="-122"/>
                <a:cs typeface="Segoe UI" pitchFamily="34" charset="-120"/>
              </a:rPr>
              <a:t>Checking a payment request…</a:t>
            </a:r>
            <a:endParaRPr lang="en-US" sz="1200" dirty="0"/>
          </a:p>
        </p:txBody>
      </p:sp>
      <p:sp>
        <p:nvSpPr>
          <p:cNvPr id="13" name="!!p-card-sub"/>
          <p:cNvSpPr txBox="1"/>
          <p:nvPr/>
        </p:nvSpPr>
        <p:spPr>
          <a:xfrm>
            <a:off x="8385048" y="4023360"/>
            <a:ext cx="2249424" cy="420624"/>
          </a:xfrm>
          <a:prstGeom prst="rect">
            <a:avLst/>
          </a:prstGeom>
          <a:noFill/>
          <a:ln/>
        </p:spPr>
        <p:txBody>
          <a:bodyPr wrap="square" lIns="0" tIns="0" rIns="0" bIns="0" rtlCol="0" anchor="t"/>
          <a:lstStyle/>
          <a:p>
            <a:pPr indent="0" marL="0">
              <a:buNone/>
            </a:pPr>
            <a:r>
              <a:rPr lang="en-US" sz="950" dirty="0">
                <a:solidFill>
                  <a:srgbClr val="FFE3A6"/>
                </a:solidFill>
                <a:latin typeface="Segoe UI" pitchFamily="34" charset="0"/>
                <a:ea typeface="Segoe UI" pitchFamily="34" charset="-122"/>
                <a:cs typeface="Segoe UI" pitchFamily="34" charset="-120"/>
              </a:rPr>
              <a:t>Don't scan, pay or share anything yet.</a:t>
            </a:r>
            <a:endParaRPr lang="en-US" sz="950" dirty="0"/>
          </a:p>
        </p:txBody>
      </p:sp>
      <p:sp>
        <p:nvSpPr>
          <p:cNvPr id="14" name="!!p-chip"/>
          <p:cNvSpPr txBox="1"/>
          <p:nvPr/>
        </p:nvSpPr>
        <p:spPr>
          <a:xfrm>
            <a:off x="8385048" y="4507992"/>
            <a:ext cx="2249424" cy="292608"/>
          </a:xfrm>
          <a:prstGeom prst="roundRect">
            <a:avLst>
              <a:gd name="adj" fmla="val 50000"/>
            </a:avLst>
          </a:prstGeom>
          <a:solidFill>
            <a:srgbClr val="F5B83D"/>
          </a:solidFill>
          <a:ln/>
        </p:spPr>
        <p:txBody>
          <a:bodyPr wrap="square" lIns="0" tIns="0" rIns="0" bIns="0" rtlCol="0" anchor="ctr"/>
          <a:lstStyle/>
          <a:p>
            <a:pPr algn="ctr" indent="0" marL="0">
              <a:buNone/>
            </a:pPr>
            <a:r>
              <a:rPr lang="en-US" sz="900" b="1" dirty="0">
                <a:solidFill>
                  <a:srgbClr val="2B1D00"/>
                </a:solidFill>
                <a:latin typeface="Segoe UI" pitchFamily="34" charset="0"/>
                <a:ea typeface="Segoe UI" pitchFamily="34" charset="-122"/>
                <a:cs typeface="Segoe UI" pitchFamily="34" charset="-120"/>
              </a:rPr>
              <a:t>Heard: QR code to “receive” money</a:t>
            </a:r>
            <a:endParaRPr lang="en-US" sz="900" dirty="0"/>
          </a:p>
        </p:txBody>
      </p:sp>
      <p:sp>
        <p:nvSpPr>
          <p:cNvPr id="15" name="!!p-btn-a"/>
          <p:cNvSpPr/>
          <p:nvPr/>
        </p:nvSpPr>
        <p:spPr>
          <a:xfrm>
            <a:off x="8403336" y="5202936"/>
            <a:ext cx="566928" cy="566928"/>
          </a:xfrm>
          <a:prstGeom prst="ellipse">
            <a:avLst/>
          </a:prstGeom>
          <a:solidFill>
            <a:srgbClr val="FFFFFF">
              <a:alpha val="8000"/>
            </a:srgbClr>
          </a:solidFill>
          <a:ln w="12700">
            <a:solidFill>
              <a:srgbClr val="3A4E63"/>
            </a:solidFill>
            <a:prstDash val="solid"/>
          </a:ln>
        </p:spPr>
      </p:sp>
      <p:pic>
        <p:nvPicPr>
          <p:cNvPr id="16" name="!!p-btn-a-icon" descr="Mute">    </p:cNvPr>
          <p:cNvPicPr>
            <a:picLocks noChangeAspect="1"/>
          </p:cNvPicPr>
          <p:nvPr/>
        </p:nvPicPr>
        <p:blipFill>
          <a:blip r:embed="rId2"/>
          <a:stretch>
            <a:fillRect/>
          </a:stretch>
        </p:blipFill>
        <p:spPr>
          <a:xfrm>
            <a:off x="8559241" y="5358841"/>
            <a:ext cx="255118" cy="255118"/>
          </a:xfrm>
          <a:prstGeom prst="rect">
            <a:avLst/>
          </a:prstGeom>
        </p:spPr>
      </p:pic>
      <p:sp>
        <p:nvSpPr>
          <p:cNvPr id="17" name="!!p-btn-a-label"/>
          <p:cNvSpPr txBox="1"/>
          <p:nvPr/>
        </p:nvSpPr>
        <p:spPr>
          <a:xfrm>
            <a:off x="8138160" y="5824728"/>
            <a:ext cx="1097280" cy="228600"/>
          </a:xfrm>
          <a:prstGeom prst="rect">
            <a:avLst/>
          </a:prstGeom>
          <a:noFill/>
          <a:ln/>
        </p:spPr>
        <p:txBody>
          <a:bodyPr wrap="square" lIns="0" tIns="0" rIns="0" bIns="0" rtlCol="0" anchor="t"/>
          <a:lstStyle/>
          <a:p>
            <a:pPr algn="ctr" indent="0" marL="0">
              <a:buNone/>
            </a:pPr>
            <a:r>
              <a:rPr lang="en-US" sz="1000" dirty="0">
                <a:solidFill>
                  <a:srgbClr val="A9B6C3"/>
                </a:solidFill>
                <a:latin typeface="Segoe UI" pitchFamily="34" charset="0"/>
                <a:ea typeface="Segoe UI" pitchFamily="34" charset="-122"/>
                <a:cs typeface="Segoe UI" pitchFamily="34" charset="-120"/>
              </a:rPr>
              <a:t>Mute</a:t>
            </a:r>
            <a:endParaRPr lang="en-US" sz="1000" dirty="0"/>
          </a:p>
        </p:txBody>
      </p:sp>
      <p:sp>
        <p:nvSpPr>
          <p:cNvPr id="18" name="!!p-btn-b"/>
          <p:cNvSpPr/>
          <p:nvPr/>
        </p:nvSpPr>
        <p:spPr>
          <a:xfrm>
            <a:off x="9226296" y="5202936"/>
            <a:ext cx="566928" cy="566928"/>
          </a:xfrm>
          <a:prstGeom prst="ellipse">
            <a:avLst/>
          </a:prstGeom>
          <a:solidFill>
            <a:srgbClr val="FFFFFF">
              <a:alpha val="8000"/>
            </a:srgbClr>
          </a:solidFill>
          <a:ln w="12700">
            <a:solidFill>
              <a:srgbClr val="3A4E63"/>
            </a:solidFill>
            <a:prstDash val="solid"/>
          </a:ln>
        </p:spPr>
      </p:sp>
      <p:pic>
        <p:nvPicPr>
          <p:cNvPr id="19" name="!!p-btn-b-icon" descr="Speaker">    </p:cNvPr>
          <p:cNvPicPr>
            <a:picLocks noChangeAspect="1"/>
          </p:cNvPicPr>
          <p:nvPr/>
        </p:nvPicPr>
        <p:blipFill>
          <a:blip r:embed="rId3"/>
          <a:stretch>
            <a:fillRect/>
          </a:stretch>
        </p:blipFill>
        <p:spPr>
          <a:xfrm>
            <a:off x="9382201" y="5358841"/>
            <a:ext cx="255118" cy="255118"/>
          </a:xfrm>
          <a:prstGeom prst="rect">
            <a:avLst/>
          </a:prstGeom>
        </p:spPr>
      </p:pic>
      <p:sp>
        <p:nvSpPr>
          <p:cNvPr id="20" name="!!p-btn-b-label"/>
          <p:cNvSpPr txBox="1"/>
          <p:nvPr/>
        </p:nvSpPr>
        <p:spPr>
          <a:xfrm>
            <a:off x="8961120" y="5824728"/>
            <a:ext cx="1097280" cy="228600"/>
          </a:xfrm>
          <a:prstGeom prst="rect">
            <a:avLst/>
          </a:prstGeom>
          <a:noFill/>
          <a:ln/>
        </p:spPr>
        <p:txBody>
          <a:bodyPr wrap="square" lIns="0" tIns="0" rIns="0" bIns="0" rtlCol="0" anchor="t"/>
          <a:lstStyle/>
          <a:p>
            <a:pPr algn="ctr" indent="0" marL="0">
              <a:buNone/>
            </a:pPr>
            <a:r>
              <a:rPr lang="en-US" sz="1000" dirty="0">
                <a:solidFill>
                  <a:srgbClr val="A9B6C3"/>
                </a:solidFill>
                <a:latin typeface="Segoe UI" pitchFamily="34" charset="0"/>
                <a:ea typeface="Segoe UI" pitchFamily="34" charset="-122"/>
                <a:cs typeface="Segoe UI" pitchFamily="34" charset="-120"/>
              </a:rPr>
              <a:t>Speaker</a:t>
            </a:r>
            <a:endParaRPr lang="en-US" sz="1000" dirty="0"/>
          </a:p>
        </p:txBody>
      </p:sp>
      <p:sp>
        <p:nvSpPr>
          <p:cNvPr id="21" name="!!p-btn-c"/>
          <p:cNvSpPr/>
          <p:nvPr/>
        </p:nvSpPr>
        <p:spPr>
          <a:xfrm>
            <a:off x="10049256" y="5202936"/>
            <a:ext cx="566928" cy="566928"/>
          </a:xfrm>
          <a:prstGeom prst="ellipse">
            <a:avLst/>
          </a:prstGeom>
          <a:solidFill>
            <a:srgbClr val="D92D20"/>
          </a:solidFill>
          <a:ln w="12700">
            <a:solidFill>
              <a:srgbClr val="D92D20"/>
            </a:solidFill>
            <a:prstDash val="solid"/>
          </a:ln>
        </p:spPr>
      </p:sp>
      <p:pic>
        <p:nvPicPr>
          <p:cNvPr id="22" name="!!p-btn-c-icon" descr="End">    </p:cNvPr>
          <p:cNvPicPr>
            <a:picLocks noChangeAspect="1"/>
          </p:cNvPicPr>
          <p:nvPr/>
        </p:nvPicPr>
        <p:blipFill>
          <a:blip r:embed="rId4"/>
          <a:stretch>
            <a:fillRect/>
          </a:stretch>
        </p:blipFill>
        <p:spPr>
          <a:xfrm>
            <a:off x="10205161" y="5358841"/>
            <a:ext cx="255118" cy="255118"/>
          </a:xfrm>
          <a:prstGeom prst="rect">
            <a:avLst/>
          </a:prstGeom>
        </p:spPr>
      </p:pic>
      <p:sp>
        <p:nvSpPr>
          <p:cNvPr id="23" name="!!p-btn-c-label"/>
          <p:cNvSpPr txBox="1"/>
          <p:nvPr/>
        </p:nvSpPr>
        <p:spPr>
          <a:xfrm>
            <a:off x="9784080" y="5824728"/>
            <a:ext cx="1097280" cy="228600"/>
          </a:xfrm>
          <a:prstGeom prst="rect">
            <a:avLst/>
          </a:prstGeom>
          <a:noFill/>
          <a:ln/>
        </p:spPr>
        <p:txBody>
          <a:bodyPr wrap="square" lIns="0" tIns="0" rIns="0" bIns="0" rtlCol="0" anchor="t"/>
          <a:lstStyle/>
          <a:p>
            <a:pPr algn="ctr" indent="0" marL="0">
              <a:buNone/>
            </a:pPr>
            <a:r>
              <a:rPr lang="en-US" sz="1000" dirty="0">
                <a:solidFill>
                  <a:srgbClr val="A9B6C3"/>
                </a:solidFill>
                <a:latin typeface="Segoe UI" pitchFamily="34" charset="0"/>
                <a:ea typeface="Segoe UI" pitchFamily="34" charset="-122"/>
                <a:cs typeface="Segoe UI" pitchFamily="34" charset="-120"/>
              </a:rPr>
              <a:t>End</a:t>
            </a:r>
            <a:endParaRPr lang="en-US" sz="1000" dirty="0"/>
          </a:p>
        </p:txBody>
      </p:sp>
      <p:sp>
        <p:nvSpPr>
          <p:cNvPr id="24" name="!!step-num"/>
          <p:cNvSpPr txBox="1"/>
          <p:nvPr/>
        </p:nvSpPr>
        <p:spPr>
          <a:xfrm>
            <a:off x="731520" y="1417320"/>
            <a:ext cx="6400800" cy="365760"/>
          </a:xfrm>
          <a:prstGeom prst="rect">
            <a:avLst/>
          </a:prstGeom>
          <a:noFill/>
          <a:ln/>
        </p:spPr>
        <p:txBody>
          <a:bodyPr wrap="square" lIns="0" tIns="0" rIns="0" bIns="0" rtlCol="0" anchor="t"/>
          <a:lstStyle/>
          <a:p>
            <a:pPr indent="0" marL="0">
              <a:buNone/>
            </a:pPr>
            <a:r>
              <a:rPr lang="en-US" sz="1400" b="1" spc="200" kern="0" dirty="0">
                <a:solidFill>
                  <a:srgbClr val="7DB8E8"/>
                </a:solidFill>
                <a:latin typeface="Segoe UI" pitchFamily="34" charset="0"/>
                <a:ea typeface="Segoe UI" pitchFamily="34" charset="-122"/>
                <a:cs typeface="Segoe UI" pitchFamily="34" charset="-120"/>
              </a:rPr>
              <a:t>3 · THEY ASK</a:t>
            </a:r>
            <a:endParaRPr lang="en-US" sz="1400" dirty="0"/>
          </a:p>
        </p:txBody>
      </p:sp>
      <p:sp>
        <p:nvSpPr>
          <p:cNvPr id="25" name="!!step-title"/>
          <p:cNvSpPr txBox="1"/>
          <p:nvPr/>
        </p:nvSpPr>
        <p:spPr>
          <a:xfrm>
            <a:off x="731520" y="1828800"/>
            <a:ext cx="6583680" cy="1737360"/>
          </a:xfrm>
          <a:prstGeom prst="rect">
            <a:avLst/>
          </a:prstGeom>
          <a:noFill/>
          <a:ln/>
        </p:spPr>
        <p:txBody>
          <a:bodyPr wrap="square" lIns="0" tIns="0" rIns="0" bIns="0" rtlCol="0" anchor="t"/>
          <a:lstStyle/>
          <a:p>
            <a:pPr indent="0" marL="0">
              <a:buNone/>
            </a:pPr>
            <a:r>
              <a:rPr lang="en-US" sz="3800" b="1" dirty="0">
                <a:solidFill>
                  <a:srgbClr val="FFFFFF"/>
                </a:solidFill>
                <a:latin typeface="Segoe UI" pitchFamily="34" charset="0"/>
                <a:ea typeface="Segoe UI" pitchFamily="34" charset="-122"/>
                <a:cs typeface="Segoe UI" pitchFamily="34" charset="-120"/>
              </a:rPr>
              <a:t>A chime, a buzz, an amber halo</a:t>
            </a:r>
            <a:endParaRPr lang="en-US" sz="3800" dirty="0"/>
          </a:p>
        </p:txBody>
      </p:sp>
      <p:sp>
        <p:nvSpPr>
          <p:cNvPr id="26" name="!!step-body"/>
          <p:cNvSpPr txBox="1"/>
          <p:nvPr/>
        </p:nvSpPr>
        <p:spPr>
          <a:xfrm>
            <a:off x="731520" y="3611880"/>
            <a:ext cx="6217920" cy="1188720"/>
          </a:xfrm>
          <a:prstGeom prst="rect">
            <a:avLst/>
          </a:prstGeom>
          <a:noFill/>
          <a:ln/>
        </p:spPr>
        <p:txBody>
          <a:bodyPr wrap="square" lIns="0" tIns="0" rIns="0" bIns="0" rtlCol="0" anchor="t"/>
          <a:lstStyle/>
          <a:p>
            <a:pPr indent="0" marL="0">
              <a:buNone/>
            </a:pPr>
            <a:r>
              <a:rPr lang="en-US" sz="1800" dirty="0">
                <a:solidFill>
                  <a:srgbClr val="A9B6C3"/>
                </a:solidFill>
                <a:latin typeface="Segoe UI" pitchFamily="34" charset="0"/>
                <a:ea typeface="Segoe UI" pitchFamily="34" charset="-122"/>
                <a:cs typeface="Segoe UI" pitchFamily="34" charset="-120"/>
              </a:rPr>
              <a:t>Our target: within 2 seconds of the request, from an instant phrase check. The AI check confirms the level next.</a:t>
            </a:r>
            <a:endParaRPr lang="en-US" sz="18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advTm="3200">
        <p159:morph option="byObject"/>
      </p:transition>
    </mc:Choice>
    <mc:Fallback>
      <p:transition spd="slow" advTm="320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halo-r3"/>
          <p:cNvSpPr/>
          <p:nvPr/>
        </p:nvSpPr>
        <p:spPr>
          <a:xfrm>
            <a:off x="-3962552" y="-6629400"/>
            <a:ext cx="20116800" cy="20116800"/>
          </a:xfrm>
          <a:prstGeom prst="ellipse">
            <a:avLst/>
          </a:prstGeom>
          <a:solidFill>
            <a:srgbClr val="8F1D16">
              <a:alpha val="0"/>
            </a:srgbClr>
          </a:solidFill>
          <a:ln w="12700">
            <a:solidFill>
              <a:srgbClr val="8F1D16">
                <a:alpha val="0"/>
              </a:srgbClr>
            </a:solidFill>
            <a:prstDash val="solid"/>
          </a:ln>
        </p:spPr>
      </p:sp>
      <p:sp>
        <p:nvSpPr>
          <p:cNvPr id="3" name="!!halo-r2"/>
          <p:cNvSpPr/>
          <p:nvPr/>
        </p:nvSpPr>
        <p:spPr>
          <a:xfrm>
            <a:off x="-2819552" y="-5486400"/>
            <a:ext cx="17830800" cy="17830800"/>
          </a:xfrm>
          <a:prstGeom prst="ellipse">
            <a:avLst/>
          </a:prstGeom>
          <a:solidFill>
            <a:srgbClr val="8F1D16">
              <a:alpha val="0"/>
            </a:srgbClr>
          </a:solidFill>
          <a:ln w="12700">
            <a:solidFill>
              <a:srgbClr val="8F1D16">
                <a:alpha val="0"/>
              </a:srgbClr>
            </a:solidFill>
            <a:prstDash val="solid"/>
          </a:ln>
        </p:spPr>
      </p:sp>
      <p:sp>
        <p:nvSpPr>
          <p:cNvPr id="4" name="!!halo-r1"/>
          <p:cNvSpPr/>
          <p:nvPr/>
        </p:nvSpPr>
        <p:spPr>
          <a:xfrm>
            <a:off x="-1950872" y="-4617720"/>
            <a:ext cx="16093440" cy="16093440"/>
          </a:xfrm>
          <a:prstGeom prst="ellipse">
            <a:avLst/>
          </a:prstGeom>
          <a:solidFill>
            <a:srgbClr val="8F1D16">
              <a:alpha val="0"/>
            </a:srgbClr>
          </a:solidFill>
          <a:ln w="12700">
            <a:solidFill>
              <a:srgbClr val="8F1D16">
                <a:alpha val="0"/>
              </a:srgbClr>
            </a:solidFill>
            <a:prstDash val="solid"/>
          </a:ln>
        </p:spPr>
      </p:sp>
      <p:sp>
        <p:nvSpPr>
          <p:cNvPr id="5" name="!!halo-core"/>
          <p:cNvSpPr/>
          <p:nvPr/>
        </p:nvSpPr>
        <p:spPr>
          <a:xfrm>
            <a:off x="-1447952" y="-4114800"/>
            <a:ext cx="15087600" cy="15087600"/>
          </a:xfrm>
          <a:prstGeom prst="ellipse">
            <a:avLst/>
          </a:prstGeom>
          <a:solidFill>
            <a:srgbClr val="8F1D16"/>
          </a:solidFill>
          <a:ln w="12700">
            <a:solidFill>
              <a:srgbClr val="8F1D16"/>
            </a:solidFill>
            <a:prstDash val="solid"/>
          </a:ln>
        </p:spPr>
      </p:sp>
      <p:pic>
        <p:nvPicPr>
          <p:cNvPr id="6" name="al-icon" descr="preencoded.png">    </p:cNvPr>
          <p:cNvPicPr>
            <a:picLocks noChangeAspect="1"/>
          </p:cNvPicPr>
          <p:nvPr/>
        </p:nvPicPr>
        <p:blipFill>
          <a:blip r:embed="rId1"/>
          <a:stretch>
            <a:fillRect/>
          </a:stretch>
        </p:blipFill>
        <p:spPr>
          <a:xfrm>
            <a:off x="731520" y="566928"/>
            <a:ext cx="384048" cy="384048"/>
          </a:xfrm>
          <a:prstGeom prst="rect">
            <a:avLst/>
          </a:prstGeom>
        </p:spPr>
      </p:pic>
      <p:sp>
        <p:nvSpPr>
          <p:cNvPr id="7" name="al-level"/>
          <p:cNvSpPr txBox="1"/>
          <p:nvPr/>
        </p:nvSpPr>
        <p:spPr>
          <a:xfrm>
            <a:off x="1207008" y="603504"/>
            <a:ext cx="2743200" cy="329184"/>
          </a:xfrm>
          <a:prstGeom prst="rect">
            <a:avLst/>
          </a:prstGeom>
          <a:noFill/>
          <a:ln/>
        </p:spPr>
        <p:txBody>
          <a:bodyPr wrap="square" lIns="0" tIns="0" rIns="0" bIns="0" rtlCol="0" anchor="t"/>
          <a:lstStyle/>
          <a:p>
            <a:pPr indent="0" marL="0">
              <a:buNone/>
            </a:pPr>
            <a:r>
              <a:rPr lang="en-US" sz="1600" b="1" spc="300" kern="0" dirty="0">
                <a:solidFill>
                  <a:srgbClr val="FFFFFF"/>
                </a:solidFill>
                <a:latin typeface="Segoe UI" pitchFamily="34" charset="0"/>
                <a:ea typeface="Segoe UI" pitchFamily="34" charset="-122"/>
                <a:cs typeface="Segoe UI" pitchFamily="34" charset="-120"/>
              </a:rPr>
              <a:t>HIGH RISK</a:t>
            </a:r>
            <a:endParaRPr lang="en-US" sz="1600" dirty="0"/>
          </a:p>
        </p:txBody>
      </p:sp>
      <p:sp>
        <p:nvSpPr>
          <p:cNvPr id="8" name="al-auto"/>
          <p:cNvSpPr txBox="1"/>
          <p:nvPr/>
        </p:nvSpPr>
        <p:spPr>
          <a:xfrm>
            <a:off x="2926080" y="630936"/>
            <a:ext cx="2743200" cy="292608"/>
          </a:xfrm>
          <a:prstGeom prst="rect">
            <a:avLst/>
          </a:prstGeom>
          <a:noFill/>
          <a:ln/>
        </p:spPr>
        <p:txBody>
          <a:bodyPr wrap="square" lIns="0" tIns="0" rIns="0" bIns="0" rtlCol="0" anchor="t"/>
          <a:lstStyle/>
          <a:p>
            <a:pPr indent="0" marL="0">
              <a:buNone/>
            </a:pPr>
            <a:r>
              <a:rPr lang="en-US" sz="1300" dirty="0">
                <a:solidFill>
                  <a:srgbClr val="F6CFCB"/>
                </a:solidFill>
                <a:latin typeface="Segoe UI" pitchFamily="34" charset="0"/>
                <a:ea typeface="Segoe UI" pitchFamily="34" charset="-122"/>
                <a:cs typeface="Segoe UI" pitchFamily="34" charset="-120"/>
              </a:rPr>
              <a:t>Automatic check</a:t>
            </a:r>
            <a:endParaRPr lang="en-US" sz="1300" dirty="0"/>
          </a:p>
        </p:txBody>
      </p:sp>
      <p:sp>
        <p:nvSpPr>
          <p:cNvPr id="9" name="al-title"/>
          <p:cNvSpPr txBox="1"/>
          <p:nvPr/>
        </p:nvSpPr>
        <p:spPr>
          <a:xfrm>
            <a:off x="731520" y="1234440"/>
            <a:ext cx="6949440" cy="1737360"/>
          </a:xfrm>
          <a:prstGeom prst="rect">
            <a:avLst/>
          </a:prstGeom>
          <a:noFill/>
          <a:ln/>
        </p:spPr>
        <p:txBody>
          <a:bodyPr wrap="square" lIns="0" tIns="0" rIns="0" bIns="0" rtlCol="0" anchor="t"/>
          <a:lstStyle/>
          <a:p>
            <a:pPr indent="0" marL="0">
              <a:buNone/>
            </a:pPr>
            <a:r>
              <a:rPr lang="en-US" sz="3600" b="1" dirty="0">
                <a:solidFill>
                  <a:srgbClr val="FFFFFF"/>
                </a:solidFill>
                <a:latin typeface="Segoe UI" pitchFamily="34" charset="0"/>
                <a:ea typeface="Segoe UI" pitchFamily="34" charset="-122"/>
                <a:cs typeface="Segoe UI" pitchFamily="34" charset="-120"/>
              </a:rPr>
              <a:t>They asked you to scan a QR code to receive money.</a:t>
            </a:r>
            <a:endParaRPr lang="en-US" sz="3600" dirty="0"/>
          </a:p>
        </p:txBody>
      </p:sp>
      <p:sp>
        <p:nvSpPr>
          <p:cNvPr id="10" name="al-truth-bg"/>
          <p:cNvSpPr/>
          <p:nvPr/>
        </p:nvSpPr>
        <p:spPr>
          <a:xfrm>
            <a:off x="731520" y="3154680"/>
            <a:ext cx="6766560" cy="1261872"/>
          </a:xfrm>
          <a:prstGeom prst="roundRect">
            <a:avLst>
              <a:gd name="adj" fmla="val 14493"/>
            </a:avLst>
          </a:prstGeom>
          <a:solidFill>
            <a:srgbClr val="FFFFFF">
              <a:alpha val="12000"/>
            </a:srgbClr>
          </a:solidFill>
          <a:ln w="12700">
            <a:solidFill>
              <a:srgbClr val="FFFFFF">
                <a:alpha val="0"/>
              </a:srgbClr>
            </a:solidFill>
            <a:prstDash val="solid"/>
          </a:ln>
        </p:spPr>
      </p:sp>
      <p:sp>
        <p:nvSpPr>
          <p:cNvPr id="11" name="al-truth-label"/>
          <p:cNvSpPr txBox="1"/>
          <p:nvPr/>
        </p:nvSpPr>
        <p:spPr>
          <a:xfrm>
            <a:off x="1005840" y="3310128"/>
            <a:ext cx="4572000" cy="274320"/>
          </a:xfrm>
          <a:prstGeom prst="rect">
            <a:avLst/>
          </a:prstGeom>
          <a:noFill/>
          <a:ln/>
        </p:spPr>
        <p:txBody>
          <a:bodyPr wrap="square" lIns="0" tIns="0" rIns="0" bIns="0" rtlCol="0" anchor="t"/>
          <a:lstStyle/>
          <a:p>
            <a:pPr indent="0" marL="0">
              <a:buNone/>
            </a:pPr>
            <a:r>
              <a:rPr lang="en-US" sz="1200" b="1" spc="300" kern="0" dirty="0">
                <a:solidFill>
                  <a:srgbClr val="F6CFCB"/>
                </a:solidFill>
                <a:latin typeface="Segoe UI" pitchFamily="34" charset="0"/>
                <a:ea typeface="Segoe UI" pitchFamily="34" charset="-122"/>
                <a:cs typeface="Segoe UI" pitchFamily="34" charset="-120"/>
              </a:rPr>
              <a:t>THE TRUTH</a:t>
            </a:r>
            <a:endParaRPr lang="en-US" sz="1200" dirty="0"/>
          </a:p>
        </p:txBody>
      </p:sp>
      <p:sp>
        <p:nvSpPr>
          <p:cNvPr id="12" name="al-truth"/>
          <p:cNvSpPr txBox="1"/>
          <p:nvPr/>
        </p:nvSpPr>
        <p:spPr>
          <a:xfrm>
            <a:off x="1005840" y="3611880"/>
            <a:ext cx="6309360" cy="731520"/>
          </a:xfrm>
          <a:prstGeom prst="rect">
            <a:avLst/>
          </a:prstGeom>
          <a:noFill/>
          <a:ln/>
        </p:spPr>
        <p:txBody>
          <a:bodyPr wrap="square" lIns="0" tIns="0" rIns="0" bIns="0" rtlCol="0" anchor="t"/>
          <a:lstStyle/>
          <a:p>
            <a:pPr indent="0" marL="0">
              <a:buNone/>
            </a:pPr>
            <a:r>
              <a:rPr lang="en-US" sz="1800" dirty="0">
                <a:solidFill>
                  <a:srgbClr val="FFFFFF"/>
                </a:solidFill>
                <a:latin typeface="Segoe UI" pitchFamily="34" charset="0"/>
                <a:ea typeface="Segoe UI" pitchFamily="34" charset="-122"/>
                <a:cs typeface="Segoe UI" pitchFamily="34" charset="-120"/>
              </a:rPr>
              <a:t>Receiving money never needs a QR scan or your UPI PIN. Scanning sends money out.</a:t>
            </a:r>
            <a:endParaRPr lang="en-US" sz="1800" dirty="0"/>
          </a:p>
        </p:txBody>
      </p:sp>
      <p:sp>
        <p:nvSpPr>
          <p:cNvPr id="13" name="al-next-label"/>
          <p:cNvSpPr txBox="1"/>
          <p:nvPr/>
        </p:nvSpPr>
        <p:spPr>
          <a:xfrm>
            <a:off x="731520" y="4663440"/>
            <a:ext cx="4572000" cy="274320"/>
          </a:xfrm>
          <a:prstGeom prst="rect">
            <a:avLst/>
          </a:prstGeom>
          <a:noFill/>
          <a:ln/>
        </p:spPr>
        <p:txBody>
          <a:bodyPr wrap="square" lIns="0" tIns="0" rIns="0" bIns="0" rtlCol="0" anchor="t"/>
          <a:lstStyle/>
          <a:p>
            <a:pPr indent="0" marL="0">
              <a:buNone/>
            </a:pPr>
            <a:r>
              <a:rPr lang="en-US" sz="1200" b="1" spc="300" kern="0" dirty="0">
                <a:solidFill>
                  <a:srgbClr val="F6CFCB"/>
                </a:solidFill>
                <a:latin typeface="Segoe UI" pitchFamily="34" charset="0"/>
                <a:ea typeface="Segoe UI" pitchFamily="34" charset="-122"/>
                <a:cs typeface="Segoe UI" pitchFamily="34" charset="-120"/>
              </a:rPr>
              <a:t>DO THIS NOW</a:t>
            </a:r>
            <a:endParaRPr lang="en-US" sz="1200" dirty="0"/>
          </a:p>
        </p:txBody>
      </p:sp>
      <p:sp>
        <p:nvSpPr>
          <p:cNvPr id="14" name="al-next"/>
          <p:cNvSpPr txBox="1"/>
          <p:nvPr/>
        </p:nvSpPr>
        <p:spPr>
          <a:xfrm>
            <a:off x="731520" y="4956048"/>
            <a:ext cx="7223760" cy="640080"/>
          </a:xfrm>
          <a:prstGeom prst="rect">
            <a:avLst/>
          </a:prstGeom>
          <a:noFill/>
          <a:ln/>
        </p:spPr>
        <p:txBody>
          <a:bodyPr wrap="square" lIns="0" tIns="0" rIns="0" bIns="0" rtlCol="0" anchor="t"/>
          <a:lstStyle/>
          <a:p>
            <a:pPr indent="0" marL="0">
              <a:buNone/>
            </a:pPr>
            <a:r>
              <a:rPr lang="en-US" sz="2000" b="1" dirty="0">
                <a:solidFill>
                  <a:srgbClr val="FFFFFF"/>
                </a:solidFill>
                <a:latin typeface="Segoe UI" pitchFamily="34" charset="0"/>
                <a:ea typeface="Segoe UI" pitchFamily="34" charset="-122"/>
                <a:cs typeface="Segoe UI" pitchFamily="34" charset="-120"/>
              </a:rPr>
              <a:t>End the call. Check for the payment in your own bank app.</a:t>
            </a:r>
            <a:endParaRPr lang="en-US" sz="2000" dirty="0"/>
          </a:p>
        </p:txBody>
      </p:sp>
      <p:pic>
        <p:nvPicPr>
          <p:cNvPr id="15" name="al-voice-icon" descr="preencoded.png">    </p:cNvPr>
          <p:cNvPicPr>
            <a:picLocks noChangeAspect="1"/>
          </p:cNvPicPr>
          <p:nvPr/>
        </p:nvPicPr>
        <p:blipFill>
          <a:blip r:embed="rId2"/>
          <a:stretch>
            <a:fillRect/>
          </a:stretch>
        </p:blipFill>
        <p:spPr>
          <a:xfrm>
            <a:off x="731520" y="5943600"/>
            <a:ext cx="274320" cy="274320"/>
          </a:xfrm>
          <a:prstGeom prst="rect">
            <a:avLst/>
          </a:prstGeom>
        </p:spPr>
      </p:pic>
      <p:sp>
        <p:nvSpPr>
          <p:cNvPr id="16" name="al-voice"/>
          <p:cNvSpPr txBox="1"/>
          <p:nvPr/>
        </p:nvSpPr>
        <p:spPr>
          <a:xfrm>
            <a:off x="1097280" y="5961888"/>
            <a:ext cx="6400800" cy="274320"/>
          </a:xfrm>
          <a:prstGeom prst="rect">
            <a:avLst/>
          </a:prstGeom>
          <a:noFill/>
          <a:ln/>
        </p:spPr>
        <p:txBody>
          <a:bodyPr wrap="square" lIns="0" tIns="0" rIns="0" bIns="0" rtlCol="0" anchor="t"/>
          <a:lstStyle/>
          <a:p>
            <a:pPr indent="0" marL="0">
              <a:buNone/>
            </a:pPr>
            <a:r>
              <a:rPr lang="en-US" sz="1400" dirty="0">
                <a:solidFill>
                  <a:srgbClr val="F6CFCB"/>
                </a:solidFill>
                <a:latin typeface="Segoe UI" pitchFamily="34" charset="0"/>
                <a:ea typeface="Segoe UI" pitchFamily="34" charset="-122"/>
                <a:cs typeface="Segoe UI" pitchFamily="34" charset="-120"/>
              </a:rPr>
              <a:t>A spoken warning plays in your ear. The caller hears nothing.</a:t>
            </a:r>
            <a:endParaRPr lang="en-US" sz="1400" dirty="0"/>
          </a:p>
        </p:txBody>
      </p:sp>
      <p:sp>
        <p:nvSpPr>
          <p:cNvPr id="17" name="al-glyph-bg"/>
          <p:cNvSpPr/>
          <p:nvPr/>
        </p:nvSpPr>
        <p:spPr>
          <a:xfrm>
            <a:off x="8778240" y="822960"/>
            <a:ext cx="2103120" cy="2103120"/>
          </a:xfrm>
          <a:prstGeom prst="roundRect">
            <a:avLst>
              <a:gd name="adj" fmla="val 21739"/>
            </a:avLst>
          </a:prstGeom>
          <a:solidFill>
            <a:srgbClr val="FFFFFF">
              <a:alpha val="0"/>
            </a:srgbClr>
          </a:solidFill>
          <a:ln w="38100">
            <a:solidFill>
              <a:srgbClr val="FFFFFF"/>
            </a:solidFill>
            <a:prstDash val="solid"/>
          </a:ln>
        </p:spPr>
      </p:sp>
      <p:pic>
        <p:nvPicPr>
          <p:cNvPr id="18" name="al-glyph" descr="preencoded.png">    </p:cNvPr>
          <p:cNvPicPr>
            <a:picLocks noChangeAspect="1"/>
          </p:cNvPicPr>
          <p:nvPr/>
        </p:nvPicPr>
        <p:blipFill>
          <a:blip r:embed="rId3"/>
          <a:stretch>
            <a:fillRect/>
          </a:stretch>
        </p:blipFill>
        <p:spPr>
          <a:xfrm>
            <a:off x="9189720" y="1234440"/>
            <a:ext cx="1280160" cy="1280160"/>
          </a:xfrm>
          <a:prstGeom prst="rect">
            <a:avLst/>
          </a:prstGeom>
        </p:spPr>
      </p:pic>
      <p:sp>
        <p:nvSpPr>
          <p:cNvPr id="19" name="al-cross"/>
          <p:cNvSpPr/>
          <p:nvPr/>
        </p:nvSpPr>
        <p:spPr>
          <a:xfrm flipH="1">
            <a:off x="9098280" y="1143000"/>
            <a:ext cx="1463040" cy="1463040"/>
          </a:xfrm>
          <a:prstGeom prst="line">
            <a:avLst/>
          </a:prstGeom>
          <a:noFill/>
          <a:ln w="63500">
            <a:solidFill>
              <a:srgbClr val="FFFFFF"/>
            </a:solidFill>
            <a:prstDash val="solid"/>
          </a:ln>
        </p:spPr>
      </p:sp>
      <p:sp>
        <p:nvSpPr>
          <p:cNvPr id="20" name="al-end"/>
          <p:cNvSpPr txBox="1"/>
          <p:nvPr/>
        </p:nvSpPr>
        <p:spPr>
          <a:xfrm>
            <a:off x="8183880" y="3931920"/>
            <a:ext cx="3291840" cy="868680"/>
          </a:xfrm>
          <a:prstGeom prst="roundRect">
            <a:avLst>
              <a:gd name="adj" fmla="val 25263"/>
            </a:avLst>
          </a:prstGeom>
          <a:solidFill>
            <a:srgbClr val="FFFFFF"/>
          </a:solidFill>
          <a:ln/>
        </p:spPr>
        <p:txBody>
          <a:bodyPr wrap="square" lIns="0" tIns="0" rIns="0" bIns="0" rtlCol="0" anchor="ctr"/>
          <a:lstStyle/>
          <a:p>
            <a:pPr algn="ctr" indent="0" marL="0">
              <a:buNone/>
            </a:pPr>
            <a:r>
              <a:rPr lang="en-US" sz="2200" b="1" dirty="0">
                <a:solidFill>
                  <a:srgbClr val="8F1D16"/>
                </a:solidFill>
                <a:latin typeface="Segoe UI" pitchFamily="34" charset="0"/>
                <a:ea typeface="Segoe UI" pitchFamily="34" charset="-122"/>
                <a:cs typeface="Segoe UI" pitchFamily="34" charset="-120"/>
              </a:rPr>
              <a:t>End call</a:t>
            </a:r>
            <a:endParaRPr lang="en-US" sz="2200" dirty="0"/>
          </a:p>
        </p:txBody>
      </p:sp>
      <p:sp>
        <p:nvSpPr>
          <p:cNvPr id="21" name="al-hold"/>
          <p:cNvSpPr txBox="1"/>
          <p:nvPr/>
        </p:nvSpPr>
        <p:spPr>
          <a:xfrm>
            <a:off x="8183880" y="4983480"/>
            <a:ext cx="3291840" cy="731520"/>
          </a:xfrm>
          <a:prstGeom prst="roundRect">
            <a:avLst>
              <a:gd name="adj" fmla="val 30000"/>
            </a:avLst>
          </a:prstGeom>
          <a:solidFill>
            <a:srgbClr val="8F1D16"/>
          </a:solidFill>
          <a:ln w="25400">
            <a:solidFill>
              <a:srgbClr val="FFFFFF"/>
            </a:solidFill>
          </a:ln>
        </p:spPr>
        <p:txBody>
          <a:bodyPr wrap="square" lIns="0" tIns="0" rIns="0" bIns="0" rtlCol="0" anchor="ctr"/>
          <a:lstStyle/>
          <a:p>
            <a:pPr algn="ctr" indent="0" marL="0">
              <a:buNone/>
            </a:pPr>
            <a:r>
              <a:rPr lang="en-US" sz="1700" b="1" dirty="0">
                <a:solidFill>
                  <a:srgbClr val="FFFFFF"/>
                </a:solidFill>
                <a:latin typeface="Segoe UI" pitchFamily="34" charset="0"/>
                <a:ea typeface="Segoe UI" pitchFamily="34" charset="-122"/>
                <a:cs typeface="Segoe UI" pitchFamily="34" charset="-120"/>
              </a:rPr>
              <a:t>Hold to keep talking</a:t>
            </a:r>
            <a:endParaRPr lang="en-US" sz="1700" dirty="0"/>
          </a:p>
        </p:txBody>
      </p:sp>
      <p:sp>
        <p:nvSpPr>
          <p:cNvPr id="22" name="al-hold-note"/>
          <p:cNvSpPr txBox="1"/>
          <p:nvPr/>
        </p:nvSpPr>
        <p:spPr>
          <a:xfrm>
            <a:off x="8183880" y="5852160"/>
            <a:ext cx="3291840" cy="457200"/>
          </a:xfrm>
          <a:prstGeom prst="rect">
            <a:avLst/>
          </a:prstGeom>
          <a:noFill/>
          <a:ln/>
        </p:spPr>
        <p:txBody>
          <a:bodyPr wrap="square" lIns="0" tIns="0" rIns="0" bIns="0" rtlCol="0" anchor="t"/>
          <a:lstStyle/>
          <a:p>
            <a:pPr algn="ctr" indent="0" marL="0">
              <a:buNone/>
            </a:pPr>
            <a:r>
              <a:rPr lang="en-US" sz="1100" dirty="0">
                <a:solidFill>
                  <a:srgbClr val="F6CFCB"/>
                </a:solidFill>
                <a:latin typeface="Segoe UI" pitchFamily="34" charset="0"/>
                <a:ea typeface="Segoe UI" pitchFamily="34" charset="-122"/>
                <a:cs typeface="Segoe UI" pitchFamily="34" charset="-120"/>
              </a:rPr>
              <a:t>End is one tap. Keeping on takes a deliberate hold.</a:t>
            </a:r>
            <a:endParaRPr lang="en-US" sz="1100" dirty="0"/>
          </a:p>
        </p:txBody>
      </p:sp>
      <p:pic>
        <p:nvPicPr>
          <p:cNvPr id="23" name="hot-End call" descr="End call">
            <a:hlinkClick r:id="rId5" tooltip="End call" action="ppaction://hlinksldjump"/>
          </p:cNvPr>
          <p:cNvPicPr>
            <a:picLocks noChangeAspect="1"/>
          </p:cNvPicPr>
          <p:nvPr/>
        </p:nvPicPr>
        <p:blipFill>
          <a:blip r:embed="rId4"/>
          <a:stretch>
            <a:fillRect/>
          </a:stretch>
        </p:blipFill>
        <p:spPr>
          <a:xfrm>
            <a:off x="8183880" y="3931920"/>
            <a:ext cx="3291840" cy="86868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halo-r3"/>
          <p:cNvSpPr/>
          <p:nvPr/>
        </p:nvSpPr>
        <p:spPr>
          <a:xfrm>
            <a:off x="10664190" y="240030"/>
            <a:ext cx="1257300" cy="1257300"/>
          </a:xfrm>
          <a:prstGeom prst="ellipse">
            <a:avLst/>
          </a:prstGeom>
          <a:solidFill>
            <a:srgbClr val="226192">
              <a:alpha val="0"/>
            </a:srgbClr>
          </a:solidFill>
          <a:ln w="13970">
            <a:solidFill>
              <a:srgbClr val="226192">
                <a:alpha val="18000"/>
              </a:srgbClr>
            </a:solidFill>
            <a:prstDash val="solid"/>
          </a:ln>
        </p:spPr>
      </p:sp>
      <p:sp>
        <p:nvSpPr>
          <p:cNvPr id="3" name="!!halo-r2"/>
          <p:cNvSpPr/>
          <p:nvPr/>
        </p:nvSpPr>
        <p:spPr>
          <a:xfrm>
            <a:off x="10812780" y="388620"/>
            <a:ext cx="960120" cy="960120"/>
          </a:xfrm>
          <a:prstGeom prst="ellipse">
            <a:avLst/>
          </a:prstGeom>
          <a:solidFill>
            <a:srgbClr val="226192">
              <a:alpha val="0"/>
            </a:srgbClr>
          </a:solidFill>
          <a:ln w="13970">
            <a:solidFill>
              <a:srgbClr val="226192">
                <a:alpha val="36000"/>
              </a:srgbClr>
            </a:solidFill>
            <a:prstDash val="solid"/>
          </a:ln>
        </p:spPr>
      </p:sp>
      <p:sp>
        <p:nvSpPr>
          <p:cNvPr id="4" name="!!halo-r1"/>
          <p:cNvSpPr/>
          <p:nvPr/>
        </p:nvSpPr>
        <p:spPr>
          <a:xfrm>
            <a:off x="10949940" y="525780"/>
            <a:ext cx="685800" cy="685800"/>
          </a:xfrm>
          <a:prstGeom prst="ellipse">
            <a:avLst/>
          </a:prstGeom>
          <a:solidFill>
            <a:srgbClr val="226192">
              <a:alpha val="0"/>
            </a:srgbClr>
          </a:solidFill>
          <a:ln w="13970">
            <a:solidFill>
              <a:srgbClr val="226192">
                <a:alpha val="60000"/>
              </a:srgbClr>
            </a:solidFill>
            <a:prstDash val="solid"/>
          </a:ln>
        </p:spPr>
      </p:sp>
      <p:sp>
        <p:nvSpPr>
          <p:cNvPr id="5" name="!!halo-core"/>
          <p:cNvSpPr/>
          <p:nvPr/>
        </p:nvSpPr>
        <p:spPr>
          <a:xfrm>
            <a:off x="11064240" y="640080"/>
            <a:ext cx="457200" cy="457200"/>
          </a:xfrm>
          <a:prstGeom prst="ellipse">
            <a:avLst/>
          </a:prstGeom>
          <a:solidFill>
            <a:srgbClr val="226192"/>
          </a:solidFill>
          <a:ln w="12700">
            <a:solidFill>
              <a:srgbClr val="226192"/>
            </a:solidFill>
            <a:prstDash val="solid"/>
          </a:ln>
        </p:spPr>
      </p:sp>
      <p:pic>
        <p:nvPicPr>
          <p:cNvPr id="6" name="!!halo-icon" descr="Scam check">    </p:cNvPr>
          <p:cNvPicPr>
            <a:picLocks noChangeAspect="1"/>
          </p:cNvPicPr>
          <p:nvPr/>
        </p:nvPicPr>
        <p:blipFill>
          <a:blip r:embed="rId1"/>
          <a:stretch>
            <a:fillRect/>
          </a:stretch>
        </p:blipFill>
        <p:spPr>
          <a:xfrm>
            <a:off x="11173968" y="749808"/>
            <a:ext cx="237744" cy="237744"/>
          </a:xfrm>
          <a:prstGeom prst="rect">
            <a:avLst/>
          </a:prstGeom>
        </p:spPr>
      </p:pic>
      <p:sp>
        <p:nvSpPr>
          <p:cNvPr id="7" name="!!kicker"/>
          <p:cNvSpPr txBox="1"/>
          <p:nvPr/>
        </p:nvSpPr>
        <p:spPr>
          <a:xfrm>
            <a:off x="731520" y="685800"/>
            <a:ext cx="5486400" cy="320040"/>
          </a:xfrm>
          <a:prstGeom prst="rect">
            <a:avLst/>
          </a:prstGeom>
          <a:noFill/>
          <a:ln/>
        </p:spPr>
        <p:txBody>
          <a:bodyPr wrap="square" lIns="0" tIns="0" rIns="0" bIns="0" rtlCol="0" anchor="t"/>
          <a:lstStyle/>
          <a:p>
            <a:pPr indent="0" marL="0">
              <a:buNone/>
            </a:pPr>
            <a:r>
              <a:rPr lang="en-US" sz="1400" b="1" spc="200" kern="0" dirty="0">
                <a:solidFill>
                  <a:srgbClr val="226192"/>
                </a:solidFill>
                <a:latin typeface="Segoe UI" pitchFamily="34" charset="0"/>
                <a:ea typeface="Segoe UI" pitchFamily="34" charset="-122"/>
                <a:cs typeface="Segoe UI" pitchFamily="34" charset="-120"/>
              </a:rPr>
              <a:t>CALL STORY</a:t>
            </a:r>
            <a:endParaRPr lang="en-US" sz="1400" dirty="0"/>
          </a:p>
        </p:txBody>
      </p:sp>
      <p:sp>
        <p:nvSpPr>
          <p:cNvPr id="8" name="!!headline"/>
          <p:cNvSpPr txBox="1"/>
          <p:nvPr/>
        </p:nvSpPr>
        <p:spPr>
          <a:xfrm>
            <a:off x="731520" y="1051560"/>
            <a:ext cx="9601200" cy="731520"/>
          </a:xfrm>
          <a:prstGeom prst="rect">
            <a:avLst/>
          </a:prstGeom>
          <a:noFill/>
          <a:ln/>
        </p:spPr>
        <p:txBody>
          <a:bodyPr wrap="square" lIns="0" tIns="0" rIns="0" bIns="0" rtlCol="0" anchor="t"/>
          <a:lstStyle/>
          <a:p>
            <a:pPr indent="0" marL="0">
              <a:buNone/>
            </a:pPr>
            <a:r>
              <a:rPr lang="en-US" sz="3600" b="1" dirty="0">
                <a:solidFill>
                  <a:srgbClr val="1F2937"/>
                </a:solidFill>
                <a:latin typeface="Segoe UI" pitchFamily="34" charset="0"/>
                <a:ea typeface="Segoe UI" pitchFamily="34" charset="-122"/>
                <a:cs typeface="Segoe UI" pitchFamily="34" charset="-120"/>
              </a:rPr>
              <a:t>We stepped in the moment they asked</a:t>
            </a:r>
            <a:endParaRPr lang="en-US" sz="3600" dirty="0"/>
          </a:p>
        </p:txBody>
      </p:sp>
      <p:sp>
        <p:nvSpPr>
          <p:cNvPr id="9" name="story-card"/>
          <p:cNvSpPr/>
          <p:nvPr/>
        </p:nvSpPr>
        <p:spPr>
          <a:xfrm>
            <a:off x="731520" y="2148840"/>
            <a:ext cx="6766560" cy="3017520"/>
          </a:xfrm>
          <a:prstGeom prst="roundRect">
            <a:avLst>
              <a:gd name="adj" fmla="val 8485"/>
            </a:avLst>
          </a:prstGeom>
          <a:solidFill>
            <a:srgbClr val="FFFFFF"/>
          </a:solidFill>
          <a:ln w="12700">
            <a:solidFill>
              <a:srgbClr val="E6E8EB"/>
            </a:solidFill>
            <a:prstDash val="solid"/>
          </a:ln>
        </p:spPr>
      </p:sp>
      <p:sp>
        <p:nvSpPr>
          <p:cNvPr id="10" name="story-bar"/>
          <p:cNvSpPr/>
          <p:nvPr/>
        </p:nvSpPr>
        <p:spPr>
          <a:xfrm>
            <a:off x="1097280" y="2606040"/>
            <a:ext cx="6035040" cy="128016"/>
          </a:xfrm>
          <a:prstGeom prst="roundRect">
            <a:avLst>
              <a:gd name="adj" fmla="val 50000"/>
            </a:avLst>
          </a:prstGeom>
          <a:solidFill>
            <a:srgbClr val="E3EDF5"/>
          </a:solidFill>
          <a:ln w="12700">
            <a:solidFill>
              <a:srgbClr val="E3EDF5"/>
            </a:solidFill>
            <a:prstDash val="solid"/>
          </a:ln>
        </p:spPr>
      </p:sp>
      <p:sp>
        <p:nvSpPr>
          <p:cNvPr id="11" name="story-dot-0"/>
          <p:cNvSpPr/>
          <p:nvPr/>
        </p:nvSpPr>
        <p:spPr>
          <a:xfrm>
            <a:off x="4710989" y="2542032"/>
            <a:ext cx="256032" cy="256032"/>
          </a:xfrm>
          <a:prstGeom prst="ellipse">
            <a:avLst/>
          </a:prstGeom>
          <a:solidFill>
            <a:srgbClr val="E8A317"/>
          </a:solidFill>
          <a:ln w="25400">
            <a:solidFill>
              <a:srgbClr val="FFFFFF"/>
            </a:solidFill>
            <a:prstDash val="solid"/>
          </a:ln>
        </p:spPr>
      </p:sp>
      <p:sp>
        <p:nvSpPr>
          <p:cNvPr id="12" name="story-key-0"/>
          <p:cNvSpPr/>
          <p:nvPr/>
        </p:nvSpPr>
        <p:spPr>
          <a:xfrm>
            <a:off x="1097280" y="3310128"/>
            <a:ext cx="182880" cy="182880"/>
          </a:xfrm>
          <a:prstGeom prst="ellipse">
            <a:avLst/>
          </a:prstGeom>
          <a:solidFill>
            <a:srgbClr val="E8A317"/>
          </a:solidFill>
          <a:ln w="12700">
            <a:solidFill>
              <a:srgbClr val="E8A317"/>
            </a:solidFill>
            <a:prstDash val="solid"/>
          </a:ln>
        </p:spPr>
      </p:sp>
      <p:sp>
        <p:nvSpPr>
          <p:cNvPr id="13" name="story-time-0"/>
          <p:cNvSpPr txBox="1"/>
          <p:nvPr/>
        </p:nvSpPr>
        <p:spPr>
          <a:xfrm>
            <a:off x="1417320" y="3227832"/>
            <a:ext cx="731520" cy="365760"/>
          </a:xfrm>
          <a:prstGeom prst="rect">
            <a:avLst/>
          </a:prstGeom>
          <a:noFill/>
          <a:ln/>
        </p:spPr>
        <p:txBody>
          <a:bodyPr wrap="square" lIns="0" tIns="0" rIns="0" bIns="0" rtlCol="0" anchor="t"/>
          <a:lstStyle/>
          <a:p>
            <a:pPr indent="0" marL="0">
              <a:buNone/>
            </a:pPr>
            <a:r>
              <a:rPr lang="en-US" sz="1500" dirty="0">
                <a:solidFill>
                  <a:srgbClr val="4B5563"/>
                </a:solidFill>
                <a:latin typeface="Segoe UI" pitchFamily="34" charset="0"/>
                <a:ea typeface="Segoe UI" pitchFamily="34" charset="-122"/>
                <a:cs typeface="Segoe UI" pitchFamily="34" charset="-120"/>
              </a:rPr>
              <a:t>0:21</a:t>
            </a:r>
            <a:endParaRPr lang="en-US" sz="1500" dirty="0"/>
          </a:p>
        </p:txBody>
      </p:sp>
      <p:sp>
        <p:nvSpPr>
          <p:cNvPr id="14" name="story-label-0"/>
          <p:cNvSpPr txBox="1"/>
          <p:nvPr/>
        </p:nvSpPr>
        <p:spPr>
          <a:xfrm>
            <a:off x="2194560" y="3227832"/>
            <a:ext cx="4846320" cy="365760"/>
          </a:xfrm>
          <a:prstGeom prst="rect">
            <a:avLst/>
          </a:prstGeom>
          <a:noFill/>
          <a:ln/>
        </p:spPr>
        <p:txBody>
          <a:bodyPr wrap="square" lIns="0" tIns="0" rIns="0" bIns="0" rtlCol="0" anchor="t"/>
          <a:lstStyle/>
          <a:p>
            <a:pPr indent="0" marL="0">
              <a:buNone/>
            </a:pPr>
            <a:r>
              <a:rPr lang="en-US" sz="1700" b="1" dirty="0">
                <a:solidFill>
                  <a:srgbClr val="1F2937"/>
                </a:solidFill>
                <a:latin typeface="Segoe UI" pitchFamily="34" charset="0"/>
                <a:ea typeface="Segoe UI" pitchFamily="34" charset="-122"/>
                <a:cs typeface="Segoe UI" pitchFamily="34" charset="-120"/>
              </a:rPr>
              <a:t>Asked you to scan a QR code</a:t>
            </a:r>
            <a:endParaRPr lang="en-US" sz="1700" dirty="0"/>
          </a:p>
        </p:txBody>
      </p:sp>
      <p:sp>
        <p:nvSpPr>
          <p:cNvPr id="15" name="story-dot-1"/>
          <p:cNvSpPr/>
          <p:nvPr/>
        </p:nvSpPr>
        <p:spPr>
          <a:xfrm>
            <a:off x="5314493" y="2542032"/>
            <a:ext cx="256032" cy="256032"/>
          </a:xfrm>
          <a:prstGeom prst="ellipse">
            <a:avLst/>
          </a:prstGeom>
          <a:solidFill>
            <a:srgbClr val="D92D20"/>
          </a:solidFill>
          <a:ln w="25400">
            <a:solidFill>
              <a:srgbClr val="FFFFFF"/>
            </a:solidFill>
            <a:prstDash val="solid"/>
          </a:ln>
        </p:spPr>
      </p:sp>
      <p:sp>
        <p:nvSpPr>
          <p:cNvPr id="16" name="story-key-1"/>
          <p:cNvSpPr/>
          <p:nvPr/>
        </p:nvSpPr>
        <p:spPr>
          <a:xfrm>
            <a:off x="1097280" y="3858768"/>
            <a:ext cx="182880" cy="182880"/>
          </a:xfrm>
          <a:prstGeom prst="ellipse">
            <a:avLst/>
          </a:prstGeom>
          <a:solidFill>
            <a:srgbClr val="D92D20"/>
          </a:solidFill>
          <a:ln w="12700">
            <a:solidFill>
              <a:srgbClr val="D92D20"/>
            </a:solidFill>
            <a:prstDash val="solid"/>
          </a:ln>
        </p:spPr>
      </p:sp>
      <p:sp>
        <p:nvSpPr>
          <p:cNvPr id="17" name="story-time-1"/>
          <p:cNvSpPr txBox="1"/>
          <p:nvPr/>
        </p:nvSpPr>
        <p:spPr>
          <a:xfrm>
            <a:off x="1417320" y="3776472"/>
            <a:ext cx="731520" cy="365760"/>
          </a:xfrm>
          <a:prstGeom prst="rect">
            <a:avLst/>
          </a:prstGeom>
          <a:noFill/>
          <a:ln/>
        </p:spPr>
        <p:txBody>
          <a:bodyPr wrap="square" lIns="0" tIns="0" rIns="0" bIns="0" rtlCol="0" anchor="t"/>
          <a:lstStyle/>
          <a:p>
            <a:pPr indent="0" marL="0">
              <a:buNone/>
            </a:pPr>
            <a:r>
              <a:rPr lang="en-US" sz="1500" dirty="0">
                <a:solidFill>
                  <a:srgbClr val="4B5563"/>
                </a:solidFill>
                <a:latin typeface="Segoe UI" pitchFamily="34" charset="0"/>
                <a:ea typeface="Segoe UI" pitchFamily="34" charset="-122"/>
                <a:cs typeface="Segoe UI" pitchFamily="34" charset="-120"/>
              </a:rPr>
              <a:t>0:24</a:t>
            </a:r>
            <a:endParaRPr lang="en-US" sz="1500" dirty="0"/>
          </a:p>
        </p:txBody>
      </p:sp>
      <p:sp>
        <p:nvSpPr>
          <p:cNvPr id="18" name="story-label-1"/>
          <p:cNvSpPr txBox="1"/>
          <p:nvPr/>
        </p:nvSpPr>
        <p:spPr>
          <a:xfrm>
            <a:off x="2194560" y="3776472"/>
            <a:ext cx="4846320" cy="365760"/>
          </a:xfrm>
          <a:prstGeom prst="rect">
            <a:avLst/>
          </a:prstGeom>
          <a:noFill/>
          <a:ln/>
        </p:spPr>
        <p:txBody>
          <a:bodyPr wrap="square" lIns="0" tIns="0" rIns="0" bIns="0" rtlCol="0" anchor="t"/>
          <a:lstStyle/>
          <a:p>
            <a:pPr indent="0" marL="0">
              <a:buNone/>
            </a:pPr>
            <a:r>
              <a:rPr lang="en-US" sz="1700" b="1" dirty="0">
                <a:solidFill>
                  <a:srgbClr val="1F2937"/>
                </a:solidFill>
                <a:latin typeface="Segoe UI" pitchFamily="34" charset="0"/>
                <a:ea typeface="Segoe UI" pitchFamily="34" charset="-122"/>
                <a:cs typeface="Segoe UI" pitchFamily="34" charset="-120"/>
              </a:rPr>
              <a:t>High risk confirmed</a:t>
            </a:r>
            <a:endParaRPr lang="en-US" sz="1700" dirty="0"/>
          </a:p>
        </p:txBody>
      </p:sp>
      <p:sp>
        <p:nvSpPr>
          <p:cNvPr id="19" name="story-dot-2"/>
          <p:cNvSpPr/>
          <p:nvPr/>
        </p:nvSpPr>
        <p:spPr>
          <a:xfrm>
            <a:off x="5917997" y="2542032"/>
            <a:ext cx="256032" cy="256032"/>
          </a:xfrm>
          <a:prstGeom prst="ellipse">
            <a:avLst/>
          </a:prstGeom>
          <a:solidFill>
            <a:srgbClr val="226192"/>
          </a:solidFill>
          <a:ln w="25400">
            <a:solidFill>
              <a:srgbClr val="FFFFFF"/>
            </a:solidFill>
            <a:prstDash val="solid"/>
          </a:ln>
        </p:spPr>
      </p:sp>
      <p:sp>
        <p:nvSpPr>
          <p:cNvPr id="20" name="story-key-2"/>
          <p:cNvSpPr/>
          <p:nvPr/>
        </p:nvSpPr>
        <p:spPr>
          <a:xfrm>
            <a:off x="1097280" y="4407408"/>
            <a:ext cx="182880" cy="182880"/>
          </a:xfrm>
          <a:prstGeom prst="ellipse">
            <a:avLst/>
          </a:prstGeom>
          <a:solidFill>
            <a:srgbClr val="226192"/>
          </a:solidFill>
          <a:ln w="12700">
            <a:solidFill>
              <a:srgbClr val="226192"/>
            </a:solidFill>
            <a:prstDash val="solid"/>
          </a:ln>
        </p:spPr>
      </p:sp>
      <p:sp>
        <p:nvSpPr>
          <p:cNvPr id="21" name="story-time-2"/>
          <p:cNvSpPr txBox="1"/>
          <p:nvPr/>
        </p:nvSpPr>
        <p:spPr>
          <a:xfrm>
            <a:off x="1417320" y="4325112"/>
            <a:ext cx="731520" cy="365760"/>
          </a:xfrm>
          <a:prstGeom prst="rect">
            <a:avLst/>
          </a:prstGeom>
          <a:noFill/>
          <a:ln/>
        </p:spPr>
        <p:txBody>
          <a:bodyPr wrap="square" lIns="0" tIns="0" rIns="0" bIns="0" rtlCol="0" anchor="t"/>
          <a:lstStyle/>
          <a:p>
            <a:pPr indent="0" marL="0">
              <a:buNone/>
            </a:pPr>
            <a:r>
              <a:rPr lang="en-US" sz="1500" dirty="0">
                <a:solidFill>
                  <a:srgbClr val="4B5563"/>
                </a:solidFill>
                <a:latin typeface="Segoe UI" pitchFamily="34" charset="0"/>
                <a:ea typeface="Segoe UI" pitchFamily="34" charset="-122"/>
                <a:cs typeface="Segoe UI" pitchFamily="34" charset="-120"/>
              </a:rPr>
              <a:t>0:27</a:t>
            </a:r>
            <a:endParaRPr lang="en-US" sz="1500" dirty="0"/>
          </a:p>
        </p:txBody>
      </p:sp>
      <p:sp>
        <p:nvSpPr>
          <p:cNvPr id="22" name="story-label-2"/>
          <p:cNvSpPr txBox="1"/>
          <p:nvPr/>
        </p:nvSpPr>
        <p:spPr>
          <a:xfrm>
            <a:off x="2194560" y="4325112"/>
            <a:ext cx="4846320" cy="365760"/>
          </a:xfrm>
          <a:prstGeom prst="rect">
            <a:avLst/>
          </a:prstGeom>
          <a:noFill/>
          <a:ln/>
        </p:spPr>
        <p:txBody>
          <a:bodyPr wrap="square" lIns="0" tIns="0" rIns="0" bIns="0" rtlCol="0" anchor="t"/>
          <a:lstStyle/>
          <a:p>
            <a:pPr indent="0" marL="0">
              <a:buNone/>
            </a:pPr>
            <a:r>
              <a:rPr lang="en-US" sz="1700" b="1" dirty="0">
                <a:solidFill>
                  <a:srgbClr val="1F2937"/>
                </a:solidFill>
                <a:latin typeface="Segoe UI" pitchFamily="34" charset="0"/>
                <a:ea typeface="Segoe UI" pitchFamily="34" charset="-122"/>
                <a:cs typeface="Segoe UI" pitchFamily="34" charset="-120"/>
              </a:rPr>
              <a:t>You ended the call</a:t>
            </a:r>
            <a:endParaRPr lang="en-US" sz="1700" dirty="0"/>
          </a:p>
        </p:txBody>
      </p:sp>
      <p:sp>
        <p:nvSpPr>
          <p:cNvPr id="23" name="story-lock-bg"/>
          <p:cNvSpPr/>
          <p:nvPr/>
        </p:nvSpPr>
        <p:spPr>
          <a:xfrm>
            <a:off x="8001000" y="2148840"/>
            <a:ext cx="3474720" cy="3017520"/>
          </a:xfrm>
          <a:prstGeom prst="roundRect">
            <a:avLst>
              <a:gd name="adj" fmla="val 8485"/>
            </a:avLst>
          </a:prstGeom>
          <a:solidFill>
            <a:srgbClr val="E3EDF5"/>
          </a:solidFill>
          <a:ln w="12700">
            <a:solidFill>
              <a:srgbClr val="E3EDF5"/>
            </a:solidFill>
            <a:prstDash val="solid"/>
          </a:ln>
        </p:spPr>
      </p:sp>
      <p:pic>
        <p:nvPicPr>
          <p:cNvPr id="24" name="story-lock-icon" descr="preencoded.png">    </p:cNvPr>
          <p:cNvPicPr>
            <a:picLocks noChangeAspect="1"/>
          </p:cNvPicPr>
          <p:nvPr/>
        </p:nvPicPr>
        <p:blipFill>
          <a:blip r:embed="rId2"/>
          <a:stretch>
            <a:fillRect/>
          </a:stretch>
        </p:blipFill>
        <p:spPr>
          <a:xfrm>
            <a:off x="8366760" y="2514600"/>
            <a:ext cx="457200" cy="457200"/>
          </a:xfrm>
          <a:prstGeom prst="rect">
            <a:avLst/>
          </a:prstGeom>
        </p:spPr>
      </p:pic>
      <p:sp>
        <p:nvSpPr>
          <p:cNvPr id="25" name="story-lock-title"/>
          <p:cNvSpPr txBox="1"/>
          <p:nvPr/>
        </p:nvSpPr>
        <p:spPr>
          <a:xfrm>
            <a:off x="8366760" y="3108960"/>
            <a:ext cx="2834640" cy="411480"/>
          </a:xfrm>
          <a:prstGeom prst="rect">
            <a:avLst/>
          </a:prstGeom>
          <a:noFill/>
          <a:ln/>
        </p:spPr>
        <p:txBody>
          <a:bodyPr wrap="square" lIns="0" tIns="0" rIns="0" bIns="0" rtlCol="0" anchor="t"/>
          <a:lstStyle/>
          <a:p>
            <a:pPr indent="0" marL="0">
              <a:buNone/>
            </a:pPr>
            <a:r>
              <a:rPr lang="en-US" sz="2000" b="1" dirty="0">
                <a:solidFill>
                  <a:srgbClr val="123A58"/>
                </a:solidFill>
                <a:latin typeface="Segoe UI" pitchFamily="34" charset="0"/>
                <a:ea typeface="Segoe UI" pitchFamily="34" charset="-122"/>
                <a:cs typeface="Segoe UI" pitchFamily="34" charset="-120"/>
              </a:rPr>
              <a:t>Nothing recorded</a:t>
            </a:r>
            <a:endParaRPr lang="en-US" sz="2000" dirty="0"/>
          </a:p>
        </p:txBody>
      </p:sp>
      <p:sp>
        <p:nvSpPr>
          <p:cNvPr id="26" name="!!subline"/>
          <p:cNvSpPr txBox="1"/>
          <p:nvPr/>
        </p:nvSpPr>
        <p:spPr>
          <a:xfrm>
            <a:off x="8366760" y="3566160"/>
            <a:ext cx="2834640" cy="1188720"/>
          </a:xfrm>
          <a:prstGeom prst="rect">
            <a:avLst/>
          </a:prstGeom>
          <a:noFill/>
          <a:ln/>
        </p:spPr>
        <p:txBody>
          <a:bodyPr wrap="square" lIns="0" tIns="0" rIns="0" bIns="0" rtlCol="0" anchor="t"/>
          <a:lstStyle/>
          <a:p>
            <a:pPr indent="0" marL="0">
              <a:buNone/>
            </a:pPr>
            <a:r>
              <a:rPr lang="en-US" sz="1500" dirty="0">
                <a:solidFill>
                  <a:srgbClr val="123A58"/>
                </a:solidFill>
                <a:latin typeface="Segoe UI" pitchFamily="34" charset="0"/>
                <a:ea typeface="Segoe UI" pitchFamily="34" charset="-122"/>
                <a:cs typeface="Segoe UI" pitchFamily="34" charset="-120"/>
              </a:rPr>
              <a:t>No audio. No transcript. Only these moments, kept on your phone.</a:t>
            </a:r>
            <a:endParaRPr lang="en-US" sz="1500" dirty="0"/>
          </a:p>
        </p:txBody>
      </p:sp>
      <p:sp>
        <p:nvSpPr>
          <p:cNvPr id="27" name="btn-Try another call"/>
          <p:cNvSpPr txBox="1"/>
          <p:nvPr/>
        </p:nvSpPr>
        <p:spPr>
          <a:xfrm>
            <a:off x="731520" y="5577840"/>
            <a:ext cx="2743200" cy="566928"/>
          </a:xfrm>
          <a:prstGeom prst="roundRect">
            <a:avLst>
              <a:gd name="adj" fmla="val 29032"/>
            </a:avLst>
          </a:prstGeom>
          <a:solidFill>
            <a:srgbClr val="FAFAF8"/>
          </a:solidFill>
          <a:ln w="19050">
            <a:solidFill>
              <a:srgbClr val="226192"/>
            </a:solidFill>
          </a:ln>
        </p:spPr>
        <p:txBody>
          <a:bodyPr wrap="square" lIns="0" tIns="0" rIns="0" bIns="0" rtlCol="0" anchor="ctr"/>
          <a:lstStyle/>
          <a:p>
            <a:pPr algn="ctr" indent="0" marL="0">
              <a:buNone/>
            </a:pPr>
            <a:r>
              <a:rPr lang="en-US" sz="1600" b="1" dirty="0">
                <a:solidFill>
                  <a:srgbClr val="226192"/>
                </a:solidFill>
                <a:latin typeface="Segoe UI" pitchFamily="34" charset="0"/>
                <a:ea typeface="Segoe UI" pitchFamily="34" charset="-122"/>
                <a:cs typeface="Segoe UI" pitchFamily="34" charset="-120"/>
              </a:rPr>
              <a:t>Try another call</a:t>
            </a:r>
            <a:endParaRPr lang="en-US" sz="1600" dirty="0"/>
          </a:p>
        </p:txBody>
      </p:sp>
      <p:pic>
        <p:nvPicPr>
          <p:cNvPr id="28" name="hot-Try another call" descr="Try another call">
            <a:hlinkClick r:id="rId4" tooltip="Try another call" action="ppaction://hlinksldjump"/>
          </p:cNvPr>
          <p:cNvPicPr>
            <a:picLocks noChangeAspect="1"/>
          </p:cNvPicPr>
          <p:nvPr/>
        </p:nvPicPr>
        <p:blipFill>
          <a:blip r:embed="rId3"/>
          <a:stretch>
            <a:fillRect/>
          </a:stretch>
        </p:blipFill>
        <p:spPr>
          <a:xfrm>
            <a:off x="731520" y="5577840"/>
            <a:ext cx="2743200" cy="566928"/>
          </a:xfrm>
          <a:prstGeom prst="rect">
            <a:avLst/>
          </a:prstGeom>
        </p:spPr>
      </p:pic>
      <p:sp>
        <p:nvSpPr>
          <p:cNvPr id="29" name="btn-Continue"/>
          <p:cNvSpPr txBox="1"/>
          <p:nvPr/>
        </p:nvSpPr>
        <p:spPr>
          <a:xfrm>
            <a:off x="3657600" y="5577840"/>
            <a:ext cx="2194560" cy="566928"/>
          </a:xfrm>
          <a:prstGeom prst="roundRect">
            <a:avLst>
              <a:gd name="adj" fmla="val 29032"/>
            </a:avLst>
          </a:prstGeom>
          <a:solidFill>
            <a:srgbClr val="226192"/>
          </a:solidFill>
          <a:ln w="19050">
            <a:solidFill>
              <a:srgbClr val="226192"/>
            </a:solidFill>
          </a:ln>
        </p:spPr>
        <p:txBody>
          <a:bodyPr wrap="square" lIns="0" tIns="0" rIns="0" bIns="0"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Continue</a:t>
            </a:r>
            <a:endParaRPr lang="en-US" sz="1600" dirty="0"/>
          </a:p>
        </p:txBody>
      </p:sp>
      <p:pic>
        <p:nvPicPr>
          <p:cNvPr id="30" name="hot-Continue" descr="Continue">
            <a:hlinkClick r:id="rId6" tooltip="Continue" action="ppaction://hlinksldjump"/>
          </p:cNvPr>
          <p:cNvPicPr>
            <a:picLocks noChangeAspect="1"/>
          </p:cNvPicPr>
          <p:nvPr/>
        </p:nvPicPr>
        <p:blipFill>
          <a:blip r:embed="rId5"/>
          <a:stretch>
            <a:fillRect/>
          </a:stretch>
        </p:blipFill>
        <p:spPr>
          <a:xfrm>
            <a:off x="3657600" y="5577840"/>
            <a:ext cx="2194560" cy="566928"/>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phone"/>
          <p:cNvSpPr/>
          <p:nvPr/>
        </p:nvSpPr>
        <p:spPr>
          <a:xfrm>
            <a:off x="8001000" y="411480"/>
            <a:ext cx="3017520" cy="6035040"/>
          </a:xfrm>
          <a:prstGeom prst="roundRect">
            <a:avLst>
              <a:gd name="adj" fmla="val 14545"/>
            </a:avLst>
          </a:prstGeom>
          <a:solidFill>
            <a:srgbClr val="0A131D"/>
          </a:solidFill>
          <a:ln w="19050">
            <a:solidFill>
              <a:srgbClr val="2E4257"/>
            </a:solidFill>
            <a:prstDash val="solid"/>
          </a:ln>
        </p:spPr>
      </p:sp>
      <p:sp>
        <p:nvSpPr>
          <p:cNvPr id="3" name="!!screen"/>
          <p:cNvSpPr/>
          <p:nvPr/>
        </p:nvSpPr>
        <p:spPr>
          <a:xfrm>
            <a:off x="8092440" y="502920"/>
            <a:ext cx="2834640" cy="5852160"/>
          </a:xfrm>
          <a:prstGeom prst="roundRect">
            <a:avLst>
              <a:gd name="adj" fmla="val 12903"/>
            </a:avLst>
          </a:prstGeom>
          <a:solidFill>
            <a:srgbClr val="0E1A27"/>
          </a:solidFill>
          <a:ln w="12700">
            <a:solidFill>
              <a:srgbClr val="0E1A27"/>
            </a:solidFill>
            <a:prstDash val="solid"/>
          </a:ln>
        </p:spPr>
      </p:sp>
      <p:sp>
        <p:nvSpPr>
          <p:cNvPr id="4" name="!!p-top"/>
          <p:cNvSpPr txBox="1"/>
          <p:nvPr/>
        </p:nvSpPr>
        <p:spPr>
          <a:xfrm>
            <a:off x="8183880" y="713232"/>
            <a:ext cx="2651760" cy="310896"/>
          </a:xfrm>
          <a:prstGeom prst="rect">
            <a:avLst/>
          </a:prstGeom>
          <a:noFill/>
          <a:ln/>
        </p:spPr>
        <p:txBody>
          <a:bodyPr wrap="square" lIns="0" tIns="0" rIns="0" bIns="0" rtlCol="0" anchor="t"/>
          <a:lstStyle/>
          <a:p>
            <a:pPr algn="ctr" indent="0" marL="0">
              <a:buNone/>
            </a:pPr>
            <a:r>
              <a:rPr lang="en-US" sz="1400" b="1" dirty="0">
                <a:solidFill>
                  <a:srgbClr val="FFFFFF"/>
                </a:solidFill>
                <a:latin typeface="Segoe UI" pitchFamily="34" charset="0"/>
                <a:ea typeface="Segoe UI" pitchFamily="34" charset="-122"/>
                <a:cs typeface="Segoe UI" pitchFamily="34" charset="-120"/>
              </a:rPr>
              <a:t>Unknown number</a:t>
            </a:r>
            <a:endParaRPr lang="en-US" sz="1400" dirty="0"/>
          </a:p>
        </p:txBody>
      </p:sp>
      <p:sp>
        <p:nvSpPr>
          <p:cNvPr id="5" name="!!p-clock"/>
          <p:cNvSpPr txBox="1"/>
          <p:nvPr/>
        </p:nvSpPr>
        <p:spPr>
          <a:xfrm>
            <a:off x="8183880" y="1005840"/>
            <a:ext cx="2651760" cy="237744"/>
          </a:xfrm>
          <a:prstGeom prst="rect">
            <a:avLst/>
          </a:prstGeom>
          <a:noFill/>
          <a:ln/>
        </p:spPr>
        <p:txBody>
          <a:bodyPr wrap="square" lIns="0" tIns="0" rIns="0" bIns="0" rtlCol="0" anchor="t"/>
          <a:lstStyle/>
          <a:p>
            <a:pPr algn="ctr" indent="0" marL="0">
              <a:buNone/>
            </a:pPr>
            <a:r>
              <a:rPr lang="en-US" sz="1000" dirty="0">
                <a:solidFill>
                  <a:srgbClr val="A9B6C3"/>
                </a:solidFill>
                <a:latin typeface="Segoe UI" pitchFamily="34" charset="0"/>
                <a:ea typeface="Segoe UI" pitchFamily="34" charset="-122"/>
                <a:cs typeface="Segoe UI" pitchFamily="34" charset="-120"/>
              </a:rPr>
              <a:t>0:38</a:t>
            </a:r>
            <a:endParaRPr lang="en-US" sz="1000" dirty="0"/>
          </a:p>
        </p:txBody>
      </p:sp>
      <p:sp>
        <p:nvSpPr>
          <p:cNvPr id="6" name="!!halo-r3"/>
          <p:cNvSpPr/>
          <p:nvPr/>
        </p:nvSpPr>
        <p:spPr>
          <a:xfrm>
            <a:off x="8378190" y="1200150"/>
            <a:ext cx="2263140" cy="2263140"/>
          </a:xfrm>
          <a:prstGeom prst="ellipse">
            <a:avLst/>
          </a:prstGeom>
          <a:solidFill>
            <a:srgbClr val="F5B83D">
              <a:alpha val="0"/>
            </a:srgbClr>
          </a:solidFill>
          <a:ln w="25146">
            <a:solidFill>
              <a:srgbClr val="F5B83D">
                <a:alpha val="30000"/>
              </a:srgbClr>
            </a:solidFill>
            <a:prstDash val="solid"/>
          </a:ln>
        </p:spPr>
      </p:sp>
      <p:sp>
        <p:nvSpPr>
          <p:cNvPr id="7" name="!!halo-r2"/>
          <p:cNvSpPr/>
          <p:nvPr/>
        </p:nvSpPr>
        <p:spPr>
          <a:xfrm>
            <a:off x="8645652" y="1467612"/>
            <a:ext cx="1728216" cy="1728216"/>
          </a:xfrm>
          <a:prstGeom prst="ellipse">
            <a:avLst/>
          </a:prstGeom>
          <a:solidFill>
            <a:srgbClr val="F5B83D">
              <a:alpha val="0"/>
            </a:srgbClr>
          </a:solidFill>
          <a:ln w="25146">
            <a:solidFill>
              <a:srgbClr val="F5B83D">
                <a:alpha val="58000"/>
              </a:srgbClr>
            </a:solidFill>
            <a:prstDash val="solid"/>
          </a:ln>
        </p:spPr>
      </p:sp>
      <p:sp>
        <p:nvSpPr>
          <p:cNvPr id="8" name="!!halo-r1"/>
          <p:cNvSpPr/>
          <p:nvPr/>
        </p:nvSpPr>
        <p:spPr>
          <a:xfrm>
            <a:off x="8892540" y="1714500"/>
            <a:ext cx="1234440" cy="1234440"/>
          </a:xfrm>
          <a:prstGeom prst="ellipse">
            <a:avLst/>
          </a:prstGeom>
          <a:solidFill>
            <a:srgbClr val="F5B83D">
              <a:alpha val="0"/>
            </a:srgbClr>
          </a:solidFill>
          <a:ln w="25146">
            <a:solidFill>
              <a:srgbClr val="F5B83D">
                <a:alpha val="90000"/>
              </a:srgbClr>
            </a:solidFill>
            <a:prstDash val="solid"/>
          </a:ln>
        </p:spPr>
      </p:sp>
      <p:sp>
        <p:nvSpPr>
          <p:cNvPr id="9" name="!!halo-core"/>
          <p:cNvSpPr/>
          <p:nvPr/>
        </p:nvSpPr>
        <p:spPr>
          <a:xfrm>
            <a:off x="9098280" y="1920240"/>
            <a:ext cx="822960" cy="822960"/>
          </a:xfrm>
          <a:prstGeom prst="ellipse">
            <a:avLst/>
          </a:prstGeom>
          <a:solidFill>
            <a:srgbClr val="3A2A08"/>
          </a:solidFill>
          <a:ln w="12700">
            <a:solidFill>
              <a:srgbClr val="3A2A08"/>
            </a:solidFill>
            <a:prstDash val="solid"/>
          </a:ln>
        </p:spPr>
      </p:sp>
      <p:pic>
        <p:nvPicPr>
          <p:cNvPr id="10" name="!!halo-icon" descr="Scam check">    </p:cNvPr>
          <p:cNvPicPr>
            <a:picLocks noChangeAspect="1"/>
          </p:cNvPicPr>
          <p:nvPr/>
        </p:nvPicPr>
        <p:blipFill>
          <a:blip r:embed="rId1"/>
          <a:stretch>
            <a:fillRect/>
          </a:stretch>
        </p:blipFill>
        <p:spPr>
          <a:xfrm>
            <a:off x="9295790" y="2117750"/>
            <a:ext cx="427939" cy="427939"/>
          </a:xfrm>
          <a:prstGeom prst="rect">
            <a:avLst/>
          </a:prstGeom>
        </p:spPr>
      </p:pic>
      <p:sp>
        <p:nvSpPr>
          <p:cNvPr id="11" name="!!p-card"/>
          <p:cNvSpPr/>
          <p:nvPr/>
        </p:nvSpPr>
        <p:spPr>
          <a:xfrm>
            <a:off x="8229600" y="3611880"/>
            <a:ext cx="2560320" cy="1325880"/>
          </a:xfrm>
          <a:prstGeom prst="roundRect">
            <a:avLst>
              <a:gd name="adj" fmla="val 11034"/>
            </a:avLst>
          </a:prstGeom>
          <a:solidFill>
            <a:srgbClr val="2A2412"/>
          </a:solidFill>
          <a:ln w="15875">
            <a:solidFill>
              <a:srgbClr val="F5B83D"/>
            </a:solidFill>
            <a:prstDash val="solid"/>
          </a:ln>
        </p:spPr>
      </p:sp>
      <p:sp>
        <p:nvSpPr>
          <p:cNvPr id="12" name="!!p-card-title"/>
          <p:cNvSpPr txBox="1"/>
          <p:nvPr/>
        </p:nvSpPr>
        <p:spPr>
          <a:xfrm>
            <a:off x="8385048" y="3721608"/>
            <a:ext cx="2249424" cy="274320"/>
          </a:xfrm>
          <a:prstGeom prst="rect">
            <a:avLst/>
          </a:prstGeom>
          <a:noFill/>
          <a:ln/>
        </p:spPr>
        <p:txBody>
          <a:bodyPr wrap="square" lIns="0" tIns="0" rIns="0" bIns="0" rtlCol="0" anchor="t"/>
          <a:lstStyle/>
          <a:p>
            <a:pPr indent="0" marL="0">
              <a:buNone/>
            </a:pPr>
            <a:r>
              <a:rPr lang="en-US" sz="1200" b="1" dirty="0">
                <a:solidFill>
                  <a:srgbClr val="FFE3A6"/>
                </a:solidFill>
                <a:latin typeface="Segoe UI" pitchFamily="34" charset="0"/>
                <a:ea typeface="Segoe UI" pitchFamily="34" charset="-122"/>
                <a:cs typeface="Segoe UI" pitchFamily="34" charset="-120"/>
              </a:rPr>
              <a:t>Checking a payment request…</a:t>
            </a:r>
            <a:endParaRPr lang="en-US" sz="1200" dirty="0"/>
          </a:p>
        </p:txBody>
      </p:sp>
      <p:sp>
        <p:nvSpPr>
          <p:cNvPr id="13" name="!!p-card-sub"/>
          <p:cNvSpPr txBox="1"/>
          <p:nvPr/>
        </p:nvSpPr>
        <p:spPr>
          <a:xfrm>
            <a:off x="8385048" y="4023360"/>
            <a:ext cx="2249424" cy="420624"/>
          </a:xfrm>
          <a:prstGeom prst="rect">
            <a:avLst/>
          </a:prstGeom>
          <a:noFill/>
          <a:ln/>
        </p:spPr>
        <p:txBody>
          <a:bodyPr wrap="square" lIns="0" tIns="0" rIns="0" bIns="0" rtlCol="0" anchor="t"/>
          <a:lstStyle/>
          <a:p>
            <a:pPr indent="0" marL="0">
              <a:buNone/>
            </a:pPr>
            <a:r>
              <a:rPr lang="en-US" sz="950" dirty="0">
                <a:solidFill>
                  <a:srgbClr val="FFE3A6"/>
                </a:solidFill>
                <a:latin typeface="Segoe UI" pitchFamily="34" charset="0"/>
                <a:ea typeface="Segoe UI" pitchFamily="34" charset="-122"/>
                <a:cs typeface="Segoe UI" pitchFamily="34" charset="-120"/>
              </a:rPr>
              <a:t>Don't scan, pay or share anything yet.</a:t>
            </a:r>
            <a:endParaRPr lang="en-US" sz="950" dirty="0"/>
          </a:p>
        </p:txBody>
      </p:sp>
      <p:sp>
        <p:nvSpPr>
          <p:cNvPr id="14" name="!!p-chip"/>
          <p:cNvSpPr txBox="1"/>
          <p:nvPr/>
        </p:nvSpPr>
        <p:spPr>
          <a:xfrm>
            <a:off x="8385048" y="4507992"/>
            <a:ext cx="2249424" cy="292608"/>
          </a:xfrm>
          <a:prstGeom prst="roundRect">
            <a:avLst>
              <a:gd name="adj" fmla="val 50000"/>
            </a:avLst>
          </a:prstGeom>
          <a:solidFill>
            <a:srgbClr val="F5B83D"/>
          </a:solidFill>
          <a:ln/>
        </p:spPr>
        <p:txBody>
          <a:bodyPr wrap="square" lIns="0" tIns="0" rIns="0" bIns="0" rtlCol="0" anchor="ctr"/>
          <a:lstStyle/>
          <a:p>
            <a:pPr algn="ctr" indent="0" marL="0">
              <a:buNone/>
            </a:pPr>
            <a:r>
              <a:rPr lang="en-US" sz="900" b="1" dirty="0">
                <a:solidFill>
                  <a:srgbClr val="2B1D00"/>
                </a:solidFill>
                <a:latin typeface="Segoe UI" pitchFamily="34" charset="0"/>
                <a:ea typeface="Segoe UI" pitchFamily="34" charset="-122"/>
                <a:cs typeface="Segoe UI" pitchFamily="34" charset="-120"/>
              </a:rPr>
              <a:t>Heard: a one-time password (OTP)</a:t>
            </a:r>
            <a:endParaRPr lang="en-US" sz="900" dirty="0"/>
          </a:p>
        </p:txBody>
      </p:sp>
      <p:sp>
        <p:nvSpPr>
          <p:cNvPr id="15" name="!!p-btn-a"/>
          <p:cNvSpPr/>
          <p:nvPr/>
        </p:nvSpPr>
        <p:spPr>
          <a:xfrm>
            <a:off x="8403336" y="5202936"/>
            <a:ext cx="566928" cy="566928"/>
          </a:xfrm>
          <a:prstGeom prst="ellipse">
            <a:avLst/>
          </a:prstGeom>
          <a:solidFill>
            <a:srgbClr val="FFFFFF">
              <a:alpha val="8000"/>
            </a:srgbClr>
          </a:solidFill>
          <a:ln w="12700">
            <a:solidFill>
              <a:srgbClr val="3A4E63"/>
            </a:solidFill>
            <a:prstDash val="solid"/>
          </a:ln>
        </p:spPr>
      </p:sp>
      <p:pic>
        <p:nvPicPr>
          <p:cNvPr id="16" name="!!p-btn-a-icon" descr="Mute">    </p:cNvPr>
          <p:cNvPicPr>
            <a:picLocks noChangeAspect="1"/>
          </p:cNvPicPr>
          <p:nvPr/>
        </p:nvPicPr>
        <p:blipFill>
          <a:blip r:embed="rId2"/>
          <a:stretch>
            <a:fillRect/>
          </a:stretch>
        </p:blipFill>
        <p:spPr>
          <a:xfrm>
            <a:off x="8559241" y="5358841"/>
            <a:ext cx="255118" cy="255118"/>
          </a:xfrm>
          <a:prstGeom prst="rect">
            <a:avLst/>
          </a:prstGeom>
        </p:spPr>
      </p:pic>
      <p:sp>
        <p:nvSpPr>
          <p:cNvPr id="17" name="!!p-btn-a-label"/>
          <p:cNvSpPr txBox="1"/>
          <p:nvPr/>
        </p:nvSpPr>
        <p:spPr>
          <a:xfrm>
            <a:off x="8138160" y="5824728"/>
            <a:ext cx="1097280" cy="228600"/>
          </a:xfrm>
          <a:prstGeom prst="rect">
            <a:avLst/>
          </a:prstGeom>
          <a:noFill/>
          <a:ln/>
        </p:spPr>
        <p:txBody>
          <a:bodyPr wrap="square" lIns="0" tIns="0" rIns="0" bIns="0" rtlCol="0" anchor="t"/>
          <a:lstStyle/>
          <a:p>
            <a:pPr algn="ctr" indent="0" marL="0">
              <a:buNone/>
            </a:pPr>
            <a:r>
              <a:rPr lang="en-US" sz="1000" dirty="0">
                <a:solidFill>
                  <a:srgbClr val="A9B6C3"/>
                </a:solidFill>
                <a:latin typeface="Segoe UI" pitchFamily="34" charset="0"/>
                <a:ea typeface="Segoe UI" pitchFamily="34" charset="-122"/>
                <a:cs typeface="Segoe UI" pitchFamily="34" charset="-120"/>
              </a:rPr>
              <a:t>Mute</a:t>
            </a:r>
            <a:endParaRPr lang="en-US" sz="1000" dirty="0"/>
          </a:p>
        </p:txBody>
      </p:sp>
      <p:sp>
        <p:nvSpPr>
          <p:cNvPr id="18" name="!!p-btn-b"/>
          <p:cNvSpPr/>
          <p:nvPr/>
        </p:nvSpPr>
        <p:spPr>
          <a:xfrm>
            <a:off x="9226296" y="5202936"/>
            <a:ext cx="566928" cy="566928"/>
          </a:xfrm>
          <a:prstGeom prst="ellipse">
            <a:avLst/>
          </a:prstGeom>
          <a:solidFill>
            <a:srgbClr val="FFFFFF">
              <a:alpha val="8000"/>
            </a:srgbClr>
          </a:solidFill>
          <a:ln w="12700">
            <a:solidFill>
              <a:srgbClr val="3A4E63"/>
            </a:solidFill>
            <a:prstDash val="solid"/>
          </a:ln>
        </p:spPr>
      </p:sp>
      <p:pic>
        <p:nvPicPr>
          <p:cNvPr id="19" name="!!p-btn-b-icon" descr="Speaker">    </p:cNvPr>
          <p:cNvPicPr>
            <a:picLocks noChangeAspect="1"/>
          </p:cNvPicPr>
          <p:nvPr/>
        </p:nvPicPr>
        <p:blipFill>
          <a:blip r:embed="rId3"/>
          <a:stretch>
            <a:fillRect/>
          </a:stretch>
        </p:blipFill>
        <p:spPr>
          <a:xfrm>
            <a:off x="9382201" y="5358841"/>
            <a:ext cx="255118" cy="255118"/>
          </a:xfrm>
          <a:prstGeom prst="rect">
            <a:avLst/>
          </a:prstGeom>
        </p:spPr>
      </p:pic>
      <p:sp>
        <p:nvSpPr>
          <p:cNvPr id="20" name="!!p-btn-b-label"/>
          <p:cNvSpPr txBox="1"/>
          <p:nvPr/>
        </p:nvSpPr>
        <p:spPr>
          <a:xfrm>
            <a:off x="8961120" y="5824728"/>
            <a:ext cx="1097280" cy="228600"/>
          </a:xfrm>
          <a:prstGeom prst="rect">
            <a:avLst/>
          </a:prstGeom>
          <a:noFill/>
          <a:ln/>
        </p:spPr>
        <p:txBody>
          <a:bodyPr wrap="square" lIns="0" tIns="0" rIns="0" bIns="0" rtlCol="0" anchor="t"/>
          <a:lstStyle/>
          <a:p>
            <a:pPr algn="ctr" indent="0" marL="0">
              <a:buNone/>
            </a:pPr>
            <a:r>
              <a:rPr lang="en-US" sz="1000" dirty="0">
                <a:solidFill>
                  <a:srgbClr val="A9B6C3"/>
                </a:solidFill>
                <a:latin typeface="Segoe UI" pitchFamily="34" charset="0"/>
                <a:ea typeface="Segoe UI" pitchFamily="34" charset="-122"/>
                <a:cs typeface="Segoe UI" pitchFamily="34" charset="-120"/>
              </a:rPr>
              <a:t>Speaker</a:t>
            </a:r>
            <a:endParaRPr lang="en-US" sz="1000" dirty="0"/>
          </a:p>
        </p:txBody>
      </p:sp>
      <p:sp>
        <p:nvSpPr>
          <p:cNvPr id="21" name="!!p-btn-c"/>
          <p:cNvSpPr/>
          <p:nvPr/>
        </p:nvSpPr>
        <p:spPr>
          <a:xfrm>
            <a:off x="10049256" y="5202936"/>
            <a:ext cx="566928" cy="566928"/>
          </a:xfrm>
          <a:prstGeom prst="ellipse">
            <a:avLst/>
          </a:prstGeom>
          <a:solidFill>
            <a:srgbClr val="D92D20"/>
          </a:solidFill>
          <a:ln w="12700">
            <a:solidFill>
              <a:srgbClr val="D92D20"/>
            </a:solidFill>
            <a:prstDash val="solid"/>
          </a:ln>
        </p:spPr>
      </p:sp>
      <p:pic>
        <p:nvPicPr>
          <p:cNvPr id="22" name="!!p-btn-c-icon" descr="End">    </p:cNvPr>
          <p:cNvPicPr>
            <a:picLocks noChangeAspect="1"/>
          </p:cNvPicPr>
          <p:nvPr/>
        </p:nvPicPr>
        <p:blipFill>
          <a:blip r:embed="rId4"/>
          <a:stretch>
            <a:fillRect/>
          </a:stretch>
        </p:blipFill>
        <p:spPr>
          <a:xfrm>
            <a:off x="10205161" y="5358841"/>
            <a:ext cx="255118" cy="255118"/>
          </a:xfrm>
          <a:prstGeom prst="rect">
            <a:avLst/>
          </a:prstGeom>
        </p:spPr>
      </p:pic>
      <p:sp>
        <p:nvSpPr>
          <p:cNvPr id="23" name="!!p-btn-c-label"/>
          <p:cNvSpPr txBox="1"/>
          <p:nvPr/>
        </p:nvSpPr>
        <p:spPr>
          <a:xfrm>
            <a:off x="9784080" y="5824728"/>
            <a:ext cx="1097280" cy="228600"/>
          </a:xfrm>
          <a:prstGeom prst="rect">
            <a:avLst/>
          </a:prstGeom>
          <a:noFill/>
          <a:ln/>
        </p:spPr>
        <p:txBody>
          <a:bodyPr wrap="square" lIns="0" tIns="0" rIns="0" bIns="0" rtlCol="0" anchor="t"/>
          <a:lstStyle/>
          <a:p>
            <a:pPr algn="ctr" indent="0" marL="0">
              <a:buNone/>
            </a:pPr>
            <a:r>
              <a:rPr lang="en-US" sz="1000" dirty="0">
                <a:solidFill>
                  <a:srgbClr val="A9B6C3"/>
                </a:solidFill>
                <a:latin typeface="Segoe UI" pitchFamily="34" charset="0"/>
                <a:ea typeface="Segoe UI" pitchFamily="34" charset="-122"/>
                <a:cs typeface="Segoe UI" pitchFamily="34" charset="-120"/>
              </a:rPr>
              <a:t>End</a:t>
            </a:r>
            <a:endParaRPr lang="en-US" sz="1000" dirty="0"/>
          </a:p>
        </p:txBody>
      </p:sp>
      <p:sp>
        <p:nvSpPr>
          <p:cNvPr id="24" name="!!step-num"/>
          <p:cNvSpPr txBox="1"/>
          <p:nvPr/>
        </p:nvSpPr>
        <p:spPr>
          <a:xfrm>
            <a:off x="731520" y="1417320"/>
            <a:ext cx="6400800" cy="365760"/>
          </a:xfrm>
          <a:prstGeom prst="rect">
            <a:avLst/>
          </a:prstGeom>
          <a:noFill/>
          <a:ln/>
        </p:spPr>
        <p:txBody>
          <a:bodyPr wrap="square" lIns="0" tIns="0" rIns="0" bIns="0" rtlCol="0" anchor="t"/>
          <a:lstStyle/>
          <a:p>
            <a:pPr indent="0" marL="0">
              <a:buNone/>
            </a:pPr>
            <a:r>
              <a:rPr lang="en-US" sz="1400" b="1" spc="200" kern="0" dirty="0">
                <a:solidFill>
                  <a:srgbClr val="7DB8E8"/>
                </a:solidFill>
                <a:latin typeface="Segoe UI" pitchFamily="34" charset="0"/>
                <a:ea typeface="Segoe UI" pitchFamily="34" charset="-122"/>
                <a:cs typeface="Segoe UI" pitchFamily="34" charset="-120"/>
              </a:rPr>
              <a:t>THE OTP CALL</a:t>
            </a:r>
            <a:endParaRPr lang="en-US" sz="1400" dirty="0"/>
          </a:p>
        </p:txBody>
      </p:sp>
      <p:sp>
        <p:nvSpPr>
          <p:cNvPr id="25" name="!!step-title"/>
          <p:cNvSpPr txBox="1"/>
          <p:nvPr/>
        </p:nvSpPr>
        <p:spPr>
          <a:xfrm>
            <a:off x="731520" y="1828800"/>
            <a:ext cx="6583680" cy="1737360"/>
          </a:xfrm>
          <a:prstGeom prst="rect">
            <a:avLst/>
          </a:prstGeom>
          <a:noFill/>
          <a:ln/>
        </p:spPr>
        <p:txBody>
          <a:bodyPr wrap="square" lIns="0" tIns="0" rIns="0" bIns="0" rtlCol="0" anchor="t"/>
          <a:lstStyle/>
          <a:p>
            <a:pPr indent="0" marL="0">
              <a:buNone/>
            </a:pPr>
            <a:r>
              <a:rPr lang="en-US" sz="3800" b="1" dirty="0">
                <a:solidFill>
                  <a:srgbClr val="FFFFFF"/>
                </a:solidFill>
                <a:latin typeface="Segoe UI" pitchFamily="34" charset="0"/>
                <a:ea typeface="Segoe UI" pitchFamily="34" charset="-122"/>
                <a:cs typeface="Segoe UI" pitchFamily="34" charset="-120"/>
              </a:rPr>
              <a:t>“Just read me the code we sent”</a:t>
            </a:r>
            <a:endParaRPr lang="en-US" sz="3800" dirty="0"/>
          </a:p>
        </p:txBody>
      </p:sp>
      <p:sp>
        <p:nvSpPr>
          <p:cNvPr id="26" name="!!step-body"/>
          <p:cNvSpPr txBox="1"/>
          <p:nvPr/>
        </p:nvSpPr>
        <p:spPr>
          <a:xfrm>
            <a:off x="731520" y="3611880"/>
            <a:ext cx="6217920" cy="1188720"/>
          </a:xfrm>
          <a:prstGeom prst="rect">
            <a:avLst/>
          </a:prstGeom>
          <a:noFill/>
          <a:ln/>
        </p:spPr>
        <p:txBody>
          <a:bodyPr wrap="square" lIns="0" tIns="0" rIns="0" bIns="0" rtlCol="0" anchor="t"/>
          <a:lstStyle/>
          <a:p>
            <a:pPr indent="0" marL="0">
              <a:buNone/>
            </a:pPr>
            <a:r>
              <a:rPr lang="en-US" sz="1800" dirty="0">
                <a:solidFill>
                  <a:srgbClr val="A9B6C3"/>
                </a:solidFill>
                <a:latin typeface="Segoe UI" pitchFamily="34" charset="0"/>
                <a:ea typeface="Segoe UI" pitchFamily="34" charset="-122"/>
                <a:cs typeface="Segoe UI" pitchFamily="34" charset="-120"/>
              </a:rPr>
              <a:t>Bank and delivery impersonators ask for the OTP. The halo turns amber the moment they do.</a:t>
            </a:r>
            <a:endParaRPr lang="en-US" sz="18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advTm="3200">
        <p159:morph option="byObject"/>
      </p:transition>
    </mc:Choice>
    <mc:Fallback>
      <p:transition spd="slow" advTm="320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halo-r3"/>
          <p:cNvSpPr/>
          <p:nvPr/>
        </p:nvSpPr>
        <p:spPr>
          <a:xfrm>
            <a:off x="-3962552" y="-6629400"/>
            <a:ext cx="20116800" cy="20116800"/>
          </a:xfrm>
          <a:prstGeom prst="ellipse">
            <a:avLst/>
          </a:prstGeom>
          <a:solidFill>
            <a:srgbClr val="8F1D16">
              <a:alpha val="0"/>
            </a:srgbClr>
          </a:solidFill>
          <a:ln w="12700">
            <a:solidFill>
              <a:srgbClr val="8F1D16">
                <a:alpha val="0"/>
              </a:srgbClr>
            </a:solidFill>
            <a:prstDash val="solid"/>
          </a:ln>
        </p:spPr>
      </p:sp>
      <p:sp>
        <p:nvSpPr>
          <p:cNvPr id="3" name="!!halo-r2"/>
          <p:cNvSpPr/>
          <p:nvPr/>
        </p:nvSpPr>
        <p:spPr>
          <a:xfrm>
            <a:off x="-2819552" y="-5486400"/>
            <a:ext cx="17830800" cy="17830800"/>
          </a:xfrm>
          <a:prstGeom prst="ellipse">
            <a:avLst/>
          </a:prstGeom>
          <a:solidFill>
            <a:srgbClr val="8F1D16">
              <a:alpha val="0"/>
            </a:srgbClr>
          </a:solidFill>
          <a:ln w="12700">
            <a:solidFill>
              <a:srgbClr val="8F1D16">
                <a:alpha val="0"/>
              </a:srgbClr>
            </a:solidFill>
            <a:prstDash val="solid"/>
          </a:ln>
        </p:spPr>
      </p:sp>
      <p:sp>
        <p:nvSpPr>
          <p:cNvPr id="4" name="!!halo-r1"/>
          <p:cNvSpPr/>
          <p:nvPr/>
        </p:nvSpPr>
        <p:spPr>
          <a:xfrm>
            <a:off x="-1950872" y="-4617720"/>
            <a:ext cx="16093440" cy="16093440"/>
          </a:xfrm>
          <a:prstGeom prst="ellipse">
            <a:avLst/>
          </a:prstGeom>
          <a:solidFill>
            <a:srgbClr val="8F1D16">
              <a:alpha val="0"/>
            </a:srgbClr>
          </a:solidFill>
          <a:ln w="12700">
            <a:solidFill>
              <a:srgbClr val="8F1D16">
                <a:alpha val="0"/>
              </a:srgbClr>
            </a:solidFill>
            <a:prstDash val="solid"/>
          </a:ln>
        </p:spPr>
      </p:sp>
      <p:sp>
        <p:nvSpPr>
          <p:cNvPr id="5" name="!!halo-core"/>
          <p:cNvSpPr/>
          <p:nvPr/>
        </p:nvSpPr>
        <p:spPr>
          <a:xfrm>
            <a:off x="-1447952" y="-4114800"/>
            <a:ext cx="15087600" cy="15087600"/>
          </a:xfrm>
          <a:prstGeom prst="ellipse">
            <a:avLst/>
          </a:prstGeom>
          <a:solidFill>
            <a:srgbClr val="8F1D16"/>
          </a:solidFill>
          <a:ln w="12700">
            <a:solidFill>
              <a:srgbClr val="8F1D16"/>
            </a:solidFill>
            <a:prstDash val="solid"/>
          </a:ln>
        </p:spPr>
      </p:sp>
      <p:pic>
        <p:nvPicPr>
          <p:cNvPr id="6" name="al-icon" descr="preencoded.png">    </p:cNvPr>
          <p:cNvPicPr>
            <a:picLocks noChangeAspect="1"/>
          </p:cNvPicPr>
          <p:nvPr/>
        </p:nvPicPr>
        <p:blipFill>
          <a:blip r:embed="rId1"/>
          <a:stretch>
            <a:fillRect/>
          </a:stretch>
        </p:blipFill>
        <p:spPr>
          <a:xfrm>
            <a:off x="731520" y="566928"/>
            <a:ext cx="384048" cy="384048"/>
          </a:xfrm>
          <a:prstGeom prst="rect">
            <a:avLst/>
          </a:prstGeom>
        </p:spPr>
      </p:pic>
      <p:sp>
        <p:nvSpPr>
          <p:cNvPr id="7" name="al-level"/>
          <p:cNvSpPr txBox="1"/>
          <p:nvPr/>
        </p:nvSpPr>
        <p:spPr>
          <a:xfrm>
            <a:off x="1207008" y="603504"/>
            <a:ext cx="2743200" cy="329184"/>
          </a:xfrm>
          <a:prstGeom prst="rect">
            <a:avLst/>
          </a:prstGeom>
          <a:noFill/>
          <a:ln/>
        </p:spPr>
        <p:txBody>
          <a:bodyPr wrap="square" lIns="0" tIns="0" rIns="0" bIns="0" rtlCol="0" anchor="t"/>
          <a:lstStyle/>
          <a:p>
            <a:pPr indent="0" marL="0">
              <a:buNone/>
            </a:pPr>
            <a:r>
              <a:rPr lang="en-US" sz="1600" b="1" spc="300" kern="0" dirty="0">
                <a:solidFill>
                  <a:srgbClr val="FFFFFF"/>
                </a:solidFill>
                <a:latin typeface="Segoe UI" pitchFamily="34" charset="0"/>
                <a:ea typeface="Segoe UI" pitchFamily="34" charset="-122"/>
                <a:cs typeface="Segoe UI" pitchFamily="34" charset="-120"/>
              </a:rPr>
              <a:t>HIGH RISK</a:t>
            </a:r>
            <a:endParaRPr lang="en-US" sz="1600" dirty="0"/>
          </a:p>
        </p:txBody>
      </p:sp>
      <p:sp>
        <p:nvSpPr>
          <p:cNvPr id="8" name="al-auto"/>
          <p:cNvSpPr txBox="1"/>
          <p:nvPr/>
        </p:nvSpPr>
        <p:spPr>
          <a:xfrm>
            <a:off x="2926080" y="630936"/>
            <a:ext cx="2743200" cy="292608"/>
          </a:xfrm>
          <a:prstGeom prst="rect">
            <a:avLst/>
          </a:prstGeom>
          <a:noFill/>
          <a:ln/>
        </p:spPr>
        <p:txBody>
          <a:bodyPr wrap="square" lIns="0" tIns="0" rIns="0" bIns="0" rtlCol="0" anchor="t"/>
          <a:lstStyle/>
          <a:p>
            <a:pPr indent="0" marL="0">
              <a:buNone/>
            </a:pPr>
            <a:r>
              <a:rPr lang="en-US" sz="1300" dirty="0">
                <a:solidFill>
                  <a:srgbClr val="F6CFCB"/>
                </a:solidFill>
                <a:latin typeface="Segoe UI" pitchFamily="34" charset="0"/>
                <a:ea typeface="Segoe UI" pitchFamily="34" charset="-122"/>
                <a:cs typeface="Segoe UI" pitchFamily="34" charset="-120"/>
              </a:rPr>
              <a:t>Automatic check</a:t>
            </a:r>
            <a:endParaRPr lang="en-US" sz="1300" dirty="0"/>
          </a:p>
        </p:txBody>
      </p:sp>
      <p:sp>
        <p:nvSpPr>
          <p:cNvPr id="9" name="al-title"/>
          <p:cNvSpPr txBox="1"/>
          <p:nvPr/>
        </p:nvSpPr>
        <p:spPr>
          <a:xfrm>
            <a:off x="731520" y="1234440"/>
            <a:ext cx="6949440" cy="1737360"/>
          </a:xfrm>
          <a:prstGeom prst="rect">
            <a:avLst/>
          </a:prstGeom>
          <a:noFill/>
          <a:ln/>
        </p:spPr>
        <p:txBody>
          <a:bodyPr wrap="square" lIns="0" tIns="0" rIns="0" bIns="0" rtlCol="0" anchor="t"/>
          <a:lstStyle/>
          <a:p>
            <a:pPr indent="0" marL="0">
              <a:buNone/>
            </a:pPr>
            <a:r>
              <a:rPr lang="en-US" sz="3600" b="1" dirty="0">
                <a:solidFill>
                  <a:srgbClr val="FFFFFF"/>
                </a:solidFill>
                <a:latin typeface="Segoe UI" pitchFamily="34" charset="0"/>
                <a:ea typeface="Segoe UI" pitchFamily="34" charset="-122"/>
                <a:cs typeface="Segoe UI" pitchFamily="34" charset="-120"/>
              </a:rPr>
              <a:t>They asked you to share an OTP.</a:t>
            </a:r>
            <a:endParaRPr lang="en-US" sz="3600" dirty="0"/>
          </a:p>
        </p:txBody>
      </p:sp>
      <p:sp>
        <p:nvSpPr>
          <p:cNvPr id="10" name="al-truth-bg"/>
          <p:cNvSpPr/>
          <p:nvPr/>
        </p:nvSpPr>
        <p:spPr>
          <a:xfrm>
            <a:off x="731520" y="3154680"/>
            <a:ext cx="6766560" cy="1261872"/>
          </a:xfrm>
          <a:prstGeom prst="roundRect">
            <a:avLst>
              <a:gd name="adj" fmla="val 14493"/>
            </a:avLst>
          </a:prstGeom>
          <a:solidFill>
            <a:srgbClr val="FFFFFF">
              <a:alpha val="12000"/>
            </a:srgbClr>
          </a:solidFill>
          <a:ln w="12700">
            <a:solidFill>
              <a:srgbClr val="FFFFFF">
                <a:alpha val="0"/>
              </a:srgbClr>
            </a:solidFill>
            <a:prstDash val="solid"/>
          </a:ln>
        </p:spPr>
      </p:sp>
      <p:sp>
        <p:nvSpPr>
          <p:cNvPr id="11" name="al-truth-label"/>
          <p:cNvSpPr txBox="1"/>
          <p:nvPr/>
        </p:nvSpPr>
        <p:spPr>
          <a:xfrm>
            <a:off x="1005840" y="3310128"/>
            <a:ext cx="4572000" cy="274320"/>
          </a:xfrm>
          <a:prstGeom prst="rect">
            <a:avLst/>
          </a:prstGeom>
          <a:noFill/>
          <a:ln/>
        </p:spPr>
        <p:txBody>
          <a:bodyPr wrap="square" lIns="0" tIns="0" rIns="0" bIns="0" rtlCol="0" anchor="t"/>
          <a:lstStyle/>
          <a:p>
            <a:pPr indent="0" marL="0">
              <a:buNone/>
            </a:pPr>
            <a:r>
              <a:rPr lang="en-US" sz="1200" b="1" spc="300" kern="0" dirty="0">
                <a:solidFill>
                  <a:srgbClr val="F6CFCB"/>
                </a:solidFill>
                <a:latin typeface="Segoe UI" pitchFamily="34" charset="0"/>
                <a:ea typeface="Segoe UI" pitchFamily="34" charset="-122"/>
                <a:cs typeface="Segoe UI" pitchFamily="34" charset="-120"/>
              </a:rPr>
              <a:t>THE TRUTH</a:t>
            </a:r>
            <a:endParaRPr lang="en-US" sz="1200" dirty="0"/>
          </a:p>
        </p:txBody>
      </p:sp>
      <p:sp>
        <p:nvSpPr>
          <p:cNvPr id="12" name="al-truth"/>
          <p:cNvSpPr txBox="1"/>
          <p:nvPr/>
        </p:nvSpPr>
        <p:spPr>
          <a:xfrm>
            <a:off x="1005840" y="3611880"/>
            <a:ext cx="6309360" cy="731520"/>
          </a:xfrm>
          <a:prstGeom prst="rect">
            <a:avLst/>
          </a:prstGeom>
          <a:noFill/>
          <a:ln/>
        </p:spPr>
        <p:txBody>
          <a:bodyPr wrap="square" lIns="0" tIns="0" rIns="0" bIns="0" rtlCol="0" anchor="t"/>
          <a:lstStyle/>
          <a:p>
            <a:pPr indent="0" marL="0">
              <a:buNone/>
            </a:pPr>
            <a:r>
              <a:rPr lang="en-US" sz="1800" dirty="0">
                <a:solidFill>
                  <a:srgbClr val="FFFFFF"/>
                </a:solidFill>
                <a:latin typeface="Segoe UI" pitchFamily="34" charset="0"/>
                <a:ea typeface="Segoe UI" pitchFamily="34" charset="-122"/>
                <a:cs typeface="Segoe UI" pitchFamily="34" charset="-120"/>
              </a:rPr>
              <a:t>An OTP lets someone take money or your account. Real banks never ask for it on a call.</a:t>
            </a:r>
            <a:endParaRPr lang="en-US" sz="1800" dirty="0"/>
          </a:p>
        </p:txBody>
      </p:sp>
      <p:sp>
        <p:nvSpPr>
          <p:cNvPr id="13" name="al-next-label"/>
          <p:cNvSpPr txBox="1"/>
          <p:nvPr/>
        </p:nvSpPr>
        <p:spPr>
          <a:xfrm>
            <a:off x="731520" y="4663440"/>
            <a:ext cx="4572000" cy="274320"/>
          </a:xfrm>
          <a:prstGeom prst="rect">
            <a:avLst/>
          </a:prstGeom>
          <a:noFill/>
          <a:ln/>
        </p:spPr>
        <p:txBody>
          <a:bodyPr wrap="square" lIns="0" tIns="0" rIns="0" bIns="0" rtlCol="0" anchor="t"/>
          <a:lstStyle/>
          <a:p>
            <a:pPr indent="0" marL="0">
              <a:buNone/>
            </a:pPr>
            <a:r>
              <a:rPr lang="en-US" sz="1200" b="1" spc="300" kern="0" dirty="0">
                <a:solidFill>
                  <a:srgbClr val="F6CFCB"/>
                </a:solidFill>
                <a:latin typeface="Segoe UI" pitchFamily="34" charset="0"/>
                <a:ea typeface="Segoe UI" pitchFamily="34" charset="-122"/>
                <a:cs typeface="Segoe UI" pitchFamily="34" charset="-120"/>
              </a:rPr>
              <a:t>DO THIS NOW</a:t>
            </a:r>
            <a:endParaRPr lang="en-US" sz="1200" dirty="0"/>
          </a:p>
        </p:txBody>
      </p:sp>
      <p:sp>
        <p:nvSpPr>
          <p:cNvPr id="14" name="al-next"/>
          <p:cNvSpPr txBox="1"/>
          <p:nvPr/>
        </p:nvSpPr>
        <p:spPr>
          <a:xfrm>
            <a:off x="731520" y="4956048"/>
            <a:ext cx="7223760" cy="640080"/>
          </a:xfrm>
          <a:prstGeom prst="rect">
            <a:avLst/>
          </a:prstGeom>
          <a:noFill/>
          <a:ln/>
        </p:spPr>
        <p:txBody>
          <a:bodyPr wrap="square" lIns="0" tIns="0" rIns="0" bIns="0" rtlCol="0" anchor="t"/>
          <a:lstStyle/>
          <a:p>
            <a:pPr indent="0" marL="0">
              <a:buNone/>
            </a:pPr>
            <a:r>
              <a:rPr lang="en-US" sz="2000" b="1" dirty="0">
                <a:solidFill>
                  <a:srgbClr val="FFFFFF"/>
                </a:solidFill>
                <a:latin typeface="Segoe UI" pitchFamily="34" charset="0"/>
                <a:ea typeface="Segoe UI" pitchFamily="34" charset="-122"/>
                <a:cs typeface="Segoe UI" pitchFamily="34" charset="-120"/>
              </a:rPr>
              <a:t>End the call. If it mattered, call the number on your card.</a:t>
            </a:r>
            <a:endParaRPr lang="en-US" sz="2000" dirty="0"/>
          </a:p>
        </p:txBody>
      </p:sp>
      <p:pic>
        <p:nvPicPr>
          <p:cNvPr id="15" name="al-voice-icon" descr="preencoded.png">    </p:cNvPr>
          <p:cNvPicPr>
            <a:picLocks noChangeAspect="1"/>
          </p:cNvPicPr>
          <p:nvPr/>
        </p:nvPicPr>
        <p:blipFill>
          <a:blip r:embed="rId2"/>
          <a:stretch>
            <a:fillRect/>
          </a:stretch>
        </p:blipFill>
        <p:spPr>
          <a:xfrm>
            <a:off x="731520" y="5943600"/>
            <a:ext cx="274320" cy="274320"/>
          </a:xfrm>
          <a:prstGeom prst="rect">
            <a:avLst/>
          </a:prstGeom>
        </p:spPr>
      </p:pic>
      <p:sp>
        <p:nvSpPr>
          <p:cNvPr id="16" name="al-voice"/>
          <p:cNvSpPr txBox="1"/>
          <p:nvPr/>
        </p:nvSpPr>
        <p:spPr>
          <a:xfrm>
            <a:off x="1097280" y="5961888"/>
            <a:ext cx="6400800" cy="274320"/>
          </a:xfrm>
          <a:prstGeom prst="rect">
            <a:avLst/>
          </a:prstGeom>
          <a:noFill/>
          <a:ln/>
        </p:spPr>
        <p:txBody>
          <a:bodyPr wrap="square" lIns="0" tIns="0" rIns="0" bIns="0" rtlCol="0" anchor="t"/>
          <a:lstStyle/>
          <a:p>
            <a:pPr indent="0" marL="0">
              <a:buNone/>
            </a:pPr>
            <a:r>
              <a:rPr lang="en-US" sz="1400" dirty="0">
                <a:solidFill>
                  <a:srgbClr val="F6CFCB"/>
                </a:solidFill>
                <a:latin typeface="Segoe UI" pitchFamily="34" charset="0"/>
                <a:ea typeface="Segoe UI" pitchFamily="34" charset="-122"/>
                <a:cs typeface="Segoe UI" pitchFamily="34" charset="-120"/>
              </a:rPr>
              <a:t>A spoken warning plays in your ear. The caller hears nothing.</a:t>
            </a:r>
            <a:endParaRPr lang="en-US" sz="1400" dirty="0"/>
          </a:p>
        </p:txBody>
      </p:sp>
      <p:sp>
        <p:nvSpPr>
          <p:cNvPr id="17" name="al-glyph-bg"/>
          <p:cNvSpPr/>
          <p:nvPr/>
        </p:nvSpPr>
        <p:spPr>
          <a:xfrm>
            <a:off x="8778240" y="822960"/>
            <a:ext cx="2103120" cy="2103120"/>
          </a:xfrm>
          <a:prstGeom prst="roundRect">
            <a:avLst>
              <a:gd name="adj" fmla="val 21739"/>
            </a:avLst>
          </a:prstGeom>
          <a:solidFill>
            <a:srgbClr val="FFFFFF">
              <a:alpha val="0"/>
            </a:srgbClr>
          </a:solidFill>
          <a:ln w="38100">
            <a:solidFill>
              <a:srgbClr val="FFFFFF"/>
            </a:solidFill>
            <a:prstDash val="solid"/>
          </a:ln>
        </p:spPr>
      </p:sp>
      <p:pic>
        <p:nvPicPr>
          <p:cNvPr id="18" name="al-glyph" descr="preencoded.png">    </p:cNvPr>
          <p:cNvPicPr>
            <a:picLocks noChangeAspect="1"/>
          </p:cNvPicPr>
          <p:nvPr/>
        </p:nvPicPr>
        <p:blipFill>
          <a:blip r:embed="rId3"/>
          <a:stretch>
            <a:fillRect/>
          </a:stretch>
        </p:blipFill>
        <p:spPr>
          <a:xfrm>
            <a:off x="9189720" y="1234440"/>
            <a:ext cx="1280160" cy="1280160"/>
          </a:xfrm>
          <a:prstGeom prst="rect">
            <a:avLst/>
          </a:prstGeom>
        </p:spPr>
      </p:pic>
      <p:sp>
        <p:nvSpPr>
          <p:cNvPr id="19" name="al-cross"/>
          <p:cNvSpPr/>
          <p:nvPr/>
        </p:nvSpPr>
        <p:spPr>
          <a:xfrm flipH="1">
            <a:off x="9098280" y="1143000"/>
            <a:ext cx="1463040" cy="1463040"/>
          </a:xfrm>
          <a:prstGeom prst="line">
            <a:avLst/>
          </a:prstGeom>
          <a:noFill/>
          <a:ln w="63500">
            <a:solidFill>
              <a:srgbClr val="FFFFFF"/>
            </a:solidFill>
            <a:prstDash val="solid"/>
          </a:ln>
        </p:spPr>
      </p:sp>
      <p:sp>
        <p:nvSpPr>
          <p:cNvPr id="20" name="al-end"/>
          <p:cNvSpPr txBox="1"/>
          <p:nvPr/>
        </p:nvSpPr>
        <p:spPr>
          <a:xfrm>
            <a:off x="8183880" y="3931920"/>
            <a:ext cx="3291840" cy="868680"/>
          </a:xfrm>
          <a:prstGeom prst="roundRect">
            <a:avLst>
              <a:gd name="adj" fmla="val 25263"/>
            </a:avLst>
          </a:prstGeom>
          <a:solidFill>
            <a:srgbClr val="FFFFFF"/>
          </a:solidFill>
          <a:ln/>
        </p:spPr>
        <p:txBody>
          <a:bodyPr wrap="square" lIns="0" tIns="0" rIns="0" bIns="0" rtlCol="0" anchor="ctr"/>
          <a:lstStyle/>
          <a:p>
            <a:pPr algn="ctr" indent="0" marL="0">
              <a:buNone/>
            </a:pPr>
            <a:r>
              <a:rPr lang="en-US" sz="2200" b="1" dirty="0">
                <a:solidFill>
                  <a:srgbClr val="8F1D16"/>
                </a:solidFill>
                <a:latin typeface="Segoe UI" pitchFamily="34" charset="0"/>
                <a:ea typeface="Segoe UI" pitchFamily="34" charset="-122"/>
                <a:cs typeface="Segoe UI" pitchFamily="34" charset="-120"/>
              </a:rPr>
              <a:t>End call</a:t>
            </a:r>
            <a:endParaRPr lang="en-US" sz="2200" dirty="0"/>
          </a:p>
        </p:txBody>
      </p:sp>
      <p:sp>
        <p:nvSpPr>
          <p:cNvPr id="21" name="al-hold"/>
          <p:cNvSpPr txBox="1"/>
          <p:nvPr/>
        </p:nvSpPr>
        <p:spPr>
          <a:xfrm>
            <a:off x="8183880" y="4983480"/>
            <a:ext cx="3291840" cy="731520"/>
          </a:xfrm>
          <a:prstGeom prst="roundRect">
            <a:avLst>
              <a:gd name="adj" fmla="val 30000"/>
            </a:avLst>
          </a:prstGeom>
          <a:solidFill>
            <a:srgbClr val="8F1D16"/>
          </a:solidFill>
          <a:ln w="25400">
            <a:solidFill>
              <a:srgbClr val="FFFFFF"/>
            </a:solidFill>
          </a:ln>
        </p:spPr>
        <p:txBody>
          <a:bodyPr wrap="square" lIns="0" tIns="0" rIns="0" bIns="0" rtlCol="0" anchor="ctr"/>
          <a:lstStyle/>
          <a:p>
            <a:pPr algn="ctr" indent="0" marL="0">
              <a:buNone/>
            </a:pPr>
            <a:r>
              <a:rPr lang="en-US" sz="1700" b="1" dirty="0">
                <a:solidFill>
                  <a:srgbClr val="FFFFFF"/>
                </a:solidFill>
                <a:latin typeface="Segoe UI" pitchFamily="34" charset="0"/>
                <a:ea typeface="Segoe UI" pitchFamily="34" charset="-122"/>
                <a:cs typeface="Segoe UI" pitchFamily="34" charset="-120"/>
              </a:rPr>
              <a:t>Hold to keep talking</a:t>
            </a:r>
            <a:endParaRPr lang="en-US" sz="1700" dirty="0"/>
          </a:p>
        </p:txBody>
      </p:sp>
      <p:sp>
        <p:nvSpPr>
          <p:cNvPr id="22" name="al-hold-note"/>
          <p:cNvSpPr txBox="1"/>
          <p:nvPr/>
        </p:nvSpPr>
        <p:spPr>
          <a:xfrm>
            <a:off x="8183880" y="5852160"/>
            <a:ext cx="3291840" cy="457200"/>
          </a:xfrm>
          <a:prstGeom prst="rect">
            <a:avLst/>
          </a:prstGeom>
          <a:noFill/>
          <a:ln/>
        </p:spPr>
        <p:txBody>
          <a:bodyPr wrap="square" lIns="0" tIns="0" rIns="0" bIns="0" rtlCol="0" anchor="t"/>
          <a:lstStyle/>
          <a:p>
            <a:pPr algn="ctr" indent="0" marL="0">
              <a:buNone/>
            </a:pPr>
            <a:r>
              <a:rPr lang="en-US" sz="1100" dirty="0">
                <a:solidFill>
                  <a:srgbClr val="F6CFCB"/>
                </a:solidFill>
                <a:latin typeface="Segoe UI" pitchFamily="34" charset="0"/>
                <a:ea typeface="Segoe UI" pitchFamily="34" charset="-122"/>
                <a:cs typeface="Segoe UI" pitchFamily="34" charset="-120"/>
              </a:rPr>
              <a:t>End is one tap. Keeping on takes a deliberate hold.</a:t>
            </a:r>
            <a:endParaRPr lang="en-US" sz="1100" dirty="0"/>
          </a:p>
        </p:txBody>
      </p:sp>
      <p:pic>
        <p:nvPicPr>
          <p:cNvPr id="23" name="hot-End call and pick another" descr="End call and pick another">
            <a:hlinkClick r:id="rId5" tooltip="End call and pick another" action="ppaction://hlinksldjump"/>
          </p:cNvPr>
          <p:cNvPicPr>
            <a:picLocks noChangeAspect="1"/>
          </p:cNvPicPr>
          <p:nvPr/>
        </p:nvPicPr>
        <p:blipFill>
          <a:blip r:embed="rId4"/>
          <a:stretch>
            <a:fillRect/>
          </a:stretch>
        </p:blipFill>
        <p:spPr>
          <a:xfrm>
            <a:off x="8183880" y="3931920"/>
            <a:ext cx="3291840" cy="86868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phone"/>
          <p:cNvSpPr/>
          <p:nvPr/>
        </p:nvSpPr>
        <p:spPr>
          <a:xfrm>
            <a:off x="8001000" y="411480"/>
            <a:ext cx="3017520" cy="6035040"/>
          </a:xfrm>
          <a:prstGeom prst="roundRect">
            <a:avLst>
              <a:gd name="adj" fmla="val 14545"/>
            </a:avLst>
          </a:prstGeom>
          <a:solidFill>
            <a:srgbClr val="0A131D"/>
          </a:solidFill>
          <a:ln w="19050">
            <a:solidFill>
              <a:srgbClr val="2E4257"/>
            </a:solidFill>
            <a:prstDash val="solid"/>
          </a:ln>
        </p:spPr>
      </p:sp>
      <p:sp>
        <p:nvSpPr>
          <p:cNvPr id="3" name="!!screen"/>
          <p:cNvSpPr/>
          <p:nvPr/>
        </p:nvSpPr>
        <p:spPr>
          <a:xfrm>
            <a:off x="8092440" y="502920"/>
            <a:ext cx="2834640" cy="5852160"/>
          </a:xfrm>
          <a:prstGeom prst="roundRect">
            <a:avLst>
              <a:gd name="adj" fmla="val 12903"/>
            </a:avLst>
          </a:prstGeom>
          <a:solidFill>
            <a:srgbClr val="0E1A27"/>
          </a:solidFill>
          <a:ln w="12700">
            <a:solidFill>
              <a:srgbClr val="0E1A27"/>
            </a:solidFill>
            <a:prstDash val="solid"/>
          </a:ln>
        </p:spPr>
      </p:sp>
      <p:sp>
        <p:nvSpPr>
          <p:cNvPr id="4" name="!!p-top"/>
          <p:cNvSpPr txBox="1"/>
          <p:nvPr/>
        </p:nvSpPr>
        <p:spPr>
          <a:xfrm>
            <a:off x="8183880" y="713232"/>
            <a:ext cx="2651760" cy="310896"/>
          </a:xfrm>
          <a:prstGeom prst="rect">
            <a:avLst/>
          </a:prstGeom>
          <a:noFill/>
          <a:ln/>
        </p:spPr>
        <p:txBody>
          <a:bodyPr wrap="square" lIns="0" tIns="0" rIns="0" bIns="0" rtlCol="0" anchor="t"/>
          <a:lstStyle/>
          <a:p>
            <a:pPr algn="ctr" indent="0" marL="0">
              <a:buNone/>
            </a:pPr>
            <a:r>
              <a:rPr lang="en-US" sz="1400" b="1" dirty="0">
                <a:solidFill>
                  <a:srgbClr val="FFFFFF"/>
                </a:solidFill>
                <a:latin typeface="Segoe UI" pitchFamily="34" charset="0"/>
                <a:ea typeface="Segoe UI" pitchFamily="34" charset="-122"/>
                <a:cs typeface="Segoe UI" pitchFamily="34" charset="-120"/>
              </a:rPr>
              <a:t>Unknown number</a:t>
            </a:r>
            <a:endParaRPr lang="en-US" sz="1400" dirty="0"/>
          </a:p>
        </p:txBody>
      </p:sp>
      <p:sp>
        <p:nvSpPr>
          <p:cNvPr id="5" name="!!p-clock"/>
          <p:cNvSpPr txBox="1"/>
          <p:nvPr/>
        </p:nvSpPr>
        <p:spPr>
          <a:xfrm>
            <a:off x="8183880" y="1005840"/>
            <a:ext cx="2651760" cy="237744"/>
          </a:xfrm>
          <a:prstGeom prst="rect">
            <a:avLst/>
          </a:prstGeom>
          <a:noFill/>
          <a:ln/>
        </p:spPr>
        <p:txBody>
          <a:bodyPr wrap="square" lIns="0" tIns="0" rIns="0" bIns="0" rtlCol="0" anchor="t"/>
          <a:lstStyle/>
          <a:p>
            <a:pPr algn="ctr" indent="0" marL="0">
              <a:buNone/>
            </a:pPr>
            <a:r>
              <a:rPr lang="en-US" sz="1000" dirty="0">
                <a:solidFill>
                  <a:srgbClr val="A9B6C3"/>
                </a:solidFill>
                <a:latin typeface="Segoe UI" pitchFamily="34" charset="0"/>
                <a:ea typeface="Segoe UI" pitchFamily="34" charset="-122"/>
                <a:cs typeface="Segoe UI" pitchFamily="34" charset="-120"/>
              </a:rPr>
              <a:t>1:12</a:t>
            </a:r>
            <a:endParaRPr lang="en-US" sz="1000" dirty="0"/>
          </a:p>
        </p:txBody>
      </p:sp>
      <p:sp>
        <p:nvSpPr>
          <p:cNvPr id="6" name="!!halo-r3"/>
          <p:cNvSpPr/>
          <p:nvPr/>
        </p:nvSpPr>
        <p:spPr>
          <a:xfrm>
            <a:off x="8378190" y="1200150"/>
            <a:ext cx="2263140" cy="2263140"/>
          </a:xfrm>
          <a:prstGeom prst="ellipse">
            <a:avLst/>
          </a:prstGeom>
          <a:solidFill>
            <a:srgbClr val="7DB8E8">
              <a:alpha val="0"/>
            </a:srgbClr>
          </a:solidFill>
          <a:ln w="25146">
            <a:solidFill>
              <a:srgbClr val="7DB8E8">
                <a:alpha val="20000"/>
              </a:srgbClr>
            </a:solidFill>
            <a:prstDash val="solid"/>
          </a:ln>
        </p:spPr>
      </p:sp>
      <p:sp>
        <p:nvSpPr>
          <p:cNvPr id="7" name="!!halo-r2"/>
          <p:cNvSpPr/>
          <p:nvPr/>
        </p:nvSpPr>
        <p:spPr>
          <a:xfrm>
            <a:off x="8645652" y="1467612"/>
            <a:ext cx="1728216" cy="1728216"/>
          </a:xfrm>
          <a:prstGeom prst="ellipse">
            <a:avLst/>
          </a:prstGeom>
          <a:solidFill>
            <a:srgbClr val="7DB8E8">
              <a:alpha val="0"/>
            </a:srgbClr>
          </a:solidFill>
          <a:ln w="25146">
            <a:solidFill>
              <a:srgbClr val="7DB8E8">
                <a:alpha val="38000"/>
              </a:srgbClr>
            </a:solidFill>
            <a:prstDash val="solid"/>
          </a:ln>
        </p:spPr>
      </p:sp>
      <p:sp>
        <p:nvSpPr>
          <p:cNvPr id="8" name="!!halo-r1"/>
          <p:cNvSpPr/>
          <p:nvPr/>
        </p:nvSpPr>
        <p:spPr>
          <a:xfrm>
            <a:off x="8892540" y="1714500"/>
            <a:ext cx="1234440" cy="1234440"/>
          </a:xfrm>
          <a:prstGeom prst="ellipse">
            <a:avLst/>
          </a:prstGeom>
          <a:solidFill>
            <a:srgbClr val="7DB8E8">
              <a:alpha val="0"/>
            </a:srgbClr>
          </a:solidFill>
          <a:ln w="25146">
            <a:solidFill>
              <a:srgbClr val="7DB8E8">
                <a:alpha val="62000"/>
              </a:srgbClr>
            </a:solidFill>
            <a:prstDash val="solid"/>
          </a:ln>
        </p:spPr>
      </p:sp>
      <p:sp>
        <p:nvSpPr>
          <p:cNvPr id="9" name="!!halo-core"/>
          <p:cNvSpPr/>
          <p:nvPr/>
        </p:nvSpPr>
        <p:spPr>
          <a:xfrm>
            <a:off x="9098280" y="1920240"/>
            <a:ext cx="822960" cy="822960"/>
          </a:xfrm>
          <a:prstGeom prst="ellipse">
            <a:avLst/>
          </a:prstGeom>
          <a:solidFill>
            <a:srgbClr val="1B3550"/>
          </a:solidFill>
          <a:ln w="12700">
            <a:solidFill>
              <a:srgbClr val="1B3550"/>
            </a:solidFill>
            <a:prstDash val="solid"/>
          </a:ln>
        </p:spPr>
      </p:sp>
      <p:pic>
        <p:nvPicPr>
          <p:cNvPr id="10" name="!!halo-icon" descr="Scam check">    </p:cNvPr>
          <p:cNvPicPr>
            <a:picLocks noChangeAspect="1"/>
          </p:cNvPicPr>
          <p:nvPr/>
        </p:nvPicPr>
        <p:blipFill>
          <a:blip r:embed="rId1"/>
          <a:stretch>
            <a:fillRect/>
          </a:stretch>
        </p:blipFill>
        <p:spPr>
          <a:xfrm>
            <a:off x="9295790" y="2117750"/>
            <a:ext cx="427939" cy="427939"/>
          </a:xfrm>
          <a:prstGeom prst="rect">
            <a:avLst/>
          </a:prstGeom>
        </p:spPr>
      </p:pic>
      <p:sp>
        <p:nvSpPr>
          <p:cNvPr id="11" name="!!p-card"/>
          <p:cNvSpPr/>
          <p:nvPr/>
        </p:nvSpPr>
        <p:spPr>
          <a:xfrm>
            <a:off x="8229600" y="3611880"/>
            <a:ext cx="2560320" cy="1325880"/>
          </a:xfrm>
          <a:prstGeom prst="roundRect">
            <a:avLst>
              <a:gd name="adj" fmla="val 11034"/>
            </a:avLst>
          </a:prstGeom>
          <a:solidFill>
            <a:srgbClr val="16283A"/>
          </a:solidFill>
          <a:ln w="15875">
            <a:solidFill>
              <a:srgbClr val="2F4A63"/>
            </a:solidFill>
            <a:prstDash val="solid"/>
          </a:ln>
        </p:spPr>
      </p:sp>
      <p:sp>
        <p:nvSpPr>
          <p:cNvPr id="12" name="!!p-card-title"/>
          <p:cNvSpPr txBox="1"/>
          <p:nvPr/>
        </p:nvSpPr>
        <p:spPr>
          <a:xfrm>
            <a:off x="8385048" y="3721608"/>
            <a:ext cx="2249424" cy="274320"/>
          </a:xfrm>
          <a:prstGeom prst="rect">
            <a:avLst/>
          </a:prstGeom>
          <a:noFill/>
          <a:ln/>
        </p:spPr>
        <p:txBody>
          <a:bodyPr wrap="square" lIns="0" tIns="0" rIns="0" bIns="0" rtlCol="0" anchor="t"/>
          <a:lstStyle/>
          <a:p>
            <a:pPr indent="0" marL="0">
              <a:buNone/>
            </a:pPr>
            <a:r>
              <a:rPr lang="en-US" sz="1200" b="1" dirty="0">
                <a:solidFill>
                  <a:srgbClr val="E8F1F9"/>
                </a:solidFill>
                <a:latin typeface="Segoe UI" pitchFamily="34" charset="0"/>
                <a:ea typeface="Segoe UI" pitchFamily="34" charset="-122"/>
                <a:cs typeface="Segoe UI" pitchFamily="34" charset="-120"/>
              </a:rPr>
              <a:t>Listening with you</a:t>
            </a:r>
            <a:endParaRPr lang="en-US" sz="1200" dirty="0"/>
          </a:p>
        </p:txBody>
      </p:sp>
      <p:sp>
        <p:nvSpPr>
          <p:cNvPr id="13" name="!!p-card-sub"/>
          <p:cNvSpPr txBox="1"/>
          <p:nvPr/>
        </p:nvSpPr>
        <p:spPr>
          <a:xfrm>
            <a:off x="8385048" y="4023360"/>
            <a:ext cx="2249424" cy="420624"/>
          </a:xfrm>
          <a:prstGeom prst="rect">
            <a:avLst/>
          </a:prstGeom>
          <a:noFill/>
          <a:ln/>
        </p:spPr>
        <p:txBody>
          <a:bodyPr wrap="square" lIns="0" tIns="0" rIns="0" bIns="0" rtlCol="0" anchor="t"/>
          <a:lstStyle/>
          <a:p>
            <a:pPr indent="0" marL="0">
              <a:buNone/>
            </a:pPr>
            <a:r>
              <a:rPr lang="en-US" sz="950" dirty="0">
                <a:solidFill>
                  <a:srgbClr val="E8F1F9"/>
                </a:solidFill>
                <a:latin typeface="Segoe UI" pitchFamily="34" charset="0"/>
                <a:ea typeface="Segoe UI" pitchFamily="34" charset="-122"/>
                <a:cs typeface="Segoe UI" pitchFamily="34" charset="-120"/>
              </a:rPr>
              <a:t>We'll warn you if they ask for a QR scan, UPI PIN or OTP.</a:t>
            </a:r>
            <a:endParaRPr lang="en-US" sz="950" dirty="0"/>
          </a:p>
        </p:txBody>
      </p:sp>
      <p:sp>
        <p:nvSpPr>
          <p:cNvPr id="14" name="!!p-btn-a"/>
          <p:cNvSpPr/>
          <p:nvPr/>
        </p:nvSpPr>
        <p:spPr>
          <a:xfrm>
            <a:off x="8403336" y="5202936"/>
            <a:ext cx="566928" cy="566928"/>
          </a:xfrm>
          <a:prstGeom prst="ellipse">
            <a:avLst/>
          </a:prstGeom>
          <a:solidFill>
            <a:srgbClr val="FFFFFF">
              <a:alpha val="8000"/>
            </a:srgbClr>
          </a:solidFill>
          <a:ln w="12700">
            <a:solidFill>
              <a:srgbClr val="3A4E63"/>
            </a:solidFill>
            <a:prstDash val="solid"/>
          </a:ln>
        </p:spPr>
      </p:sp>
      <p:pic>
        <p:nvPicPr>
          <p:cNvPr id="15" name="!!p-btn-a-icon" descr="Mute">    </p:cNvPr>
          <p:cNvPicPr>
            <a:picLocks noChangeAspect="1"/>
          </p:cNvPicPr>
          <p:nvPr/>
        </p:nvPicPr>
        <p:blipFill>
          <a:blip r:embed="rId2"/>
          <a:stretch>
            <a:fillRect/>
          </a:stretch>
        </p:blipFill>
        <p:spPr>
          <a:xfrm>
            <a:off x="8559241" y="5358841"/>
            <a:ext cx="255118" cy="255118"/>
          </a:xfrm>
          <a:prstGeom prst="rect">
            <a:avLst/>
          </a:prstGeom>
        </p:spPr>
      </p:pic>
      <p:sp>
        <p:nvSpPr>
          <p:cNvPr id="16" name="!!p-btn-a-label"/>
          <p:cNvSpPr txBox="1"/>
          <p:nvPr/>
        </p:nvSpPr>
        <p:spPr>
          <a:xfrm>
            <a:off x="8138160" y="5824728"/>
            <a:ext cx="1097280" cy="228600"/>
          </a:xfrm>
          <a:prstGeom prst="rect">
            <a:avLst/>
          </a:prstGeom>
          <a:noFill/>
          <a:ln/>
        </p:spPr>
        <p:txBody>
          <a:bodyPr wrap="square" lIns="0" tIns="0" rIns="0" bIns="0" rtlCol="0" anchor="t"/>
          <a:lstStyle/>
          <a:p>
            <a:pPr algn="ctr" indent="0" marL="0">
              <a:buNone/>
            </a:pPr>
            <a:r>
              <a:rPr lang="en-US" sz="1000" dirty="0">
                <a:solidFill>
                  <a:srgbClr val="A9B6C3"/>
                </a:solidFill>
                <a:latin typeface="Segoe UI" pitchFamily="34" charset="0"/>
                <a:ea typeface="Segoe UI" pitchFamily="34" charset="-122"/>
                <a:cs typeface="Segoe UI" pitchFamily="34" charset="-120"/>
              </a:rPr>
              <a:t>Mute</a:t>
            </a:r>
            <a:endParaRPr lang="en-US" sz="1000" dirty="0"/>
          </a:p>
        </p:txBody>
      </p:sp>
      <p:sp>
        <p:nvSpPr>
          <p:cNvPr id="17" name="!!p-btn-b"/>
          <p:cNvSpPr/>
          <p:nvPr/>
        </p:nvSpPr>
        <p:spPr>
          <a:xfrm>
            <a:off x="9226296" y="5202936"/>
            <a:ext cx="566928" cy="566928"/>
          </a:xfrm>
          <a:prstGeom prst="ellipse">
            <a:avLst/>
          </a:prstGeom>
          <a:solidFill>
            <a:srgbClr val="FFFFFF">
              <a:alpha val="8000"/>
            </a:srgbClr>
          </a:solidFill>
          <a:ln w="12700">
            <a:solidFill>
              <a:srgbClr val="3A4E63"/>
            </a:solidFill>
            <a:prstDash val="solid"/>
          </a:ln>
        </p:spPr>
      </p:sp>
      <p:pic>
        <p:nvPicPr>
          <p:cNvPr id="18" name="!!p-btn-b-icon" descr="Speaker">    </p:cNvPr>
          <p:cNvPicPr>
            <a:picLocks noChangeAspect="1"/>
          </p:cNvPicPr>
          <p:nvPr/>
        </p:nvPicPr>
        <p:blipFill>
          <a:blip r:embed="rId3"/>
          <a:stretch>
            <a:fillRect/>
          </a:stretch>
        </p:blipFill>
        <p:spPr>
          <a:xfrm>
            <a:off x="9382201" y="5358841"/>
            <a:ext cx="255118" cy="255118"/>
          </a:xfrm>
          <a:prstGeom prst="rect">
            <a:avLst/>
          </a:prstGeom>
        </p:spPr>
      </p:pic>
      <p:sp>
        <p:nvSpPr>
          <p:cNvPr id="19" name="!!p-btn-b-label"/>
          <p:cNvSpPr txBox="1"/>
          <p:nvPr/>
        </p:nvSpPr>
        <p:spPr>
          <a:xfrm>
            <a:off x="8961120" y="5824728"/>
            <a:ext cx="1097280" cy="228600"/>
          </a:xfrm>
          <a:prstGeom prst="rect">
            <a:avLst/>
          </a:prstGeom>
          <a:noFill/>
          <a:ln/>
        </p:spPr>
        <p:txBody>
          <a:bodyPr wrap="square" lIns="0" tIns="0" rIns="0" bIns="0" rtlCol="0" anchor="t"/>
          <a:lstStyle/>
          <a:p>
            <a:pPr algn="ctr" indent="0" marL="0">
              <a:buNone/>
            </a:pPr>
            <a:r>
              <a:rPr lang="en-US" sz="1000" dirty="0">
                <a:solidFill>
                  <a:srgbClr val="A9B6C3"/>
                </a:solidFill>
                <a:latin typeface="Segoe UI" pitchFamily="34" charset="0"/>
                <a:ea typeface="Segoe UI" pitchFamily="34" charset="-122"/>
                <a:cs typeface="Segoe UI" pitchFamily="34" charset="-120"/>
              </a:rPr>
              <a:t>Speaker</a:t>
            </a:r>
            <a:endParaRPr lang="en-US" sz="1000" dirty="0"/>
          </a:p>
        </p:txBody>
      </p:sp>
      <p:sp>
        <p:nvSpPr>
          <p:cNvPr id="20" name="!!p-btn-c"/>
          <p:cNvSpPr/>
          <p:nvPr/>
        </p:nvSpPr>
        <p:spPr>
          <a:xfrm>
            <a:off x="10049256" y="5202936"/>
            <a:ext cx="566928" cy="566928"/>
          </a:xfrm>
          <a:prstGeom prst="ellipse">
            <a:avLst/>
          </a:prstGeom>
          <a:solidFill>
            <a:srgbClr val="D92D20"/>
          </a:solidFill>
          <a:ln w="12700">
            <a:solidFill>
              <a:srgbClr val="D92D20"/>
            </a:solidFill>
            <a:prstDash val="solid"/>
          </a:ln>
        </p:spPr>
      </p:sp>
      <p:pic>
        <p:nvPicPr>
          <p:cNvPr id="21" name="!!p-btn-c-icon" descr="End">    </p:cNvPr>
          <p:cNvPicPr>
            <a:picLocks noChangeAspect="1"/>
          </p:cNvPicPr>
          <p:nvPr/>
        </p:nvPicPr>
        <p:blipFill>
          <a:blip r:embed="rId4"/>
          <a:stretch>
            <a:fillRect/>
          </a:stretch>
        </p:blipFill>
        <p:spPr>
          <a:xfrm>
            <a:off x="10205161" y="5358841"/>
            <a:ext cx="255118" cy="255118"/>
          </a:xfrm>
          <a:prstGeom prst="rect">
            <a:avLst/>
          </a:prstGeom>
        </p:spPr>
      </p:pic>
      <p:sp>
        <p:nvSpPr>
          <p:cNvPr id="22" name="!!p-btn-c-label"/>
          <p:cNvSpPr txBox="1"/>
          <p:nvPr/>
        </p:nvSpPr>
        <p:spPr>
          <a:xfrm>
            <a:off x="9784080" y="5824728"/>
            <a:ext cx="1097280" cy="228600"/>
          </a:xfrm>
          <a:prstGeom prst="rect">
            <a:avLst/>
          </a:prstGeom>
          <a:noFill/>
          <a:ln/>
        </p:spPr>
        <p:txBody>
          <a:bodyPr wrap="square" lIns="0" tIns="0" rIns="0" bIns="0" rtlCol="0" anchor="t"/>
          <a:lstStyle/>
          <a:p>
            <a:pPr algn="ctr" indent="0" marL="0">
              <a:buNone/>
            </a:pPr>
            <a:r>
              <a:rPr lang="en-US" sz="1000" dirty="0">
                <a:solidFill>
                  <a:srgbClr val="A9B6C3"/>
                </a:solidFill>
                <a:latin typeface="Segoe UI" pitchFamily="34" charset="0"/>
                <a:ea typeface="Segoe UI" pitchFamily="34" charset="-122"/>
                <a:cs typeface="Segoe UI" pitchFamily="34" charset="-120"/>
              </a:rPr>
              <a:t>End</a:t>
            </a:r>
            <a:endParaRPr lang="en-US" sz="1000" dirty="0"/>
          </a:p>
        </p:txBody>
      </p:sp>
      <p:sp>
        <p:nvSpPr>
          <p:cNvPr id="23" name="!!step-num"/>
          <p:cNvSpPr txBox="1"/>
          <p:nvPr/>
        </p:nvSpPr>
        <p:spPr>
          <a:xfrm>
            <a:off x="731520" y="1417320"/>
            <a:ext cx="6400800" cy="365760"/>
          </a:xfrm>
          <a:prstGeom prst="rect">
            <a:avLst/>
          </a:prstGeom>
          <a:noFill/>
          <a:ln/>
        </p:spPr>
        <p:txBody>
          <a:bodyPr wrap="square" lIns="0" tIns="0" rIns="0" bIns="0" rtlCol="0" anchor="t"/>
          <a:lstStyle/>
          <a:p>
            <a:pPr indent="0" marL="0">
              <a:buNone/>
            </a:pPr>
            <a:r>
              <a:rPr lang="en-US" sz="1400" b="1" spc="200" kern="0" dirty="0">
                <a:solidFill>
                  <a:srgbClr val="7DB8E8"/>
                </a:solidFill>
                <a:latin typeface="Segoe UI" pitchFamily="34" charset="0"/>
                <a:ea typeface="Segoe UI" pitchFamily="34" charset="-122"/>
                <a:cs typeface="Segoe UI" pitchFamily="34" charset="-120"/>
              </a:rPr>
              <a:t>AN ORDINARY CALL</a:t>
            </a:r>
            <a:endParaRPr lang="en-US" sz="1400" dirty="0"/>
          </a:p>
        </p:txBody>
      </p:sp>
      <p:sp>
        <p:nvSpPr>
          <p:cNvPr id="24" name="!!step-title"/>
          <p:cNvSpPr txBox="1"/>
          <p:nvPr/>
        </p:nvSpPr>
        <p:spPr>
          <a:xfrm>
            <a:off x="731520" y="1828800"/>
            <a:ext cx="6583680" cy="1737360"/>
          </a:xfrm>
          <a:prstGeom prst="rect">
            <a:avLst/>
          </a:prstGeom>
          <a:noFill/>
          <a:ln/>
        </p:spPr>
        <p:txBody>
          <a:bodyPr wrap="square" lIns="0" tIns="0" rIns="0" bIns="0" rtlCol="0" anchor="t"/>
          <a:lstStyle/>
          <a:p>
            <a:pPr indent="0" marL="0">
              <a:buNone/>
            </a:pPr>
            <a:r>
              <a:rPr lang="en-US" sz="3800" b="1" dirty="0">
                <a:solidFill>
                  <a:srgbClr val="FFFFFF"/>
                </a:solidFill>
                <a:latin typeface="Segoe UI" pitchFamily="34" charset="0"/>
                <a:ea typeface="Segoe UI" pitchFamily="34" charset="-122"/>
                <a:cs typeface="Segoe UI" pitchFamily="34" charset="-120"/>
              </a:rPr>
              <a:t>No request, no interruption</a:t>
            </a:r>
            <a:endParaRPr lang="en-US" sz="3800" dirty="0"/>
          </a:p>
        </p:txBody>
      </p:sp>
      <p:sp>
        <p:nvSpPr>
          <p:cNvPr id="25" name="!!step-body"/>
          <p:cNvSpPr txBox="1"/>
          <p:nvPr/>
        </p:nvSpPr>
        <p:spPr>
          <a:xfrm>
            <a:off x="731520" y="3611880"/>
            <a:ext cx="6217920" cy="1188720"/>
          </a:xfrm>
          <a:prstGeom prst="rect">
            <a:avLst/>
          </a:prstGeom>
          <a:noFill/>
          <a:ln/>
        </p:spPr>
        <p:txBody>
          <a:bodyPr wrap="square" lIns="0" tIns="0" rIns="0" bIns="0" rtlCol="0" anchor="t"/>
          <a:lstStyle/>
          <a:p>
            <a:pPr indent="0" marL="0">
              <a:buNone/>
            </a:pPr>
            <a:r>
              <a:rPr lang="en-US" sz="1800" dirty="0">
                <a:solidFill>
                  <a:srgbClr val="A9B6C3"/>
                </a:solidFill>
                <a:latin typeface="Segoe UI" pitchFamily="34" charset="0"/>
                <a:ea typeface="Segoe UI" pitchFamily="34" charset="-122"/>
                <a:cs typeface="Segoe UI" pitchFamily="34" charset="-120"/>
              </a:rPr>
              <a:t>No chime, no buzz, no alert. Scam check stays quiet when there's nothing to warn about.</a:t>
            </a:r>
            <a:endParaRPr lang="en-US" sz="18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advTm="4000">
        <p159:morph option="byObject"/>
      </p:transition>
    </mc:Choice>
    <mc:Fallback>
      <p:transition spd="slow" advTm="4000">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halo-r3"/>
          <p:cNvSpPr/>
          <p:nvPr/>
        </p:nvSpPr>
        <p:spPr>
          <a:xfrm>
            <a:off x="10664190" y="240030"/>
            <a:ext cx="1257300" cy="1257300"/>
          </a:xfrm>
          <a:prstGeom prst="ellipse">
            <a:avLst/>
          </a:prstGeom>
          <a:solidFill>
            <a:srgbClr val="226192">
              <a:alpha val="0"/>
            </a:srgbClr>
          </a:solidFill>
          <a:ln w="13970">
            <a:solidFill>
              <a:srgbClr val="226192">
                <a:alpha val="18000"/>
              </a:srgbClr>
            </a:solidFill>
            <a:prstDash val="solid"/>
          </a:ln>
        </p:spPr>
      </p:sp>
      <p:sp>
        <p:nvSpPr>
          <p:cNvPr id="3" name="!!halo-r2"/>
          <p:cNvSpPr/>
          <p:nvPr/>
        </p:nvSpPr>
        <p:spPr>
          <a:xfrm>
            <a:off x="10812780" y="388620"/>
            <a:ext cx="960120" cy="960120"/>
          </a:xfrm>
          <a:prstGeom prst="ellipse">
            <a:avLst/>
          </a:prstGeom>
          <a:solidFill>
            <a:srgbClr val="226192">
              <a:alpha val="0"/>
            </a:srgbClr>
          </a:solidFill>
          <a:ln w="13970">
            <a:solidFill>
              <a:srgbClr val="226192">
                <a:alpha val="36000"/>
              </a:srgbClr>
            </a:solidFill>
            <a:prstDash val="solid"/>
          </a:ln>
        </p:spPr>
      </p:sp>
      <p:sp>
        <p:nvSpPr>
          <p:cNvPr id="4" name="!!halo-r1"/>
          <p:cNvSpPr/>
          <p:nvPr/>
        </p:nvSpPr>
        <p:spPr>
          <a:xfrm>
            <a:off x="10949940" y="525780"/>
            <a:ext cx="685800" cy="685800"/>
          </a:xfrm>
          <a:prstGeom prst="ellipse">
            <a:avLst/>
          </a:prstGeom>
          <a:solidFill>
            <a:srgbClr val="226192">
              <a:alpha val="0"/>
            </a:srgbClr>
          </a:solidFill>
          <a:ln w="13970">
            <a:solidFill>
              <a:srgbClr val="226192">
                <a:alpha val="60000"/>
              </a:srgbClr>
            </a:solidFill>
            <a:prstDash val="solid"/>
          </a:ln>
        </p:spPr>
      </p:sp>
      <p:sp>
        <p:nvSpPr>
          <p:cNvPr id="5" name="!!halo-core"/>
          <p:cNvSpPr/>
          <p:nvPr/>
        </p:nvSpPr>
        <p:spPr>
          <a:xfrm>
            <a:off x="11064240" y="640080"/>
            <a:ext cx="457200" cy="457200"/>
          </a:xfrm>
          <a:prstGeom prst="ellipse">
            <a:avLst/>
          </a:prstGeom>
          <a:solidFill>
            <a:srgbClr val="226192"/>
          </a:solidFill>
          <a:ln w="12700">
            <a:solidFill>
              <a:srgbClr val="226192"/>
            </a:solidFill>
            <a:prstDash val="solid"/>
          </a:ln>
        </p:spPr>
      </p:sp>
      <p:pic>
        <p:nvPicPr>
          <p:cNvPr id="6" name="!!halo-icon" descr="Scam check">    </p:cNvPr>
          <p:cNvPicPr>
            <a:picLocks noChangeAspect="1"/>
          </p:cNvPicPr>
          <p:nvPr/>
        </p:nvPicPr>
        <p:blipFill>
          <a:blip r:embed="rId1"/>
          <a:stretch>
            <a:fillRect/>
          </a:stretch>
        </p:blipFill>
        <p:spPr>
          <a:xfrm>
            <a:off x="11173968" y="749808"/>
            <a:ext cx="237744" cy="237744"/>
          </a:xfrm>
          <a:prstGeom prst="rect">
            <a:avLst/>
          </a:prstGeom>
        </p:spPr>
      </p:pic>
      <p:sp>
        <p:nvSpPr>
          <p:cNvPr id="7" name="!!kicker"/>
          <p:cNvSpPr txBox="1"/>
          <p:nvPr/>
        </p:nvSpPr>
        <p:spPr>
          <a:xfrm>
            <a:off x="731520" y="685800"/>
            <a:ext cx="5486400" cy="320040"/>
          </a:xfrm>
          <a:prstGeom prst="rect">
            <a:avLst/>
          </a:prstGeom>
          <a:noFill/>
          <a:ln/>
        </p:spPr>
        <p:txBody>
          <a:bodyPr wrap="square" lIns="0" tIns="0" rIns="0" bIns="0" rtlCol="0" anchor="t"/>
          <a:lstStyle/>
          <a:p>
            <a:pPr indent="0" marL="0">
              <a:buNone/>
            </a:pPr>
            <a:r>
              <a:rPr lang="en-US" sz="1400" b="1" spc="200" kern="0" dirty="0">
                <a:solidFill>
                  <a:srgbClr val="226192"/>
                </a:solidFill>
                <a:latin typeface="Segoe UI" pitchFamily="34" charset="0"/>
                <a:ea typeface="Segoe UI" pitchFamily="34" charset="-122"/>
                <a:cs typeface="Segoe UI" pitchFamily="34" charset="-120"/>
              </a:rPr>
              <a:t>CALL STORY</a:t>
            </a:r>
            <a:endParaRPr lang="en-US" sz="1400" dirty="0"/>
          </a:p>
        </p:txBody>
      </p:sp>
      <p:sp>
        <p:nvSpPr>
          <p:cNvPr id="8" name="!!headline"/>
          <p:cNvSpPr txBox="1"/>
          <p:nvPr/>
        </p:nvSpPr>
        <p:spPr>
          <a:xfrm>
            <a:off x="731520" y="1051560"/>
            <a:ext cx="9875520" cy="1280160"/>
          </a:xfrm>
          <a:prstGeom prst="rect">
            <a:avLst/>
          </a:prstGeom>
          <a:noFill/>
          <a:ln/>
        </p:spPr>
        <p:txBody>
          <a:bodyPr wrap="square" lIns="0" tIns="0" rIns="0" bIns="0" rtlCol="0" anchor="t"/>
          <a:lstStyle/>
          <a:p>
            <a:pPr indent="0" marL="0">
              <a:buNone/>
            </a:pPr>
            <a:r>
              <a:rPr lang="en-US" sz="3600" b="1" dirty="0">
                <a:solidFill>
                  <a:srgbClr val="1F2937"/>
                </a:solidFill>
                <a:latin typeface="Segoe UI" pitchFamily="34" charset="0"/>
                <a:ea typeface="Segoe UI" pitchFamily="34" charset="-122"/>
                <a:cs typeface="Segoe UI" pitchFamily="34" charset="-120"/>
              </a:rPr>
              <a:t>We didn't hear any request for a QR scan, UPI PIN or OTP</a:t>
            </a:r>
            <a:endParaRPr lang="en-US" sz="3600" dirty="0"/>
          </a:p>
        </p:txBody>
      </p:sp>
      <p:sp>
        <p:nvSpPr>
          <p:cNvPr id="9" name="story-card"/>
          <p:cNvSpPr/>
          <p:nvPr/>
        </p:nvSpPr>
        <p:spPr>
          <a:xfrm>
            <a:off x="731520" y="2697480"/>
            <a:ext cx="10744200" cy="1600200"/>
          </a:xfrm>
          <a:prstGeom prst="roundRect">
            <a:avLst>
              <a:gd name="adj" fmla="val 16000"/>
            </a:avLst>
          </a:prstGeom>
          <a:solidFill>
            <a:srgbClr val="FFFFFF"/>
          </a:solidFill>
          <a:ln w="12700">
            <a:solidFill>
              <a:srgbClr val="E6E8EB"/>
            </a:solidFill>
            <a:prstDash val="solid"/>
          </a:ln>
        </p:spPr>
      </p:sp>
      <p:pic>
        <p:nvPicPr>
          <p:cNvPr id="10" name="calm-icon" descr="preencoded.png">    </p:cNvPr>
          <p:cNvPicPr>
            <a:picLocks noChangeAspect="1"/>
          </p:cNvPicPr>
          <p:nvPr/>
        </p:nvPicPr>
        <p:blipFill>
          <a:blip r:embed="rId2"/>
          <a:stretch>
            <a:fillRect/>
          </a:stretch>
        </p:blipFill>
        <p:spPr>
          <a:xfrm>
            <a:off x="1143000" y="3108960"/>
            <a:ext cx="548640" cy="548640"/>
          </a:xfrm>
          <a:prstGeom prst="rect">
            <a:avLst/>
          </a:prstGeom>
        </p:spPr>
      </p:pic>
      <p:sp>
        <p:nvSpPr>
          <p:cNvPr id="11" name="calm-title"/>
          <p:cNvSpPr txBox="1"/>
          <p:nvPr/>
        </p:nvSpPr>
        <p:spPr>
          <a:xfrm>
            <a:off x="1965960" y="3063240"/>
            <a:ext cx="8686800" cy="457200"/>
          </a:xfrm>
          <a:prstGeom prst="rect">
            <a:avLst/>
          </a:prstGeom>
          <a:noFill/>
          <a:ln/>
        </p:spPr>
        <p:txBody>
          <a:bodyPr wrap="square" lIns="0" tIns="0" rIns="0" bIns="0" rtlCol="0" anchor="t"/>
          <a:lstStyle/>
          <a:p>
            <a:pPr indent="0" marL="0">
              <a:buNone/>
            </a:pPr>
            <a:r>
              <a:rPr lang="en-US" sz="2200" b="1" dirty="0">
                <a:solidFill>
                  <a:srgbClr val="1F2937"/>
                </a:solidFill>
                <a:latin typeface="Segoe UI" pitchFamily="34" charset="0"/>
                <a:ea typeface="Segoe UI" pitchFamily="34" charset="-122"/>
                <a:cs typeface="Segoe UI" pitchFamily="34" charset="-120"/>
              </a:rPr>
              <a:t>We never say a call is safe</a:t>
            </a:r>
            <a:endParaRPr lang="en-US" sz="2200" dirty="0"/>
          </a:p>
        </p:txBody>
      </p:sp>
      <p:sp>
        <p:nvSpPr>
          <p:cNvPr id="12" name="!!subline"/>
          <p:cNvSpPr txBox="1"/>
          <p:nvPr/>
        </p:nvSpPr>
        <p:spPr>
          <a:xfrm>
            <a:off x="1965960" y="3566160"/>
            <a:ext cx="8961120" cy="822960"/>
          </a:xfrm>
          <a:prstGeom prst="rect">
            <a:avLst/>
          </a:prstGeom>
          <a:noFill/>
          <a:ln/>
        </p:spPr>
        <p:txBody>
          <a:bodyPr wrap="square" lIns="0" tIns="0" rIns="0" bIns="0" rtlCol="0" anchor="t"/>
          <a:lstStyle/>
          <a:p>
            <a:pPr indent="0" marL="0">
              <a:buNone/>
            </a:pPr>
            <a:r>
              <a:rPr lang="en-US" sz="1700" dirty="0">
                <a:solidFill>
                  <a:srgbClr val="4B5563"/>
                </a:solidFill>
                <a:latin typeface="Segoe UI" pitchFamily="34" charset="0"/>
                <a:ea typeface="Segoe UI" pitchFamily="34" charset="-122"/>
                <a:cs typeface="Segoe UI" pitchFamily="34" charset="-120"/>
              </a:rPr>
              <a:t>No check can promise that. We only say what we heard. That's why the halo is never green.</a:t>
            </a:r>
            <a:endParaRPr lang="en-US" sz="1700" dirty="0"/>
          </a:p>
        </p:txBody>
      </p:sp>
      <p:sp>
        <p:nvSpPr>
          <p:cNvPr id="13" name="btn-Try another call"/>
          <p:cNvSpPr txBox="1"/>
          <p:nvPr/>
        </p:nvSpPr>
        <p:spPr>
          <a:xfrm>
            <a:off x="731520" y="5577840"/>
            <a:ext cx="2743200" cy="566928"/>
          </a:xfrm>
          <a:prstGeom prst="roundRect">
            <a:avLst>
              <a:gd name="adj" fmla="val 29032"/>
            </a:avLst>
          </a:prstGeom>
          <a:solidFill>
            <a:srgbClr val="FAFAF8"/>
          </a:solidFill>
          <a:ln w="19050">
            <a:solidFill>
              <a:srgbClr val="226192"/>
            </a:solidFill>
          </a:ln>
        </p:spPr>
        <p:txBody>
          <a:bodyPr wrap="square" lIns="0" tIns="0" rIns="0" bIns="0" rtlCol="0" anchor="ctr"/>
          <a:lstStyle/>
          <a:p>
            <a:pPr algn="ctr" indent="0" marL="0">
              <a:buNone/>
            </a:pPr>
            <a:r>
              <a:rPr lang="en-US" sz="1600" b="1" dirty="0">
                <a:solidFill>
                  <a:srgbClr val="226192"/>
                </a:solidFill>
                <a:latin typeface="Segoe UI" pitchFamily="34" charset="0"/>
                <a:ea typeface="Segoe UI" pitchFamily="34" charset="-122"/>
                <a:cs typeface="Segoe UI" pitchFamily="34" charset="-120"/>
              </a:rPr>
              <a:t>Try another call</a:t>
            </a:r>
            <a:endParaRPr lang="en-US" sz="1600" dirty="0"/>
          </a:p>
        </p:txBody>
      </p:sp>
      <p:pic>
        <p:nvPicPr>
          <p:cNvPr id="14" name="hot-Try another call" descr="Try another call">
            <a:hlinkClick r:id="rId4" tooltip="Try another call" action="ppaction://hlinksldjump"/>
          </p:cNvPr>
          <p:cNvPicPr>
            <a:picLocks noChangeAspect="1"/>
          </p:cNvPicPr>
          <p:nvPr/>
        </p:nvPicPr>
        <p:blipFill>
          <a:blip r:embed="rId3"/>
          <a:stretch>
            <a:fillRect/>
          </a:stretch>
        </p:blipFill>
        <p:spPr>
          <a:xfrm>
            <a:off x="731520" y="5577840"/>
            <a:ext cx="2743200" cy="566928"/>
          </a:xfrm>
          <a:prstGeom prst="rect">
            <a:avLst/>
          </a:prstGeom>
        </p:spPr>
      </p:pic>
      <p:sp>
        <p:nvSpPr>
          <p:cNvPr id="15" name="btn-Continue"/>
          <p:cNvSpPr txBox="1"/>
          <p:nvPr/>
        </p:nvSpPr>
        <p:spPr>
          <a:xfrm>
            <a:off x="3657600" y="5577840"/>
            <a:ext cx="2194560" cy="566928"/>
          </a:xfrm>
          <a:prstGeom prst="roundRect">
            <a:avLst>
              <a:gd name="adj" fmla="val 29032"/>
            </a:avLst>
          </a:prstGeom>
          <a:solidFill>
            <a:srgbClr val="226192"/>
          </a:solidFill>
          <a:ln w="19050">
            <a:solidFill>
              <a:srgbClr val="226192"/>
            </a:solidFill>
          </a:ln>
        </p:spPr>
        <p:txBody>
          <a:bodyPr wrap="square" lIns="0" tIns="0" rIns="0" bIns="0"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Continue</a:t>
            </a:r>
            <a:endParaRPr lang="en-US" sz="1600" dirty="0"/>
          </a:p>
        </p:txBody>
      </p:sp>
      <p:pic>
        <p:nvPicPr>
          <p:cNvPr id="16" name="hot-Continue" descr="Continue">
            <a:hlinkClick r:id="rId6" tooltip="Continue" action="ppaction://hlinksldjump"/>
          </p:cNvPr>
          <p:cNvPicPr>
            <a:picLocks noChangeAspect="1"/>
          </p:cNvPicPr>
          <p:nvPr/>
        </p:nvPicPr>
        <p:blipFill>
          <a:blip r:embed="rId5"/>
          <a:stretch>
            <a:fillRect/>
          </a:stretch>
        </p:blipFill>
        <p:spPr>
          <a:xfrm>
            <a:off x="3657600" y="5577840"/>
            <a:ext cx="2194560" cy="566928"/>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kicker"/>
          <p:cNvSpPr txBox="1"/>
          <p:nvPr/>
        </p:nvSpPr>
        <p:spPr>
          <a:xfrm>
            <a:off x="731520" y="685800"/>
            <a:ext cx="5486400" cy="320040"/>
          </a:xfrm>
          <a:prstGeom prst="rect">
            <a:avLst/>
          </a:prstGeom>
          <a:noFill/>
          <a:ln/>
        </p:spPr>
        <p:txBody>
          <a:bodyPr wrap="square" lIns="0" tIns="0" rIns="0" bIns="0" rtlCol="0" anchor="t"/>
          <a:lstStyle/>
          <a:p>
            <a:pPr indent="0" marL="0">
              <a:buNone/>
            </a:pPr>
            <a:r>
              <a:rPr lang="en-US" sz="1400" b="1" spc="200" kern="0" dirty="0">
                <a:solidFill>
                  <a:srgbClr val="226192"/>
                </a:solidFill>
                <a:latin typeface="Segoe UI" pitchFamily="34" charset="0"/>
                <a:ea typeface="Segoe UI" pitchFamily="34" charset="-122"/>
                <a:cs typeface="Segoe UI" pitchFamily="34" charset="-120"/>
              </a:rPr>
              <a:t>HOW IT WORKS</a:t>
            </a:r>
            <a:endParaRPr lang="en-US" sz="1400" dirty="0"/>
          </a:p>
        </p:txBody>
      </p:sp>
      <p:sp>
        <p:nvSpPr>
          <p:cNvPr id="3" name="!!headline"/>
          <p:cNvSpPr txBox="1"/>
          <p:nvPr/>
        </p:nvSpPr>
        <p:spPr>
          <a:xfrm>
            <a:off x="731520" y="1051560"/>
            <a:ext cx="9601200" cy="731520"/>
          </a:xfrm>
          <a:prstGeom prst="rect">
            <a:avLst/>
          </a:prstGeom>
          <a:noFill/>
          <a:ln/>
        </p:spPr>
        <p:txBody>
          <a:bodyPr wrap="square" lIns="0" tIns="0" rIns="0" bIns="0" rtlCol="0" anchor="t"/>
          <a:lstStyle/>
          <a:p>
            <a:pPr indent="0" marL="0">
              <a:buNone/>
            </a:pPr>
            <a:r>
              <a:rPr lang="en-US" sz="3600" b="1" dirty="0">
                <a:solidFill>
                  <a:srgbClr val="1F2937"/>
                </a:solidFill>
                <a:latin typeface="Segoe UI" pitchFamily="34" charset="0"/>
                <a:ea typeface="Segoe UI" pitchFamily="34" charset="-122"/>
                <a:cs typeface="Segoe UI" pitchFamily="34" charset="-120"/>
              </a:rPr>
              <a:t>From their words to your warning</a:t>
            </a:r>
            <a:endParaRPr lang="en-US" sz="3600" dirty="0"/>
          </a:p>
        </p:txBody>
      </p:sp>
      <p:sp>
        <p:nvSpPr>
          <p:cNvPr id="4" name="node-0"/>
          <p:cNvSpPr/>
          <p:nvPr/>
        </p:nvSpPr>
        <p:spPr>
          <a:xfrm>
            <a:off x="731520" y="2194560"/>
            <a:ext cx="1867753" cy="2926080"/>
          </a:xfrm>
          <a:prstGeom prst="roundRect">
            <a:avLst>
              <a:gd name="adj" fmla="val 11750"/>
            </a:avLst>
          </a:prstGeom>
          <a:solidFill>
            <a:srgbClr val="FFFFFF"/>
          </a:solidFill>
          <a:ln w="12700">
            <a:solidFill>
              <a:srgbClr val="E6E8EB"/>
            </a:solidFill>
            <a:prstDash val="solid"/>
          </a:ln>
        </p:spPr>
      </p:sp>
      <p:sp>
        <p:nvSpPr>
          <p:cNvPr id="5" name="node-badge-0"/>
          <p:cNvSpPr/>
          <p:nvPr/>
        </p:nvSpPr>
        <p:spPr>
          <a:xfrm>
            <a:off x="1005840" y="2468880"/>
            <a:ext cx="566928" cy="566928"/>
          </a:xfrm>
          <a:prstGeom prst="ellipse">
            <a:avLst/>
          </a:prstGeom>
          <a:solidFill>
            <a:srgbClr val="E3EDF5"/>
          </a:solidFill>
          <a:ln w="12700">
            <a:solidFill>
              <a:srgbClr val="E3EDF5"/>
            </a:solidFill>
            <a:prstDash val="solid"/>
          </a:ln>
        </p:spPr>
      </p:sp>
      <p:pic>
        <p:nvPicPr>
          <p:cNvPr id="6" name="node-icon-0" descr="preencoded.png">    </p:cNvPr>
          <p:cNvPicPr>
            <a:picLocks noChangeAspect="1"/>
          </p:cNvPicPr>
          <p:nvPr/>
        </p:nvPicPr>
        <p:blipFill>
          <a:blip r:embed="rId1"/>
          <a:stretch>
            <a:fillRect/>
          </a:stretch>
        </p:blipFill>
        <p:spPr>
          <a:xfrm>
            <a:off x="1133856" y="2596896"/>
            <a:ext cx="310896" cy="310896"/>
          </a:xfrm>
          <a:prstGeom prst="rect">
            <a:avLst/>
          </a:prstGeom>
        </p:spPr>
      </p:pic>
      <p:sp>
        <p:nvSpPr>
          <p:cNvPr id="7" name="node-title-0"/>
          <p:cNvSpPr txBox="1"/>
          <p:nvPr/>
        </p:nvSpPr>
        <p:spPr>
          <a:xfrm>
            <a:off x="1005840" y="3200400"/>
            <a:ext cx="1410553" cy="365760"/>
          </a:xfrm>
          <a:prstGeom prst="rect">
            <a:avLst/>
          </a:prstGeom>
          <a:noFill/>
          <a:ln/>
        </p:spPr>
        <p:txBody>
          <a:bodyPr wrap="square" lIns="0" tIns="0" rIns="0" bIns="0" rtlCol="0" anchor="t"/>
          <a:lstStyle/>
          <a:p>
            <a:pPr indent="0" marL="0">
              <a:buNone/>
            </a:pPr>
            <a:r>
              <a:rPr lang="en-US" sz="1800" b="1" dirty="0">
                <a:solidFill>
                  <a:srgbClr val="1F2937"/>
                </a:solidFill>
                <a:latin typeface="Segoe UI" pitchFamily="34" charset="0"/>
                <a:ea typeface="Segoe UI" pitchFamily="34" charset="-122"/>
                <a:cs typeface="Segoe UI" pitchFamily="34" charset="-120"/>
              </a:rPr>
              <a:t>Any phone</a:t>
            </a:r>
            <a:endParaRPr lang="en-US" sz="1800" dirty="0"/>
          </a:p>
        </p:txBody>
      </p:sp>
      <p:sp>
        <p:nvSpPr>
          <p:cNvPr id="8" name="node-body-0"/>
          <p:cNvSpPr txBox="1"/>
          <p:nvPr/>
        </p:nvSpPr>
        <p:spPr>
          <a:xfrm>
            <a:off x="1005840" y="3611880"/>
            <a:ext cx="1410553" cy="1371600"/>
          </a:xfrm>
          <a:prstGeom prst="rect">
            <a:avLst/>
          </a:prstGeom>
          <a:noFill/>
          <a:ln/>
        </p:spPr>
        <p:txBody>
          <a:bodyPr wrap="square" lIns="0" tIns="0" rIns="0" bIns="0" rtlCol="0" anchor="t"/>
          <a:lstStyle/>
          <a:p>
            <a:pPr indent="0" marL="0">
              <a:buNone/>
            </a:pPr>
            <a:r>
              <a:rPr lang="en-US" sz="1400" dirty="0">
                <a:solidFill>
                  <a:srgbClr val="4B5563"/>
                </a:solidFill>
                <a:latin typeface="Segoe UI" pitchFamily="34" charset="0"/>
                <a:ea typeface="Segoe UI" pitchFamily="34" charset="-122"/>
                <a:cs typeface="Segoe UI" pitchFamily="34" charset="-120"/>
              </a:rPr>
              <a:t>The caller dials our number from their normal dialer.</a:t>
            </a:r>
            <a:endParaRPr lang="en-US" sz="1400" dirty="0"/>
          </a:p>
        </p:txBody>
      </p:sp>
      <p:pic>
        <p:nvPicPr>
          <p:cNvPr id="9" name="node-arrow-0" descr="preencoded.png">    </p:cNvPr>
          <p:cNvPicPr>
            <a:picLocks noChangeAspect="1"/>
          </p:cNvPicPr>
          <p:nvPr/>
        </p:nvPicPr>
        <p:blipFill>
          <a:blip r:embed="rId2"/>
          <a:stretch>
            <a:fillRect/>
          </a:stretch>
        </p:blipFill>
        <p:spPr>
          <a:xfrm>
            <a:off x="2635849" y="3502152"/>
            <a:ext cx="274320" cy="274320"/>
          </a:xfrm>
          <a:prstGeom prst="rect">
            <a:avLst/>
          </a:prstGeom>
        </p:spPr>
      </p:pic>
      <p:sp>
        <p:nvSpPr>
          <p:cNvPr id="10" name="node-1"/>
          <p:cNvSpPr/>
          <p:nvPr/>
        </p:nvSpPr>
        <p:spPr>
          <a:xfrm>
            <a:off x="2946745" y="2194560"/>
            <a:ext cx="1867753" cy="2926080"/>
          </a:xfrm>
          <a:prstGeom prst="roundRect">
            <a:avLst>
              <a:gd name="adj" fmla="val 11750"/>
            </a:avLst>
          </a:prstGeom>
          <a:solidFill>
            <a:srgbClr val="FFFFFF"/>
          </a:solidFill>
          <a:ln w="12700">
            <a:solidFill>
              <a:srgbClr val="E6E8EB"/>
            </a:solidFill>
            <a:prstDash val="solid"/>
          </a:ln>
        </p:spPr>
      </p:sp>
      <p:sp>
        <p:nvSpPr>
          <p:cNvPr id="11" name="node-badge-1"/>
          <p:cNvSpPr/>
          <p:nvPr/>
        </p:nvSpPr>
        <p:spPr>
          <a:xfrm>
            <a:off x="3221065" y="2468880"/>
            <a:ext cx="566928" cy="566928"/>
          </a:xfrm>
          <a:prstGeom prst="ellipse">
            <a:avLst/>
          </a:prstGeom>
          <a:solidFill>
            <a:srgbClr val="E3EDF5"/>
          </a:solidFill>
          <a:ln w="12700">
            <a:solidFill>
              <a:srgbClr val="E3EDF5"/>
            </a:solidFill>
            <a:prstDash val="solid"/>
          </a:ln>
        </p:spPr>
      </p:sp>
      <p:pic>
        <p:nvPicPr>
          <p:cNvPr id="12" name="node-icon-1" descr="preencoded.png">    </p:cNvPr>
          <p:cNvPicPr>
            <a:picLocks noChangeAspect="1"/>
          </p:cNvPicPr>
          <p:nvPr/>
        </p:nvPicPr>
        <p:blipFill>
          <a:blip r:embed="rId3"/>
          <a:stretch>
            <a:fillRect/>
          </a:stretch>
        </p:blipFill>
        <p:spPr>
          <a:xfrm>
            <a:off x="3349081" y="2596896"/>
            <a:ext cx="310896" cy="310896"/>
          </a:xfrm>
          <a:prstGeom prst="rect">
            <a:avLst/>
          </a:prstGeom>
        </p:spPr>
      </p:pic>
      <p:sp>
        <p:nvSpPr>
          <p:cNvPr id="13" name="node-title-1"/>
          <p:cNvSpPr txBox="1"/>
          <p:nvPr/>
        </p:nvSpPr>
        <p:spPr>
          <a:xfrm>
            <a:off x="3221065" y="3200400"/>
            <a:ext cx="1410553" cy="365760"/>
          </a:xfrm>
          <a:prstGeom prst="rect">
            <a:avLst/>
          </a:prstGeom>
          <a:noFill/>
          <a:ln/>
        </p:spPr>
        <p:txBody>
          <a:bodyPr wrap="square" lIns="0" tIns="0" rIns="0" bIns="0" rtlCol="0" anchor="t"/>
          <a:lstStyle/>
          <a:p>
            <a:pPr indent="0" marL="0">
              <a:buNone/>
            </a:pPr>
            <a:r>
              <a:rPr lang="en-US" sz="1800" b="1" dirty="0">
                <a:solidFill>
                  <a:srgbClr val="1F2937"/>
                </a:solidFill>
                <a:latin typeface="Segoe UI" pitchFamily="34" charset="0"/>
                <a:ea typeface="Segoe UI" pitchFamily="34" charset="-122"/>
                <a:cs typeface="Segoe UI" pitchFamily="34" charset="-120"/>
              </a:rPr>
              <a:t>Twilio</a:t>
            </a:r>
            <a:endParaRPr lang="en-US" sz="1800" dirty="0"/>
          </a:p>
        </p:txBody>
      </p:sp>
      <p:sp>
        <p:nvSpPr>
          <p:cNvPr id="14" name="node-body-1"/>
          <p:cNvSpPr txBox="1"/>
          <p:nvPr/>
        </p:nvSpPr>
        <p:spPr>
          <a:xfrm>
            <a:off x="3221065" y="3611880"/>
            <a:ext cx="1410553" cy="1371600"/>
          </a:xfrm>
          <a:prstGeom prst="rect">
            <a:avLst/>
          </a:prstGeom>
          <a:noFill/>
          <a:ln/>
        </p:spPr>
        <p:txBody>
          <a:bodyPr wrap="square" lIns="0" tIns="0" rIns="0" bIns="0" rtlCol="0" anchor="t"/>
          <a:lstStyle/>
          <a:p>
            <a:pPr indent="0" marL="0">
              <a:buNone/>
            </a:pPr>
            <a:r>
              <a:rPr lang="en-US" sz="1400" dirty="0">
                <a:solidFill>
                  <a:srgbClr val="4B5563"/>
                </a:solidFill>
                <a:latin typeface="Segoe UI" pitchFamily="34" charset="0"/>
                <a:ea typeface="Segoe UI" pitchFamily="34" charset="-122"/>
                <a:cs typeface="Segoe UI" pitchFamily="34" charset="-120"/>
              </a:rPr>
              <a:t>Connects the call and streams the caller's audio.</a:t>
            </a:r>
            <a:endParaRPr lang="en-US" sz="1400" dirty="0"/>
          </a:p>
        </p:txBody>
      </p:sp>
      <p:pic>
        <p:nvPicPr>
          <p:cNvPr id="15" name="node-arrow-1" descr="preencoded.png">    </p:cNvPr>
          <p:cNvPicPr>
            <a:picLocks noChangeAspect="1"/>
          </p:cNvPicPr>
          <p:nvPr/>
        </p:nvPicPr>
        <p:blipFill>
          <a:blip r:embed="rId4"/>
          <a:stretch>
            <a:fillRect/>
          </a:stretch>
        </p:blipFill>
        <p:spPr>
          <a:xfrm>
            <a:off x="4851075" y="3502152"/>
            <a:ext cx="274320" cy="274320"/>
          </a:xfrm>
          <a:prstGeom prst="rect">
            <a:avLst/>
          </a:prstGeom>
        </p:spPr>
      </p:pic>
      <p:sp>
        <p:nvSpPr>
          <p:cNvPr id="16" name="node-2"/>
          <p:cNvSpPr/>
          <p:nvPr/>
        </p:nvSpPr>
        <p:spPr>
          <a:xfrm>
            <a:off x="5161971" y="2194560"/>
            <a:ext cx="1867753" cy="2926080"/>
          </a:xfrm>
          <a:prstGeom prst="roundRect">
            <a:avLst>
              <a:gd name="adj" fmla="val 11750"/>
            </a:avLst>
          </a:prstGeom>
          <a:solidFill>
            <a:srgbClr val="FFFFFF"/>
          </a:solidFill>
          <a:ln w="12700">
            <a:solidFill>
              <a:srgbClr val="E6E8EB"/>
            </a:solidFill>
            <a:prstDash val="solid"/>
          </a:ln>
        </p:spPr>
      </p:sp>
      <p:sp>
        <p:nvSpPr>
          <p:cNvPr id="17" name="node-badge-2"/>
          <p:cNvSpPr/>
          <p:nvPr/>
        </p:nvSpPr>
        <p:spPr>
          <a:xfrm>
            <a:off x="5436291" y="2468880"/>
            <a:ext cx="566928" cy="566928"/>
          </a:xfrm>
          <a:prstGeom prst="ellipse">
            <a:avLst/>
          </a:prstGeom>
          <a:solidFill>
            <a:srgbClr val="E3EDF5"/>
          </a:solidFill>
          <a:ln w="12700">
            <a:solidFill>
              <a:srgbClr val="E3EDF5"/>
            </a:solidFill>
            <a:prstDash val="solid"/>
          </a:ln>
        </p:spPr>
      </p:sp>
      <p:pic>
        <p:nvPicPr>
          <p:cNvPr id="18" name="node-icon-2" descr="preencoded.png">    </p:cNvPr>
          <p:cNvPicPr>
            <a:picLocks noChangeAspect="1"/>
          </p:cNvPicPr>
          <p:nvPr/>
        </p:nvPicPr>
        <p:blipFill>
          <a:blip r:embed="rId5"/>
          <a:stretch>
            <a:fillRect/>
          </a:stretch>
        </p:blipFill>
        <p:spPr>
          <a:xfrm>
            <a:off x="5564307" y="2596896"/>
            <a:ext cx="310896" cy="310896"/>
          </a:xfrm>
          <a:prstGeom prst="rect">
            <a:avLst/>
          </a:prstGeom>
        </p:spPr>
      </p:pic>
      <p:sp>
        <p:nvSpPr>
          <p:cNvPr id="19" name="node-title-2"/>
          <p:cNvSpPr txBox="1"/>
          <p:nvPr/>
        </p:nvSpPr>
        <p:spPr>
          <a:xfrm>
            <a:off x="5436291" y="3200400"/>
            <a:ext cx="1410553" cy="365760"/>
          </a:xfrm>
          <a:prstGeom prst="rect">
            <a:avLst/>
          </a:prstGeom>
          <a:noFill/>
          <a:ln/>
        </p:spPr>
        <p:txBody>
          <a:bodyPr wrap="square" lIns="0" tIns="0" rIns="0" bIns="0" rtlCol="0" anchor="t"/>
          <a:lstStyle/>
          <a:p>
            <a:pPr indent="0" marL="0">
              <a:buNone/>
            </a:pPr>
            <a:r>
              <a:rPr lang="en-US" sz="1800" b="1" dirty="0">
                <a:solidFill>
                  <a:srgbClr val="1F2937"/>
                </a:solidFill>
                <a:latin typeface="Segoe UI" pitchFamily="34" charset="0"/>
                <a:ea typeface="Segoe UI" pitchFamily="34" charset="-122"/>
                <a:cs typeface="Segoe UI" pitchFamily="34" charset="-120"/>
              </a:rPr>
              <a:t>Sarvam</a:t>
            </a:r>
            <a:endParaRPr lang="en-US" sz="1800" dirty="0"/>
          </a:p>
        </p:txBody>
      </p:sp>
      <p:sp>
        <p:nvSpPr>
          <p:cNvPr id="20" name="node-body-2"/>
          <p:cNvSpPr txBox="1"/>
          <p:nvPr/>
        </p:nvSpPr>
        <p:spPr>
          <a:xfrm>
            <a:off x="5436291" y="3611880"/>
            <a:ext cx="1410553" cy="1371600"/>
          </a:xfrm>
          <a:prstGeom prst="rect">
            <a:avLst/>
          </a:prstGeom>
          <a:noFill/>
          <a:ln/>
        </p:spPr>
        <p:txBody>
          <a:bodyPr wrap="square" lIns="0" tIns="0" rIns="0" bIns="0" rtlCol="0" anchor="t"/>
          <a:lstStyle/>
          <a:p>
            <a:pPr indent="0" marL="0">
              <a:buNone/>
            </a:pPr>
            <a:r>
              <a:rPr lang="en-US" sz="1400" dirty="0">
                <a:solidFill>
                  <a:srgbClr val="4B5563"/>
                </a:solidFill>
                <a:latin typeface="Segoe UI" pitchFamily="34" charset="0"/>
                <a:ea typeface="Segoe UI" pitchFamily="34" charset="-122"/>
                <a:cs typeface="Segoe UI" pitchFamily="34" charset="-120"/>
              </a:rPr>
              <a:t>Turns speech into text live: Punjabi, Hindi, English, mixed.</a:t>
            </a:r>
            <a:endParaRPr lang="en-US" sz="1400" dirty="0"/>
          </a:p>
        </p:txBody>
      </p:sp>
      <p:pic>
        <p:nvPicPr>
          <p:cNvPr id="21" name="node-arrow-2" descr="preencoded.png">    </p:cNvPr>
          <p:cNvPicPr>
            <a:picLocks noChangeAspect="1"/>
          </p:cNvPicPr>
          <p:nvPr/>
        </p:nvPicPr>
        <p:blipFill>
          <a:blip r:embed="rId6"/>
          <a:stretch>
            <a:fillRect/>
          </a:stretch>
        </p:blipFill>
        <p:spPr>
          <a:xfrm>
            <a:off x="7066300" y="3502152"/>
            <a:ext cx="274320" cy="274320"/>
          </a:xfrm>
          <a:prstGeom prst="rect">
            <a:avLst/>
          </a:prstGeom>
        </p:spPr>
      </p:pic>
      <p:sp>
        <p:nvSpPr>
          <p:cNvPr id="22" name="node-3"/>
          <p:cNvSpPr/>
          <p:nvPr/>
        </p:nvSpPr>
        <p:spPr>
          <a:xfrm>
            <a:off x="7377196" y="2194560"/>
            <a:ext cx="1867753" cy="2926080"/>
          </a:xfrm>
          <a:prstGeom prst="roundRect">
            <a:avLst>
              <a:gd name="adj" fmla="val 11750"/>
            </a:avLst>
          </a:prstGeom>
          <a:solidFill>
            <a:srgbClr val="FFFFFF"/>
          </a:solidFill>
          <a:ln w="12700">
            <a:solidFill>
              <a:srgbClr val="E6E8EB"/>
            </a:solidFill>
            <a:prstDash val="solid"/>
          </a:ln>
        </p:spPr>
      </p:sp>
      <p:sp>
        <p:nvSpPr>
          <p:cNvPr id="23" name="node-badge-3"/>
          <p:cNvSpPr/>
          <p:nvPr/>
        </p:nvSpPr>
        <p:spPr>
          <a:xfrm>
            <a:off x="7651516" y="2468880"/>
            <a:ext cx="566928" cy="566928"/>
          </a:xfrm>
          <a:prstGeom prst="ellipse">
            <a:avLst/>
          </a:prstGeom>
          <a:solidFill>
            <a:srgbClr val="E3EDF5"/>
          </a:solidFill>
          <a:ln w="12700">
            <a:solidFill>
              <a:srgbClr val="E3EDF5"/>
            </a:solidFill>
            <a:prstDash val="solid"/>
          </a:ln>
        </p:spPr>
      </p:sp>
      <p:pic>
        <p:nvPicPr>
          <p:cNvPr id="24" name="node-icon-3" descr="preencoded.png">    </p:cNvPr>
          <p:cNvPicPr>
            <a:picLocks noChangeAspect="1"/>
          </p:cNvPicPr>
          <p:nvPr/>
        </p:nvPicPr>
        <p:blipFill>
          <a:blip r:embed="rId7"/>
          <a:stretch>
            <a:fillRect/>
          </a:stretch>
        </p:blipFill>
        <p:spPr>
          <a:xfrm>
            <a:off x="7779532" y="2596896"/>
            <a:ext cx="310896" cy="310896"/>
          </a:xfrm>
          <a:prstGeom prst="rect">
            <a:avLst/>
          </a:prstGeom>
        </p:spPr>
      </p:pic>
      <p:sp>
        <p:nvSpPr>
          <p:cNvPr id="25" name="node-title-3"/>
          <p:cNvSpPr txBox="1"/>
          <p:nvPr/>
        </p:nvSpPr>
        <p:spPr>
          <a:xfrm>
            <a:off x="7651516" y="3200400"/>
            <a:ext cx="1410553" cy="365760"/>
          </a:xfrm>
          <a:prstGeom prst="rect">
            <a:avLst/>
          </a:prstGeom>
          <a:noFill/>
          <a:ln/>
        </p:spPr>
        <p:txBody>
          <a:bodyPr wrap="square" lIns="0" tIns="0" rIns="0" bIns="0" rtlCol="0" anchor="t"/>
          <a:lstStyle/>
          <a:p>
            <a:pPr indent="0" marL="0">
              <a:buNone/>
            </a:pPr>
            <a:r>
              <a:rPr lang="en-US" sz="1800" b="1" dirty="0">
                <a:solidFill>
                  <a:srgbClr val="1F2937"/>
                </a:solidFill>
                <a:latin typeface="Segoe UI" pitchFamily="34" charset="0"/>
                <a:ea typeface="Segoe UI" pitchFamily="34" charset="-122"/>
                <a:cs typeface="Segoe UI" pitchFamily="34" charset="-120"/>
              </a:rPr>
              <a:t>Two checks</a:t>
            </a:r>
            <a:endParaRPr lang="en-US" sz="1800" dirty="0"/>
          </a:p>
        </p:txBody>
      </p:sp>
      <p:sp>
        <p:nvSpPr>
          <p:cNvPr id="26" name="node-body-3"/>
          <p:cNvSpPr txBox="1"/>
          <p:nvPr/>
        </p:nvSpPr>
        <p:spPr>
          <a:xfrm>
            <a:off x="7651516" y="3611880"/>
            <a:ext cx="1410553" cy="1371600"/>
          </a:xfrm>
          <a:prstGeom prst="rect">
            <a:avLst/>
          </a:prstGeom>
          <a:noFill/>
          <a:ln/>
        </p:spPr>
        <p:txBody>
          <a:bodyPr wrap="square" lIns="0" tIns="0" rIns="0" bIns="0" rtlCol="0" anchor="t"/>
          <a:lstStyle/>
          <a:p>
            <a:pPr indent="0" marL="0">
              <a:buNone/>
            </a:pPr>
            <a:r>
              <a:rPr lang="en-US" sz="1400" dirty="0">
                <a:solidFill>
                  <a:srgbClr val="4B5563"/>
                </a:solidFill>
                <a:latin typeface="Segoe UI" pitchFamily="34" charset="0"/>
                <a:ea typeface="Segoe UI" pitchFamily="34" charset="-122"/>
                <a:cs typeface="Segoe UI" pitchFamily="34" charset="-120"/>
              </a:rPr>
              <a:t>An instant phrase check warns first. An AI check confirms the level.</a:t>
            </a:r>
            <a:endParaRPr lang="en-US" sz="1400" dirty="0"/>
          </a:p>
        </p:txBody>
      </p:sp>
      <p:pic>
        <p:nvPicPr>
          <p:cNvPr id="27" name="node-arrow-3" descr="preencoded.png">    </p:cNvPr>
          <p:cNvPicPr>
            <a:picLocks noChangeAspect="1"/>
          </p:cNvPicPr>
          <p:nvPr/>
        </p:nvPicPr>
        <p:blipFill>
          <a:blip r:embed="rId8"/>
          <a:stretch>
            <a:fillRect/>
          </a:stretch>
        </p:blipFill>
        <p:spPr>
          <a:xfrm>
            <a:off x="9281526" y="3502152"/>
            <a:ext cx="274320" cy="274320"/>
          </a:xfrm>
          <a:prstGeom prst="rect">
            <a:avLst/>
          </a:prstGeom>
        </p:spPr>
      </p:pic>
      <p:sp>
        <p:nvSpPr>
          <p:cNvPr id="28" name="node-us"/>
          <p:cNvSpPr/>
          <p:nvPr/>
        </p:nvSpPr>
        <p:spPr>
          <a:xfrm>
            <a:off x="9592422" y="2194560"/>
            <a:ext cx="1867753" cy="2926080"/>
          </a:xfrm>
          <a:prstGeom prst="roundRect">
            <a:avLst>
              <a:gd name="adj" fmla="val 11750"/>
            </a:avLst>
          </a:prstGeom>
          <a:solidFill>
            <a:srgbClr val="0E1A27"/>
          </a:solidFill>
          <a:ln w="12700">
            <a:solidFill>
              <a:srgbClr val="0E1A27"/>
            </a:solidFill>
            <a:prstDash val="solid"/>
          </a:ln>
        </p:spPr>
      </p:sp>
      <p:sp>
        <p:nvSpPr>
          <p:cNvPr id="29" name="!!halo-r3"/>
          <p:cNvSpPr/>
          <p:nvPr/>
        </p:nvSpPr>
        <p:spPr>
          <a:xfrm>
            <a:off x="9596994" y="2199132"/>
            <a:ext cx="1106424" cy="1106424"/>
          </a:xfrm>
          <a:prstGeom prst="ellipse">
            <a:avLst/>
          </a:prstGeom>
          <a:solidFill>
            <a:srgbClr val="7DB8E8">
              <a:alpha val="0"/>
            </a:srgbClr>
          </a:solidFill>
          <a:ln w="12700">
            <a:solidFill>
              <a:srgbClr val="7DB8E8">
                <a:alpha val="20000"/>
              </a:srgbClr>
            </a:solidFill>
            <a:prstDash val="solid"/>
          </a:ln>
        </p:spPr>
      </p:sp>
      <p:sp>
        <p:nvSpPr>
          <p:cNvPr id="30" name="!!halo-r2"/>
          <p:cNvSpPr/>
          <p:nvPr/>
        </p:nvSpPr>
        <p:spPr>
          <a:xfrm>
            <a:off x="9727753" y="2329891"/>
            <a:ext cx="844906" cy="844906"/>
          </a:xfrm>
          <a:prstGeom prst="ellipse">
            <a:avLst/>
          </a:prstGeom>
          <a:solidFill>
            <a:srgbClr val="7DB8E8">
              <a:alpha val="0"/>
            </a:srgbClr>
          </a:solidFill>
          <a:ln w="12700">
            <a:solidFill>
              <a:srgbClr val="7DB8E8">
                <a:alpha val="38000"/>
              </a:srgbClr>
            </a:solidFill>
            <a:prstDash val="solid"/>
          </a:ln>
        </p:spPr>
      </p:sp>
      <p:sp>
        <p:nvSpPr>
          <p:cNvPr id="31" name="!!halo-r1"/>
          <p:cNvSpPr/>
          <p:nvPr/>
        </p:nvSpPr>
        <p:spPr>
          <a:xfrm>
            <a:off x="9848454" y="2450592"/>
            <a:ext cx="603504" cy="603504"/>
          </a:xfrm>
          <a:prstGeom prst="ellipse">
            <a:avLst/>
          </a:prstGeom>
          <a:solidFill>
            <a:srgbClr val="7DB8E8">
              <a:alpha val="0"/>
            </a:srgbClr>
          </a:solidFill>
          <a:ln w="12700">
            <a:solidFill>
              <a:srgbClr val="7DB8E8">
                <a:alpha val="62000"/>
              </a:srgbClr>
            </a:solidFill>
            <a:prstDash val="solid"/>
          </a:ln>
        </p:spPr>
      </p:sp>
      <p:sp>
        <p:nvSpPr>
          <p:cNvPr id="32" name="!!halo-core"/>
          <p:cNvSpPr/>
          <p:nvPr/>
        </p:nvSpPr>
        <p:spPr>
          <a:xfrm>
            <a:off x="9949038" y="2551176"/>
            <a:ext cx="402336" cy="402336"/>
          </a:xfrm>
          <a:prstGeom prst="ellipse">
            <a:avLst/>
          </a:prstGeom>
          <a:solidFill>
            <a:srgbClr val="1B3550"/>
          </a:solidFill>
          <a:ln w="12700">
            <a:solidFill>
              <a:srgbClr val="1B3550"/>
            </a:solidFill>
            <a:prstDash val="solid"/>
          </a:ln>
        </p:spPr>
      </p:sp>
      <p:pic>
        <p:nvPicPr>
          <p:cNvPr id="33" name="!!halo-icon" descr="Scam check">    </p:cNvPr>
          <p:cNvPicPr>
            <a:picLocks noChangeAspect="1"/>
          </p:cNvPicPr>
          <p:nvPr/>
        </p:nvPicPr>
        <p:blipFill>
          <a:blip r:embed="rId9"/>
          <a:stretch>
            <a:fillRect/>
          </a:stretch>
        </p:blipFill>
        <p:spPr>
          <a:xfrm>
            <a:off x="10045598" y="2647737"/>
            <a:ext cx="209215" cy="209215"/>
          </a:xfrm>
          <a:prstGeom prst="rect">
            <a:avLst/>
          </a:prstGeom>
        </p:spPr>
      </p:pic>
      <p:sp>
        <p:nvSpPr>
          <p:cNvPr id="34" name="node-title-us"/>
          <p:cNvSpPr txBox="1"/>
          <p:nvPr/>
        </p:nvSpPr>
        <p:spPr>
          <a:xfrm>
            <a:off x="9866742" y="3200400"/>
            <a:ext cx="1501993" cy="365760"/>
          </a:xfrm>
          <a:prstGeom prst="rect">
            <a:avLst/>
          </a:prstGeom>
          <a:noFill/>
          <a:ln/>
        </p:spPr>
        <p:txBody>
          <a:bodyPr wrap="square" lIns="0" tIns="0" rIns="0" bIns="0" rtlCol="0" anchor="t"/>
          <a:lstStyle/>
          <a:p>
            <a:pPr indent="0" marL="0">
              <a:buNone/>
            </a:pPr>
            <a:r>
              <a:rPr lang="en-US" sz="1800" b="1" dirty="0">
                <a:solidFill>
                  <a:srgbClr val="FFFFFF"/>
                </a:solidFill>
                <a:latin typeface="Segoe UI" pitchFamily="34" charset="0"/>
                <a:ea typeface="Segoe UI" pitchFamily="34" charset="-122"/>
                <a:cs typeface="Segoe UI" pitchFamily="34" charset="-120"/>
              </a:rPr>
              <a:t>Your app</a:t>
            </a:r>
            <a:endParaRPr lang="en-US" sz="1800" dirty="0"/>
          </a:p>
        </p:txBody>
      </p:sp>
      <p:sp>
        <p:nvSpPr>
          <p:cNvPr id="35" name="node-body-us"/>
          <p:cNvSpPr txBox="1"/>
          <p:nvPr/>
        </p:nvSpPr>
        <p:spPr>
          <a:xfrm>
            <a:off x="9866742" y="3611880"/>
            <a:ext cx="1410553" cy="1371600"/>
          </a:xfrm>
          <a:prstGeom prst="rect">
            <a:avLst/>
          </a:prstGeom>
          <a:noFill/>
          <a:ln/>
        </p:spPr>
        <p:txBody>
          <a:bodyPr wrap="square" lIns="0" tIns="0" rIns="0" bIns="0" rtlCol="0" anchor="t"/>
          <a:lstStyle/>
          <a:p>
            <a:pPr indent="0" marL="0">
              <a:buNone/>
            </a:pPr>
            <a:r>
              <a:rPr lang="en-US" sz="1400" dirty="0">
                <a:solidFill>
                  <a:srgbClr val="DCE6EF"/>
                </a:solidFill>
                <a:latin typeface="Segoe UI" pitchFamily="34" charset="0"/>
                <a:ea typeface="Segoe UI" pitchFamily="34" charset="-122"/>
                <a:cs typeface="Segoe UI" pitchFamily="34" charset="-120"/>
              </a:rPr>
              <a:t>Only you get the chime, buzz and spoken warning.</a:t>
            </a:r>
            <a:endParaRPr lang="en-US" sz="1400" dirty="0"/>
          </a:p>
        </p:txBody>
      </p:sp>
      <p:sp>
        <p:nvSpPr>
          <p:cNvPr id="36" name="!!subline"/>
          <p:cNvSpPr txBox="1"/>
          <p:nvPr/>
        </p:nvSpPr>
        <p:spPr>
          <a:xfrm>
            <a:off x="731520" y="5486400"/>
            <a:ext cx="10515600" cy="365760"/>
          </a:xfrm>
          <a:prstGeom prst="rect">
            <a:avLst/>
          </a:prstGeom>
          <a:noFill/>
          <a:ln/>
        </p:spPr>
        <p:txBody>
          <a:bodyPr wrap="square" lIns="0" tIns="0" rIns="0" bIns="0" rtlCol="0" anchor="t"/>
          <a:lstStyle/>
          <a:p>
            <a:pPr indent="0" marL="0">
              <a:buNone/>
            </a:pPr>
            <a:r>
              <a:rPr lang="en-US" sz="1600" b="1" dirty="0">
                <a:solidFill>
                  <a:srgbClr val="4B5563"/>
                </a:solidFill>
                <a:latin typeface="Segoe UI" pitchFamily="34" charset="0"/>
                <a:ea typeface="Segoe UI" pitchFamily="34" charset="-122"/>
                <a:cs typeface="Segoe UI" pitchFamily="34" charset="-120"/>
              </a:rPr>
              <a:t>Stored: no audio and no transcript.   Said: never “safe”.</a:t>
            </a:r>
            <a:endParaRPr lang="en-US" sz="16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halo-r3"/>
          <p:cNvSpPr/>
          <p:nvPr/>
        </p:nvSpPr>
        <p:spPr>
          <a:xfrm>
            <a:off x="10664190" y="240030"/>
            <a:ext cx="1257300" cy="1257300"/>
          </a:xfrm>
          <a:prstGeom prst="ellipse">
            <a:avLst/>
          </a:prstGeom>
          <a:solidFill>
            <a:srgbClr val="226192">
              <a:alpha val="0"/>
            </a:srgbClr>
          </a:solidFill>
          <a:ln w="13970">
            <a:solidFill>
              <a:srgbClr val="226192">
                <a:alpha val="18000"/>
              </a:srgbClr>
            </a:solidFill>
            <a:prstDash val="solid"/>
          </a:ln>
        </p:spPr>
      </p:sp>
      <p:sp>
        <p:nvSpPr>
          <p:cNvPr id="3" name="!!halo-r2"/>
          <p:cNvSpPr/>
          <p:nvPr/>
        </p:nvSpPr>
        <p:spPr>
          <a:xfrm>
            <a:off x="10812780" y="388620"/>
            <a:ext cx="960120" cy="960120"/>
          </a:xfrm>
          <a:prstGeom prst="ellipse">
            <a:avLst/>
          </a:prstGeom>
          <a:solidFill>
            <a:srgbClr val="226192">
              <a:alpha val="0"/>
            </a:srgbClr>
          </a:solidFill>
          <a:ln w="13970">
            <a:solidFill>
              <a:srgbClr val="226192">
                <a:alpha val="36000"/>
              </a:srgbClr>
            </a:solidFill>
            <a:prstDash val="solid"/>
          </a:ln>
        </p:spPr>
      </p:sp>
      <p:sp>
        <p:nvSpPr>
          <p:cNvPr id="4" name="!!halo-r1"/>
          <p:cNvSpPr/>
          <p:nvPr/>
        </p:nvSpPr>
        <p:spPr>
          <a:xfrm>
            <a:off x="10949940" y="525780"/>
            <a:ext cx="685800" cy="685800"/>
          </a:xfrm>
          <a:prstGeom prst="ellipse">
            <a:avLst/>
          </a:prstGeom>
          <a:solidFill>
            <a:srgbClr val="226192">
              <a:alpha val="0"/>
            </a:srgbClr>
          </a:solidFill>
          <a:ln w="13970">
            <a:solidFill>
              <a:srgbClr val="226192">
                <a:alpha val="60000"/>
              </a:srgbClr>
            </a:solidFill>
            <a:prstDash val="solid"/>
          </a:ln>
        </p:spPr>
      </p:sp>
      <p:sp>
        <p:nvSpPr>
          <p:cNvPr id="5" name="!!halo-core"/>
          <p:cNvSpPr/>
          <p:nvPr/>
        </p:nvSpPr>
        <p:spPr>
          <a:xfrm>
            <a:off x="11064240" y="640080"/>
            <a:ext cx="457200" cy="457200"/>
          </a:xfrm>
          <a:prstGeom prst="ellipse">
            <a:avLst/>
          </a:prstGeom>
          <a:solidFill>
            <a:srgbClr val="226192"/>
          </a:solidFill>
          <a:ln w="12700">
            <a:solidFill>
              <a:srgbClr val="226192"/>
            </a:solidFill>
            <a:prstDash val="solid"/>
          </a:ln>
        </p:spPr>
      </p:sp>
      <p:pic>
        <p:nvPicPr>
          <p:cNvPr id="6" name="!!halo-icon" descr="Scam check">    </p:cNvPr>
          <p:cNvPicPr>
            <a:picLocks noChangeAspect="1"/>
          </p:cNvPicPr>
          <p:nvPr/>
        </p:nvPicPr>
        <p:blipFill>
          <a:blip r:embed="rId1"/>
          <a:stretch>
            <a:fillRect/>
          </a:stretch>
        </p:blipFill>
        <p:spPr>
          <a:xfrm>
            <a:off x="11173968" y="749808"/>
            <a:ext cx="237744" cy="237744"/>
          </a:xfrm>
          <a:prstGeom prst="rect">
            <a:avLst/>
          </a:prstGeom>
        </p:spPr>
      </p:pic>
      <p:sp>
        <p:nvSpPr>
          <p:cNvPr id="7" name="!!kicker"/>
          <p:cNvSpPr txBox="1"/>
          <p:nvPr/>
        </p:nvSpPr>
        <p:spPr>
          <a:xfrm>
            <a:off x="731520" y="685800"/>
            <a:ext cx="5486400" cy="320040"/>
          </a:xfrm>
          <a:prstGeom prst="rect">
            <a:avLst/>
          </a:prstGeom>
          <a:noFill/>
          <a:ln/>
        </p:spPr>
        <p:txBody>
          <a:bodyPr wrap="square" lIns="0" tIns="0" rIns="0" bIns="0" rtlCol="0" anchor="t"/>
          <a:lstStyle/>
          <a:p>
            <a:pPr indent="0" marL="0">
              <a:buNone/>
            </a:pPr>
            <a:r>
              <a:rPr lang="en-US" sz="1400" b="1" spc="200" kern="0" dirty="0">
                <a:solidFill>
                  <a:srgbClr val="226192"/>
                </a:solidFill>
                <a:latin typeface="Segoe UI" pitchFamily="34" charset="0"/>
                <a:ea typeface="Segoe UI" pitchFamily="34" charset="-122"/>
                <a:cs typeface="Segoe UI" pitchFamily="34" charset="-120"/>
              </a:rPr>
              <a:t>DESIGN RULES</a:t>
            </a:r>
            <a:endParaRPr lang="en-US" sz="1400" dirty="0"/>
          </a:p>
        </p:txBody>
      </p:sp>
      <p:sp>
        <p:nvSpPr>
          <p:cNvPr id="8" name="!!headline"/>
          <p:cNvSpPr txBox="1"/>
          <p:nvPr/>
        </p:nvSpPr>
        <p:spPr>
          <a:xfrm>
            <a:off x="731520" y="1051560"/>
            <a:ext cx="9601200" cy="731520"/>
          </a:xfrm>
          <a:prstGeom prst="rect">
            <a:avLst/>
          </a:prstGeom>
          <a:noFill/>
          <a:ln/>
        </p:spPr>
        <p:txBody>
          <a:bodyPr wrap="square" lIns="0" tIns="0" rIns="0" bIns="0" rtlCol="0" anchor="t"/>
          <a:lstStyle/>
          <a:p>
            <a:pPr indent="0" marL="0">
              <a:buNone/>
            </a:pPr>
            <a:r>
              <a:rPr lang="en-US" sz="3600" b="1" dirty="0">
                <a:solidFill>
                  <a:srgbClr val="1F2937"/>
                </a:solidFill>
                <a:latin typeface="Segoe UI" pitchFamily="34" charset="0"/>
                <a:ea typeface="Segoe UI" pitchFamily="34" charset="-122"/>
                <a:cs typeface="Segoe UI" pitchFamily="34" charset="-120"/>
              </a:rPr>
              <a:t>Four rules we never break</a:t>
            </a:r>
            <a:endParaRPr lang="en-US" sz="3600" dirty="0"/>
          </a:p>
        </p:txBody>
      </p:sp>
      <p:sp>
        <p:nvSpPr>
          <p:cNvPr id="9" name="rule-0"/>
          <p:cNvSpPr/>
          <p:nvPr/>
        </p:nvSpPr>
        <p:spPr>
          <a:xfrm>
            <a:off x="731520" y="2103120"/>
            <a:ext cx="5257800" cy="1737360"/>
          </a:xfrm>
          <a:prstGeom prst="roundRect">
            <a:avLst>
              <a:gd name="adj" fmla="val 12632"/>
            </a:avLst>
          </a:prstGeom>
          <a:solidFill>
            <a:srgbClr val="FFFFFF"/>
          </a:solidFill>
          <a:ln w="12700">
            <a:solidFill>
              <a:srgbClr val="E6E8EB"/>
            </a:solidFill>
            <a:prstDash val="solid"/>
          </a:ln>
        </p:spPr>
      </p:sp>
      <p:sp>
        <p:nvSpPr>
          <p:cNvPr id="10" name="rule-badge-0"/>
          <p:cNvSpPr/>
          <p:nvPr/>
        </p:nvSpPr>
        <p:spPr>
          <a:xfrm>
            <a:off x="1051560" y="2423160"/>
            <a:ext cx="640080" cy="640080"/>
          </a:xfrm>
          <a:prstGeom prst="ellipse">
            <a:avLst/>
          </a:prstGeom>
          <a:solidFill>
            <a:srgbClr val="E3EDF5"/>
          </a:solidFill>
          <a:ln w="12700">
            <a:solidFill>
              <a:srgbClr val="E3EDF5"/>
            </a:solidFill>
            <a:prstDash val="solid"/>
          </a:ln>
        </p:spPr>
      </p:sp>
      <p:pic>
        <p:nvPicPr>
          <p:cNvPr id="11" name="rule-icon-0" descr="preencoded.png">    </p:cNvPr>
          <p:cNvPicPr>
            <a:picLocks noChangeAspect="1"/>
          </p:cNvPicPr>
          <p:nvPr/>
        </p:nvPicPr>
        <p:blipFill>
          <a:blip r:embed="rId2"/>
          <a:stretch>
            <a:fillRect/>
          </a:stretch>
        </p:blipFill>
        <p:spPr>
          <a:xfrm>
            <a:off x="1197864" y="2569464"/>
            <a:ext cx="347472" cy="347472"/>
          </a:xfrm>
          <a:prstGeom prst="rect">
            <a:avLst/>
          </a:prstGeom>
        </p:spPr>
      </p:pic>
      <p:sp>
        <p:nvSpPr>
          <p:cNvPr id="12" name="rule-title-0"/>
          <p:cNvSpPr txBox="1"/>
          <p:nvPr/>
        </p:nvSpPr>
        <p:spPr>
          <a:xfrm>
            <a:off x="1920240" y="2377440"/>
            <a:ext cx="3840480" cy="411480"/>
          </a:xfrm>
          <a:prstGeom prst="rect">
            <a:avLst/>
          </a:prstGeom>
          <a:noFill/>
          <a:ln/>
        </p:spPr>
        <p:txBody>
          <a:bodyPr wrap="square" lIns="0" tIns="0" rIns="0" bIns="0" rtlCol="0" anchor="t"/>
          <a:lstStyle/>
          <a:p>
            <a:pPr indent="0" marL="0">
              <a:buNone/>
            </a:pPr>
            <a:r>
              <a:rPr lang="en-US" sz="2000" b="1" dirty="0">
                <a:solidFill>
                  <a:srgbClr val="1F2937"/>
                </a:solidFill>
                <a:latin typeface="Segoe UI" pitchFamily="34" charset="0"/>
                <a:ea typeface="Segoe UI" pitchFamily="34" charset="-122"/>
                <a:cs typeface="Segoe UI" pitchFamily="34" charset="-120"/>
              </a:rPr>
              <a:t>Never says “safe”</a:t>
            </a:r>
            <a:endParaRPr lang="en-US" sz="2000" dirty="0"/>
          </a:p>
        </p:txBody>
      </p:sp>
      <p:sp>
        <p:nvSpPr>
          <p:cNvPr id="13" name="rule-body-0"/>
          <p:cNvSpPr txBox="1"/>
          <p:nvPr/>
        </p:nvSpPr>
        <p:spPr>
          <a:xfrm>
            <a:off x="1920240" y="2834640"/>
            <a:ext cx="3840480" cy="868680"/>
          </a:xfrm>
          <a:prstGeom prst="rect">
            <a:avLst/>
          </a:prstGeom>
          <a:noFill/>
          <a:ln/>
        </p:spPr>
        <p:txBody>
          <a:bodyPr wrap="square" lIns="0" tIns="0" rIns="0" bIns="0" rtlCol="0" anchor="t"/>
          <a:lstStyle/>
          <a:p>
            <a:pPr indent="0" marL="0">
              <a:buNone/>
            </a:pPr>
            <a:r>
              <a:rPr lang="en-US" sz="1500" dirty="0">
                <a:solidFill>
                  <a:srgbClr val="4B5563"/>
                </a:solidFill>
                <a:latin typeface="Segoe UI" pitchFamily="34" charset="0"/>
                <a:ea typeface="Segoe UI" pitchFamily="34" charset="-122"/>
                <a:cs typeface="Segoe UI" pitchFamily="34" charset="-120"/>
              </a:rPr>
              <a:t>No check can promise a call is safe, so the app never does. The halo is never green.</a:t>
            </a:r>
            <a:endParaRPr lang="en-US" sz="1500" dirty="0"/>
          </a:p>
        </p:txBody>
      </p:sp>
      <p:sp>
        <p:nvSpPr>
          <p:cNvPr id="14" name="rule-1"/>
          <p:cNvSpPr/>
          <p:nvPr/>
        </p:nvSpPr>
        <p:spPr>
          <a:xfrm>
            <a:off x="6217920" y="2103120"/>
            <a:ext cx="5257800" cy="1737360"/>
          </a:xfrm>
          <a:prstGeom prst="roundRect">
            <a:avLst>
              <a:gd name="adj" fmla="val 12632"/>
            </a:avLst>
          </a:prstGeom>
          <a:solidFill>
            <a:srgbClr val="FFFFFF"/>
          </a:solidFill>
          <a:ln w="12700">
            <a:solidFill>
              <a:srgbClr val="E6E8EB"/>
            </a:solidFill>
            <a:prstDash val="solid"/>
          </a:ln>
        </p:spPr>
      </p:sp>
      <p:sp>
        <p:nvSpPr>
          <p:cNvPr id="15" name="rule-badge-1"/>
          <p:cNvSpPr/>
          <p:nvPr/>
        </p:nvSpPr>
        <p:spPr>
          <a:xfrm>
            <a:off x="6537960" y="2423160"/>
            <a:ext cx="640080" cy="640080"/>
          </a:xfrm>
          <a:prstGeom prst="ellipse">
            <a:avLst/>
          </a:prstGeom>
          <a:solidFill>
            <a:srgbClr val="E3EDF5"/>
          </a:solidFill>
          <a:ln w="12700">
            <a:solidFill>
              <a:srgbClr val="E3EDF5"/>
            </a:solidFill>
            <a:prstDash val="solid"/>
          </a:ln>
        </p:spPr>
      </p:sp>
      <p:pic>
        <p:nvPicPr>
          <p:cNvPr id="16" name="rule-icon-1" descr="preencoded.png">    </p:cNvPr>
          <p:cNvPicPr>
            <a:picLocks noChangeAspect="1"/>
          </p:cNvPicPr>
          <p:nvPr/>
        </p:nvPicPr>
        <p:blipFill>
          <a:blip r:embed="rId3"/>
          <a:stretch>
            <a:fillRect/>
          </a:stretch>
        </p:blipFill>
        <p:spPr>
          <a:xfrm>
            <a:off x="6684264" y="2569464"/>
            <a:ext cx="347472" cy="347472"/>
          </a:xfrm>
          <a:prstGeom prst="rect">
            <a:avLst/>
          </a:prstGeom>
        </p:spPr>
      </p:pic>
      <p:sp>
        <p:nvSpPr>
          <p:cNvPr id="17" name="rule-title-1"/>
          <p:cNvSpPr txBox="1"/>
          <p:nvPr/>
        </p:nvSpPr>
        <p:spPr>
          <a:xfrm>
            <a:off x="7406640" y="2377440"/>
            <a:ext cx="3840480" cy="411480"/>
          </a:xfrm>
          <a:prstGeom prst="rect">
            <a:avLst/>
          </a:prstGeom>
          <a:noFill/>
          <a:ln/>
        </p:spPr>
        <p:txBody>
          <a:bodyPr wrap="square" lIns="0" tIns="0" rIns="0" bIns="0" rtlCol="0" anchor="t"/>
          <a:lstStyle/>
          <a:p>
            <a:pPr indent="0" marL="0">
              <a:buNone/>
            </a:pPr>
            <a:r>
              <a:rPr lang="en-US" sz="2000" b="1" dirty="0">
                <a:solidFill>
                  <a:srgbClr val="1F2937"/>
                </a:solidFill>
                <a:latin typeface="Segoe UI" pitchFamily="34" charset="0"/>
                <a:ea typeface="Segoe UI" pitchFamily="34" charset="-122"/>
                <a:cs typeface="Segoe UI" pitchFamily="34" charset="-120"/>
              </a:rPr>
              <a:t>One tap to end, a hold to go on</a:t>
            </a:r>
            <a:endParaRPr lang="en-US" sz="2000" dirty="0"/>
          </a:p>
        </p:txBody>
      </p:sp>
      <p:sp>
        <p:nvSpPr>
          <p:cNvPr id="18" name="rule-body-1"/>
          <p:cNvSpPr txBox="1"/>
          <p:nvPr/>
        </p:nvSpPr>
        <p:spPr>
          <a:xfrm>
            <a:off x="7406640" y="2834640"/>
            <a:ext cx="3840480" cy="868680"/>
          </a:xfrm>
          <a:prstGeom prst="rect">
            <a:avLst/>
          </a:prstGeom>
          <a:noFill/>
          <a:ln/>
        </p:spPr>
        <p:txBody>
          <a:bodyPr wrap="square" lIns="0" tIns="0" rIns="0" bIns="0" rtlCol="0" anchor="t"/>
          <a:lstStyle/>
          <a:p>
            <a:pPr indent="0" marL="0">
              <a:buNone/>
            </a:pPr>
            <a:r>
              <a:rPr lang="en-US" sz="1500" dirty="0">
                <a:solidFill>
                  <a:srgbClr val="4B5563"/>
                </a:solidFill>
                <a:latin typeface="Segoe UI" pitchFamily="34" charset="0"/>
                <a:ea typeface="Segoe UI" pitchFamily="34" charset="-122"/>
                <a:cs typeface="Segoe UI" pitchFamily="34" charset="-120"/>
              </a:rPr>
              <a:t>Ending the call is the biggest button. Keeping on talking takes a deliberate press and hold.</a:t>
            </a:r>
            <a:endParaRPr lang="en-US" sz="1500" dirty="0"/>
          </a:p>
        </p:txBody>
      </p:sp>
      <p:sp>
        <p:nvSpPr>
          <p:cNvPr id="19" name="rule-2"/>
          <p:cNvSpPr/>
          <p:nvPr/>
        </p:nvSpPr>
        <p:spPr>
          <a:xfrm>
            <a:off x="731520" y="4069080"/>
            <a:ext cx="5257800" cy="1737360"/>
          </a:xfrm>
          <a:prstGeom prst="roundRect">
            <a:avLst>
              <a:gd name="adj" fmla="val 12632"/>
            </a:avLst>
          </a:prstGeom>
          <a:solidFill>
            <a:srgbClr val="FFFFFF"/>
          </a:solidFill>
          <a:ln w="12700">
            <a:solidFill>
              <a:srgbClr val="E6E8EB"/>
            </a:solidFill>
            <a:prstDash val="solid"/>
          </a:ln>
        </p:spPr>
      </p:sp>
      <p:sp>
        <p:nvSpPr>
          <p:cNvPr id="20" name="rule-badge-2"/>
          <p:cNvSpPr/>
          <p:nvPr/>
        </p:nvSpPr>
        <p:spPr>
          <a:xfrm>
            <a:off x="1051560" y="4389120"/>
            <a:ext cx="640080" cy="640080"/>
          </a:xfrm>
          <a:prstGeom prst="ellipse">
            <a:avLst/>
          </a:prstGeom>
          <a:solidFill>
            <a:srgbClr val="E3EDF5"/>
          </a:solidFill>
          <a:ln w="12700">
            <a:solidFill>
              <a:srgbClr val="E3EDF5"/>
            </a:solidFill>
            <a:prstDash val="solid"/>
          </a:ln>
        </p:spPr>
      </p:sp>
      <p:pic>
        <p:nvPicPr>
          <p:cNvPr id="21" name="rule-icon-2" descr="preencoded.png">    </p:cNvPr>
          <p:cNvPicPr>
            <a:picLocks noChangeAspect="1"/>
          </p:cNvPicPr>
          <p:nvPr/>
        </p:nvPicPr>
        <p:blipFill>
          <a:blip r:embed="rId4"/>
          <a:stretch>
            <a:fillRect/>
          </a:stretch>
        </p:blipFill>
        <p:spPr>
          <a:xfrm>
            <a:off x="1197864" y="4535424"/>
            <a:ext cx="347472" cy="347472"/>
          </a:xfrm>
          <a:prstGeom prst="rect">
            <a:avLst/>
          </a:prstGeom>
        </p:spPr>
      </p:pic>
      <p:sp>
        <p:nvSpPr>
          <p:cNvPr id="22" name="rule-title-2"/>
          <p:cNvSpPr txBox="1"/>
          <p:nvPr/>
        </p:nvSpPr>
        <p:spPr>
          <a:xfrm>
            <a:off x="1920240" y="4343400"/>
            <a:ext cx="3840480" cy="411480"/>
          </a:xfrm>
          <a:prstGeom prst="rect">
            <a:avLst/>
          </a:prstGeom>
          <a:noFill/>
          <a:ln/>
        </p:spPr>
        <p:txBody>
          <a:bodyPr wrap="square" lIns="0" tIns="0" rIns="0" bIns="0" rtlCol="0" anchor="t"/>
          <a:lstStyle/>
          <a:p>
            <a:pPr indent="0" marL="0">
              <a:buNone/>
            </a:pPr>
            <a:r>
              <a:rPr lang="en-US" sz="2000" b="1" dirty="0">
                <a:solidFill>
                  <a:srgbClr val="1F2937"/>
                </a:solidFill>
                <a:latin typeface="Segoe UI" pitchFamily="34" charset="0"/>
                <a:ea typeface="Segoe UI" pitchFamily="34" charset="-122"/>
                <a:cs typeface="Segoe UI" pitchFamily="34" charset="-120"/>
              </a:rPr>
              <a:t>Nothing recorded</a:t>
            </a:r>
            <a:endParaRPr lang="en-US" sz="2000" dirty="0"/>
          </a:p>
        </p:txBody>
      </p:sp>
      <p:sp>
        <p:nvSpPr>
          <p:cNvPr id="23" name="rule-body-2"/>
          <p:cNvSpPr txBox="1"/>
          <p:nvPr/>
        </p:nvSpPr>
        <p:spPr>
          <a:xfrm>
            <a:off x="1920240" y="4800600"/>
            <a:ext cx="3840480" cy="868680"/>
          </a:xfrm>
          <a:prstGeom prst="rect">
            <a:avLst/>
          </a:prstGeom>
          <a:noFill/>
          <a:ln/>
        </p:spPr>
        <p:txBody>
          <a:bodyPr wrap="square" lIns="0" tIns="0" rIns="0" bIns="0" rtlCol="0" anchor="t"/>
          <a:lstStyle/>
          <a:p>
            <a:pPr indent="0" marL="0">
              <a:buNone/>
            </a:pPr>
            <a:r>
              <a:rPr lang="en-US" sz="1500" dirty="0">
                <a:solidFill>
                  <a:srgbClr val="4B5563"/>
                </a:solidFill>
                <a:latin typeface="Segoe UI" pitchFamily="34" charset="0"/>
                <a:ea typeface="Segoe UI" pitchFamily="34" charset="-122"/>
                <a:cs typeface="Segoe UI" pitchFamily="34" charset="-120"/>
              </a:rPr>
              <a:t>No audio and no transcript are stored. The call story keeps only request types and times.</a:t>
            </a:r>
            <a:endParaRPr lang="en-US" sz="1500" dirty="0"/>
          </a:p>
        </p:txBody>
      </p:sp>
      <p:sp>
        <p:nvSpPr>
          <p:cNvPr id="24" name="rule-3"/>
          <p:cNvSpPr/>
          <p:nvPr/>
        </p:nvSpPr>
        <p:spPr>
          <a:xfrm>
            <a:off x="6217920" y="4069080"/>
            <a:ext cx="5257800" cy="1737360"/>
          </a:xfrm>
          <a:prstGeom prst="roundRect">
            <a:avLst>
              <a:gd name="adj" fmla="val 12632"/>
            </a:avLst>
          </a:prstGeom>
          <a:solidFill>
            <a:srgbClr val="FFFFFF"/>
          </a:solidFill>
          <a:ln w="12700">
            <a:solidFill>
              <a:srgbClr val="E6E8EB"/>
            </a:solidFill>
            <a:prstDash val="solid"/>
          </a:ln>
        </p:spPr>
      </p:sp>
      <p:sp>
        <p:nvSpPr>
          <p:cNvPr id="25" name="rule-badge-3"/>
          <p:cNvSpPr/>
          <p:nvPr/>
        </p:nvSpPr>
        <p:spPr>
          <a:xfrm>
            <a:off x="6537960" y="4389120"/>
            <a:ext cx="640080" cy="640080"/>
          </a:xfrm>
          <a:prstGeom prst="ellipse">
            <a:avLst/>
          </a:prstGeom>
          <a:solidFill>
            <a:srgbClr val="E3EDF5"/>
          </a:solidFill>
          <a:ln w="12700">
            <a:solidFill>
              <a:srgbClr val="E3EDF5"/>
            </a:solidFill>
            <a:prstDash val="solid"/>
          </a:ln>
        </p:spPr>
      </p:sp>
      <p:pic>
        <p:nvPicPr>
          <p:cNvPr id="26" name="rule-icon-3" descr="preencoded.png">    </p:cNvPr>
          <p:cNvPicPr>
            <a:picLocks noChangeAspect="1"/>
          </p:cNvPicPr>
          <p:nvPr/>
        </p:nvPicPr>
        <p:blipFill>
          <a:blip r:embed="rId5"/>
          <a:stretch>
            <a:fillRect/>
          </a:stretch>
        </p:blipFill>
        <p:spPr>
          <a:xfrm>
            <a:off x="6684264" y="4535424"/>
            <a:ext cx="347472" cy="347472"/>
          </a:xfrm>
          <a:prstGeom prst="rect">
            <a:avLst/>
          </a:prstGeom>
        </p:spPr>
      </p:pic>
      <p:sp>
        <p:nvSpPr>
          <p:cNvPr id="27" name="rule-title-3"/>
          <p:cNvSpPr txBox="1"/>
          <p:nvPr/>
        </p:nvSpPr>
        <p:spPr>
          <a:xfrm>
            <a:off x="7406640" y="4343400"/>
            <a:ext cx="3840480" cy="411480"/>
          </a:xfrm>
          <a:prstGeom prst="rect">
            <a:avLst/>
          </a:prstGeom>
          <a:noFill/>
          <a:ln/>
        </p:spPr>
        <p:txBody>
          <a:bodyPr wrap="square" lIns="0" tIns="0" rIns="0" bIns="0" rtlCol="0" anchor="t"/>
          <a:lstStyle/>
          <a:p>
            <a:pPr indent="0" marL="0">
              <a:buNone/>
            </a:pPr>
            <a:r>
              <a:rPr lang="en-US" sz="2000" b="1" dirty="0">
                <a:solidFill>
                  <a:srgbClr val="1F2937"/>
                </a:solidFill>
                <a:latin typeface="Segoe UI" pitchFamily="34" charset="0"/>
                <a:ea typeface="Segoe UI" pitchFamily="34" charset="-122"/>
                <a:cs typeface="Segoe UI" pitchFamily="34" charset="-120"/>
              </a:rPr>
              <a:t>Any Android phone</a:t>
            </a:r>
            <a:endParaRPr lang="en-US" sz="2000" dirty="0"/>
          </a:p>
        </p:txBody>
      </p:sp>
      <p:sp>
        <p:nvSpPr>
          <p:cNvPr id="28" name="rule-body-3"/>
          <p:cNvSpPr txBox="1"/>
          <p:nvPr/>
        </p:nvSpPr>
        <p:spPr>
          <a:xfrm>
            <a:off x="7406640" y="4800600"/>
            <a:ext cx="3840480" cy="868680"/>
          </a:xfrm>
          <a:prstGeom prst="rect">
            <a:avLst/>
          </a:prstGeom>
          <a:noFill/>
          <a:ln/>
        </p:spPr>
        <p:txBody>
          <a:bodyPr wrap="square" lIns="0" tIns="0" rIns="0" bIns="0" rtlCol="0" anchor="t"/>
          <a:lstStyle/>
          <a:p>
            <a:pPr indent="0" marL="0">
              <a:buNone/>
            </a:pPr>
            <a:r>
              <a:rPr lang="en-US" sz="1500" dirty="0">
                <a:solidFill>
                  <a:srgbClr val="4B5563"/>
                </a:solidFill>
                <a:latin typeface="Segoe UI" pitchFamily="34" charset="0"/>
                <a:ea typeface="Segoe UI" pitchFamily="34" charset="-122"/>
                <a:cs typeface="Segoe UI" pitchFamily="34" charset="-120"/>
              </a:rPr>
              <a:t>The checking runs on our server, so a budget phone gets the same protection.</a:t>
            </a:r>
            <a:endParaRPr lang="en-US" sz="15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halo-r3"/>
          <p:cNvSpPr/>
          <p:nvPr/>
        </p:nvSpPr>
        <p:spPr>
          <a:xfrm>
            <a:off x="10664190" y="240030"/>
            <a:ext cx="1257300" cy="1257300"/>
          </a:xfrm>
          <a:prstGeom prst="ellipse">
            <a:avLst/>
          </a:prstGeom>
          <a:solidFill>
            <a:srgbClr val="226192">
              <a:alpha val="0"/>
            </a:srgbClr>
          </a:solidFill>
          <a:ln w="13970">
            <a:solidFill>
              <a:srgbClr val="226192">
                <a:alpha val="18000"/>
              </a:srgbClr>
            </a:solidFill>
            <a:prstDash val="solid"/>
          </a:ln>
        </p:spPr>
      </p:sp>
      <p:sp>
        <p:nvSpPr>
          <p:cNvPr id="3" name="!!halo-r2"/>
          <p:cNvSpPr/>
          <p:nvPr/>
        </p:nvSpPr>
        <p:spPr>
          <a:xfrm>
            <a:off x="10812780" y="388620"/>
            <a:ext cx="960120" cy="960120"/>
          </a:xfrm>
          <a:prstGeom prst="ellipse">
            <a:avLst/>
          </a:prstGeom>
          <a:solidFill>
            <a:srgbClr val="226192">
              <a:alpha val="0"/>
            </a:srgbClr>
          </a:solidFill>
          <a:ln w="13970">
            <a:solidFill>
              <a:srgbClr val="226192">
                <a:alpha val="36000"/>
              </a:srgbClr>
            </a:solidFill>
            <a:prstDash val="solid"/>
          </a:ln>
        </p:spPr>
      </p:sp>
      <p:sp>
        <p:nvSpPr>
          <p:cNvPr id="4" name="!!halo-r1"/>
          <p:cNvSpPr/>
          <p:nvPr/>
        </p:nvSpPr>
        <p:spPr>
          <a:xfrm>
            <a:off x="10949940" y="525780"/>
            <a:ext cx="685800" cy="685800"/>
          </a:xfrm>
          <a:prstGeom prst="ellipse">
            <a:avLst/>
          </a:prstGeom>
          <a:solidFill>
            <a:srgbClr val="226192">
              <a:alpha val="0"/>
            </a:srgbClr>
          </a:solidFill>
          <a:ln w="13970">
            <a:solidFill>
              <a:srgbClr val="226192">
                <a:alpha val="60000"/>
              </a:srgbClr>
            </a:solidFill>
            <a:prstDash val="solid"/>
          </a:ln>
        </p:spPr>
      </p:sp>
      <p:sp>
        <p:nvSpPr>
          <p:cNvPr id="5" name="!!halo-core"/>
          <p:cNvSpPr/>
          <p:nvPr/>
        </p:nvSpPr>
        <p:spPr>
          <a:xfrm>
            <a:off x="11064240" y="640080"/>
            <a:ext cx="457200" cy="457200"/>
          </a:xfrm>
          <a:prstGeom prst="ellipse">
            <a:avLst/>
          </a:prstGeom>
          <a:solidFill>
            <a:srgbClr val="226192"/>
          </a:solidFill>
          <a:ln w="12700">
            <a:solidFill>
              <a:srgbClr val="226192"/>
            </a:solidFill>
            <a:prstDash val="solid"/>
          </a:ln>
        </p:spPr>
      </p:sp>
      <p:pic>
        <p:nvPicPr>
          <p:cNvPr id="6" name="!!halo-icon" descr="Scam check">    </p:cNvPr>
          <p:cNvPicPr>
            <a:picLocks noChangeAspect="1"/>
          </p:cNvPicPr>
          <p:nvPr/>
        </p:nvPicPr>
        <p:blipFill>
          <a:blip r:embed="rId1"/>
          <a:stretch>
            <a:fillRect/>
          </a:stretch>
        </p:blipFill>
        <p:spPr>
          <a:xfrm>
            <a:off x="11173968" y="749808"/>
            <a:ext cx="237744" cy="237744"/>
          </a:xfrm>
          <a:prstGeom prst="rect">
            <a:avLst/>
          </a:prstGeom>
        </p:spPr>
      </p:pic>
      <p:sp>
        <p:nvSpPr>
          <p:cNvPr id="7" name="!!kicker"/>
          <p:cNvSpPr txBox="1"/>
          <p:nvPr/>
        </p:nvSpPr>
        <p:spPr>
          <a:xfrm>
            <a:off x="731520" y="685800"/>
            <a:ext cx="5486400" cy="320040"/>
          </a:xfrm>
          <a:prstGeom prst="rect">
            <a:avLst/>
          </a:prstGeom>
          <a:noFill/>
          <a:ln/>
        </p:spPr>
        <p:txBody>
          <a:bodyPr wrap="square" lIns="0" tIns="0" rIns="0" bIns="0" rtlCol="0" anchor="t"/>
          <a:lstStyle/>
          <a:p>
            <a:pPr indent="0" marL="0">
              <a:buNone/>
            </a:pPr>
            <a:r>
              <a:rPr lang="en-US" sz="1400" b="1" spc="200" kern="0" dirty="0">
                <a:solidFill>
                  <a:srgbClr val="226192"/>
                </a:solidFill>
                <a:latin typeface="Segoe UI" pitchFamily="34" charset="0"/>
                <a:ea typeface="Segoe UI" pitchFamily="34" charset="-122"/>
                <a:cs typeface="Segoe UI" pitchFamily="34" charset="-120"/>
              </a:rPr>
              <a:t>NEXT</a:t>
            </a:r>
            <a:endParaRPr lang="en-US" sz="1400" dirty="0"/>
          </a:p>
        </p:txBody>
      </p:sp>
      <p:sp>
        <p:nvSpPr>
          <p:cNvPr id="8" name="!!headline"/>
          <p:cNvSpPr txBox="1"/>
          <p:nvPr/>
        </p:nvSpPr>
        <p:spPr>
          <a:xfrm>
            <a:off x="731520" y="1051560"/>
            <a:ext cx="9601200" cy="731520"/>
          </a:xfrm>
          <a:prstGeom prst="rect">
            <a:avLst/>
          </a:prstGeom>
          <a:noFill/>
          <a:ln/>
        </p:spPr>
        <p:txBody>
          <a:bodyPr wrap="square" lIns="0" tIns="0" rIns="0" bIns="0" rtlCol="0" anchor="t"/>
          <a:lstStyle/>
          <a:p>
            <a:pPr indent="0" marL="0">
              <a:buNone/>
            </a:pPr>
            <a:r>
              <a:rPr lang="en-US" sz="3600" b="1" dirty="0">
                <a:solidFill>
                  <a:srgbClr val="1F2937"/>
                </a:solidFill>
                <a:latin typeface="Segoe UI" pitchFamily="34" charset="0"/>
                <a:ea typeface="Segoe UI" pitchFamily="34" charset="-122"/>
                <a:cs typeface="Segoe UI" pitchFamily="34" charset="-120"/>
              </a:rPr>
              <a:t>Where it goes after this weekend</a:t>
            </a:r>
            <a:endParaRPr lang="en-US" sz="3600" dirty="0"/>
          </a:p>
        </p:txBody>
      </p:sp>
      <p:sp>
        <p:nvSpPr>
          <p:cNvPr id="9" name="next-line"/>
          <p:cNvSpPr/>
          <p:nvPr/>
        </p:nvSpPr>
        <p:spPr>
          <a:xfrm>
            <a:off x="1051560" y="2606040"/>
            <a:ext cx="8229600" cy="0"/>
          </a:xfrm>
          <a:prstGeom prst="line">
            <a:avLst/>
          </a:prstGeom>
          <a:noFill/>
          <a:ln w="25400">
            <a:solidFill>
              <a:srgbClr val="C9CDD3"/>
            </a:solidFill>
            <a:prstDash val="solid"/>
          </a:ln>
        </p:spPr>
      </p:sp>
      <p:sp>
        <p:nvSpPr>
          <p:cNvPr id="10" name="next-dot-0"/>
          <p:cNvSpPr/>
          <p:nvPr/>
        </p:nvSpPr>
        <p:spPr>
          <a:xfrm>
            <a:off x="731520" y="2286000"/>
            <a:ext cx="640080" cy="640080"/>
          </a:xfrm>
          <a:prstGeom prst="ellipse">
            <a:avLst/>
          </a:prstGeom>
          <a:solidFill>
            <a:srgbClr val="226192"/>
          </a:solidFill>
          <a:ln w="25400">
            <a:solidFill>
              <a:srgbClr val="226192"/>
            </a:solidFill>
            <a:prstDash val="solid"/>
          </a:ln>
        </p:spPr>
      </p:sp>
      <p:pic>
        <p:nvPicPr>
          <p:cNvPr id="11" name="next-icon-0" descr="preencoded.png">    </p:cNvPr>
          <p:cNvPicPr>
            <a:picLocks noChangeAspect="1"/>
          </p:cNvPicPr>
          <p:nvPr/>
        </p:nvPicPr>
        <p:blipFill>
          <a:blip r:embed="rId2"/>
          <a:stretch>
            <a:fillRect/>
          </a:stretch>
        </p:blipFill>
        <p:spPr>
          <a:xfrm>
            <a:off x="886968" y="2441448"/>
            <a:ext cx="329184" cy="329184"/>
          </a:xfrm>
          <a:prstGeom prst="rect">
            <a:avLst/>
          </a:prstGeom>
        </p:spPr>
      </p:pic>
      <p:sp>
        <p:nvSpPr>
          <p:cNvPr id="12" name="next-title-0"/>
          <p:cNvSpPr txBox="1"/>
          <p:nvPr/>
        </p:nvSpPr>
        <p:spPr>
          <a:xfrm>
            <a:off x="731520" y="3200400"/>
            <a:ext cx="2468880" cy="411480"/>
          </a:xfrm>
          <a:prstGeom prst="rect">
            <a:avLst/>
          </a:prstGeom>
          <a:noFill/>
          <a:ln/>
        </p:spPr>
        <p:txBody>
          <a:bodyPr wrap="square" lIns="0" tIns="0" rIns="0" bIns="0" rtlCol="0" anchor="t"/>
          <a:lstStyle/>
          <a:p>
            <a:pPr indent="0" marL="0">
              <a:buNone/>
            </a:pPr>
            <a:r>
              <a:rPr lang="en-US" sz="2000" b="1" dirty="0">
                <a:solidFill>
                  <a:srgbClr val="1F2937"/>
                </a:solidFill>
                <a:latin typeface="Segoe UI" pitchFamily="34" charset="0"/>
                <a:ea typeface="Segoe UI" pitchFamily="34" charset="-122"/>
                <a:cs typeface="Segoe UI" pitchFamily="34" charset="-120"/>
              </a:rPr>
              <a:t>Your own number</a:t>
            </a:r>
            <a:endParaRPr lang="en-US" sz="2000" dirty="0"/>
          </a:p>
        </p:txBody>
      </p:sp>
      <p:sp>
        <p:nvSpPr>
          <p:cNvPr id="13" name="next-body-0"/>
          <p:cNvSpPr txBox="1"/>
          <p:nvPr/>
        </p:nvSpPr>
        <p:spPr>
          <a:xfrm>
            <a:off x="731520" y="3657600"/>
            <a:ext cx="2377440" cy="1097280"/>
          </a:xfrm>
          <a:prstGeom prst="rect">
            <a:avLst/>
          </a:prstGeom>
          <a:noFill/>
          <a:ln/>
        </p:spPr>
        <p:txBody>
          <a:bodyPr wrap="square" lIns="0" tIns="0" rIns="0" bIns="0" rtlCol="0" anchor="t"/>
          <a:lstStyle/>
          <a:p>
            <a:pPr indent="0" marL="0">
              <a:buNone/>
            </a:pPr>
            <a:r>
              <a:rPr lang="en-US" sz="1500" dirty="0">
                <a:solidFill>
                  <a:srgbClr val="4B5563"/>
                </a:solidFill>
                <a:latin typeface="Segoe UI" pitchFamily="34" charset="0"/>
                <a:ea typeface="Segoe UI" pitchFamily="34" charset="-122"/>
                <a:cs typeface="Segoe UI" pitchFamily="34" charset="-120"/>
              </a:rPr>
              <a:t>Forward unknown calls from your number to the service.</a:t>
            </a:r>
            <a:endParaRPr lang="en-US" sz="1500" dirty="0"/>
          </a:p>
        </p:txBody>
      </p:sp>
      <p:sp>
        <p:nvSpPr>
          <p:cNvPr id="14" name="next-dot-1"/>
          <p:cNvSpPr/>
          <p:nvPr/>
        </p:nvSpPr>
        <p:spPr>
          <a:xfrm>
            <a:off x="3474720" y="2286000"/>
            <a:ext cx="640080" cy="640080"/>
          </a:xfrm>
          <a:prstGeom prst="ellipse">
            <a:avLst/>
          </a:prstGeom>
          <a:solidFill>
            <a:srgbClr val="FFFFFF"/>
          </a:solidFill>
          <a:ln w="25400">
            <a:solidFill>
              <a:srgbClr val="226192"/>
            </a:solidFill>
            <a:prstDash val="solid"/>
          </a:ln>
        </p:spPr>
      </p:sp>
      <p:pic>
        <p:nvPicPr>
          <p:cNvPr id="15" name="next-icon-1" descr="preencoded.png">    </p:cNvPr>
          <p:cNvPicPr>
            <a:picLocks noChangeAspect="1"/>
          </p:cNvPicPr>
          <p:nvPr/>
        </p:nvPicPr>
        <p:blipFill>
          <a:blip r:embed="rId3"/>
          <a:stretch>
            <a:fillRect/>
          </a:stretch>
        </p:blipFill>
        <p:spPr>
          <a:xfrm>
            <a:off x="3630168" y="2441448"/>
            <a:ext cx="329184" cy="329184"/>
          </a:xfrm>
          <a:prstGeom prst="rect">
            <a:avLst/>
          </a:prstGeom>
        </p:spPr>
      </p:pic>
      <p:sp>
        <p:nvSpPr>
          <p:cNvPr id="16" name="next-title-1"/>
          <p:cNvSpPr txBox="1"/>
          <p:nvPr/>
        </p:nvSpPr>
        <p:spPr>
          <a:xfrm>
            <a:off x="3474720" y="3200400"/>
            <a:ext cx="2468880" cy="411480"/>
          </a:xfrm>
          <a:prstGeom prst="rect">
            <a:avLst/>
          </a:prstGeom>
          <a:noFill/>
          <a:ln/>
        </p:spPr>
        <p:txBody>
          <a:bodyPr wrap="square" lIns="0" tIns="0" rIns="0" bIns="0" rtlCol="0" anchor="t"/>
          <a:lstStyle/>
          <a:p>
            <a:pPr indent="0" marL="0">
              <a:buNone/>
            </a:pPr>
            <a:r>
              <a:rPr lang="en-US" sz="2000" b="1" dirty="0">
                <a:solidFill>
                  <a:srgbClr val="1F2937"/>
                </a:solidFill>
                <a:latin typeface="Segoe UI" pitchFamily="34" charset="0"/>
                <a:ea typeface="Segoe UI" pitchFamily="34" charset="-122"/>
                <a:cs typeface="Segoe UI" pitchFamily="34" charset="-120"/>
              </a:rPr>
              <a:t>Before the call</a:t>
            </a:r>
            <a:endParaRPr lang="en-US" sz="2000" dirty="0"/>
          </a:p>
        </p:txBody>
      </p:sp>
      <p:sp>
        <p:nvSpPr>
          <p:cNvPr id="17" name="next-body-1"/>
          <p:cNvSpPr txBox="1"/>
          <p:nvPr/>
        </p:nvSpPr>
        <p:spPr>
          <a:xfrm>
            <a:off x="3474720" y="3657600"/>
            <a:ext cx="2377440" cy="1097280"/>
          </a:xfrm>
          <a:prstGeom prst="rect">
            <a:avLst/>
          </a:prstGeom>
          <a:noFill/>
          <a:ln/>
        </p:spPr>
        <p:txBody>
          <a:bodyPr wrap="square" lIns="0" tIns="0" rIns="0" bIns="0" rtlCol="0" anchor="t"/>
          <a:lstStyle/>
          <a:p>
            <a:pPr indent="0" marL="0">
              <a:buNone/>
            </a:pPr>
            <a:r>
              <a:rPr lang="en-US" sz="1500" dirty="0">
                <a:solidFill>
                  <a:srgbClr val="4B5563"/>
                </a:solidFill>
                <a:latin typeface="Segoe UI" pitchFamily="34" charset="0"/>
                <a:ea typeface="Segoe UI" pitchFamily="34" charset="-122"/>
                <a:cs typeface="Segoe UI" pitchFamily="34" charset="-120"/>
              </a:rPr>
              <a:t>Flag a QR image or payment link sent in chat.</a:t>
            </a:r>
            <a:endParaRPr lang="en-US" sz="1500" dirty="0"/>
          </a:p>
        </p:txBody>
      </p:sp>
      <p:sp>
        <p:nvSpPr>
          <p:cNvPr id="18" name="next-dot-2"/>
          <p:cNvSpPr/>
          <p:nvPr/>
        </p:nvSpPr>
        <p:spPr>
          <a:xfrm>
            <a:off x="6217920" y="2286000"/>
            <a:ext cx="640080" cy="640080"/>
          </a:xfrm>
          <a:prstGeom prst="ellipse">
            <a:avLst/>
          </a:prstGeom>
          <a:solidFill>
            <a:srgbClr val="FFFFFF"/>
          </a:solidFill>
          <a:ln w="25400">
            <a:solidFill>
              <a:srgbClr val="226192"/>
            </a:solidFill>
            <a:prstDash val="solid"/>
          </a:ln>
        </p:spPr>
      </p:sp>
      <p:pic>
        <p:nvPicPr>
          <p:cNvPr id="19" name="next-icon-2" descr="preencoded.png">    </p:cNvPr>
          <p:cNvPicPr>
            <a:picLocks noChangeAspect="1"/>
          </p:cNvPicPr>
          <p:nvPr/>
        </p:nvPicPr>
        <p:blipFill>
          <a:blip r:embed="rId4"/>
          <a:stretch>
            <a:fillRect/>
          </a:stretch>
        </p:blipFill>
        <p:spPr>
          <a:xfrm>
            <a:off x="6373368" y="2441448"/>
            <a:ext cx="329184" cy="329184"/>
          </a:xfrm>
          <a:prstGeom prst="rect">
            <a:avLst/>
          </a:prstGeom>
        </p:spPr>
      </p:pic>
      <p:sp>
        <p:nvSpPr>
          <p:cNvPr id="20" name="next-title-2"/>
          <p:cNvSpPr txBox="1"/>
          <p:nvPr/>
        </p:nvSpPr>
        <p:spPr>
          <a:xfrm>
            <a:off x="6217920" y="3200400"/>
            <a:ext cx="2468880" cy="411480"/>
          </a:xfrm>
          <a:prstGeom prst="rect">
            <a:avLst/>
          </a:prstGeom>
          <a:noFill/>
          <a:ln/>
        </p:spPr>
        <p:txBody>
          <a:bodyPr wrap="square" lIns="0" tIns="0" rIns="0" bIns="0" rtlCol="0" anchor="t"/>
          <a:lstStyle/>
          <a:p>
            <a:pPr indent="0" marL="0">
              <a:buNone/>
            </a:pPr>
            <a:r>
              <a:rPr lang="en-US" sz="2000" b="1" dirty="0">
                <a:solidFill>
                  <a:srgbClr val="1F2937"/>
                </a:solidFill>
                <a:latin typeface="Segoe UI" pitchFamily="34" charset="0"/>
                <a:ea typeface="Segoe UI" pitchFamily="34" charset="-122"/>
                <a:cs typeface="Segoe UI" pitchFamily="34" charset="-120"/>
              </a:rPr>
              <a:t>Account reputation</a:t>
            </a:r>
            <a:endParaRPr lang="en-US" sz="2000" dirty="0"/>
          </a:p>
        </p:txBody>
      </p:sp>
      <p:sp>
        <p:nvSpPr>
          <p:cNvPr id="21" name="next-body-2"/>
          <p:cNvSpPr txBox="1"/>
          <p:nvPr/>
        </p:nvSpPr>
        <p:spPr>
          <a:xfrm>
            <a:off x="6217920" y="3657600"/>
            <a:ext cx="2377440" cy="1097280"/>
          </a:xfrm>
          <a:prstGeom prst="rect">
            <a:avLst/>
          </a:prstGeom>
          <a:noFill/>
          <a:ln/>
        </p:spPr>
        <p:txBody>
          <a:bodyPr wrap="square" lIns="0" tIns="0" rIns="0" bIns="0" rtlCol="0" anchor="t"/>
          <a:lstStyle/>
          <a:p>
            <a:pPr indent="0" marL="0">
              <a:buNone/>
            </a:pPr>
            <a:r>
              <a:rPr lang="en-US" sz="1500" dirty="0">
                <a:solidFill>
                  <a:srgbClr val="4B5563"/>
                </a:solidFill>
                <a:latin typeface="Segoe UI" pitchFamily="34" charset="0"/>
                <a:ea typeface="Segoe UI" pitchFamily="34" charset="-122"/>
                <a:cs typeface="Segoe UI" pitchFamily="34" charset="-120"/>
              </a:rPr>
              <a:t>Platforms see repeat offenders by account, not number.</a:t>
            </a:r>
            <a:endParaRPr lang="en-US" sz="1500" dirty="0"/>
          </a:p>
        </p:txBody>
      </p:sp>
      <p:sp>
        <p:nvSpPr>
          <p:cNvPr id="22" name="next-dot-3"/>
          <p:cNvSpPr/>
          <p:nvPr/>
        </p:nvSpPr>
        <p:spPr>
          <a:xfrm>
            <a:off x="8961120" y="2286000"/>
            <a:ext cx="640080" cy="640080"/>
          </a:xfrm>
          <a:prstGeom prst="ellipse">
            <a:avLst/>
          </a:prstGeom>
          <a:solidFill>
            <a:srgbClr val="FFFFFF"/>
          </a:solidFill>
          <a:ln w="25400">
            <a:solidFill>
              <a:srgbClr val="226192"/>
            </a:solidFill>
            <a:prstDash val="solid"/>
          </a:ln>
        </p:spPr>
      </p:sp>
      <p:pic>
        <p:nvPicPr>
          <p:cNvPr id="23" name="next-icon-3" descr="preencoded.png">    </p:cNvPr>
          <p:cNvPicPr>
            <a:picLocks noChangeAspect="1"/>
          </p:cNvPicPr>
          <p:nvPr/>
        </p:nvPicPr>
        <p:blipFill>
          <a:blip r:embed="rId5"/>
          <a:stretch>
            <a:fillRect/>
          </a:stretch>
        </p:blipFill>
        <p:spPr>
          <a:xfrm>
            <a:off x="9116568" y="2441448"/>
            <a:ext cx="329184" cy="329184"/>
          </a:xfrm>
          <a:prstGeom prst="rect">
            <a:avLst/>
          </a:prstGeom>
        </p:spPr>
      </p:pic>
      <p:sp>
        <p:nvSpPr>
          <p:cNvPr id="24" name="next-title-3"/>
          <p:cNvSpPr txBox="1"/>
          <p:nvPr/>
        </p:nvSpPr>
        <p:spPr>
          <a:xfrm>
            <a:off x="8961120" y="3200400"/>
            <a:ext cx="2468880" cy="411480"/>
          </a:xfrm>
          <a:prstGeom prst="rect">
            <a:avLst/>
          </a:prstGeom>
          <a:noFill/>
          <a:ln/>
        </p:spPr>
        <p:txBody>
          <a:bodyPr wrap="square" lIns="0" tIns="0" rIns="0" bIns="0" rtlCol="0" anchor="t"/>
          <a:lstStyle/>
          <a:p>
            <a:pPr indent="0" marL="0">
              <a:buNone/>
            </a:pPr>
            <a:r>
              <a:rPr lang="en-US" sz="2000" b="1" dirty="0">
                <a:solidFill>
                  <a:srgbClr val="1F2937"/>
                </a:solidFill>
                <a:latin typeface="Segoe UI" pitchFamily="34" charset="0"/>
                <a:ea typeface="Segoe UI" pitchFamily="34" charset="-122"/>
                <a:cs typeface="Segoe UI" pitchFamily="34" charset="-120"/>
              </a:rPr>
              <a:t>On-phone model</a:t>
            </a:r>
            <a:endParaRPr lang="en-US" sz="2000" dirty="0"/>
          </a:p>
        </p:txBody>
      </p:sp>
      <p:sp>
        <p:nvSpPr>
          <p:cNvPr id="25" name="next-body-3"/>
          <p:cNvSpPr txBox="1"/>
          <p:nvPr/>
        </p:nvSpPr>
        <p:spPr>
          <a:xfrm>
            <a:off x="8961120" y="3657600"/>
            <a:ext cx="2377440" cy="1097280"/>
          </a:xfrm>
          <a:prstGeom prst="rect">
            <a:avLst/>
          </a:prstGeom>
          <a:noFill/>
          <a:ln/>
        </p:spPr>
        <p:txBody>
          <a:bodyPr wrap="square" lIns="0" tIns="0" rIns="0" bIns="0" rtlCol="0" anchor="t"/>
          <a:lstStyle/>
          <a:p>
            <a:pPr indent="0" marL="0">
              <a:buNone/>
            </a:pPr>
            <a:r>
              <a:rPr lang="en-US" sz="1500" dirty="0">
                <a:solidFill>
                  <a:srgbClr val="4B5563"/>
                </a:solidFill>
                <a:latin typeface="Segoe UI" pitchFamily="34" charset="0"/>
                <a:ea typeface="Segoe UI" pitchFamily="34" charset="-122"/>
                <a:cs typeface="Segoe UI" pitchFamily="34" charset="-120"/>
              </a:rPr>
              <a:t>Keep audio on the device once budget phones can run it.</a:t>
            </a:r>
            <a:endParaRPr lang="en-US" sz="1500" dirty="0"/>
          </a:p>
        </p:txBody>
      </p:sp>
      <p:sp>
        <p:nvSpPr>
          <p:cNvPr id="26" name="!!subline"/>
          <p:cNvSpPr txBox="1"/>
          <p:nvPr/>
        </p:nvSpPr>
        <p:spPr>
          <a:xfrm>
            <a:off x="731520" y="5486400"/>
            <a:ext cx="10515600" cy="365760"/>
          </a:xfrm>
          <a:prstGeom prst="rect">
            <a:avLst/>
          </a:prstGeom>
          <a:noFill/>
          <a:ln/>
        </p:spPr>
        <p:txBody>
          <a:bodyPr wrap="square" lIns="0" tIns="0" rIns="0" bIns="0" rtlCol="0" anchor="t"/>
          <a:lstStyle/>
          <a:p>
            <a:pPr indent="0" marL="0">
              <a:buNone/>
            </a:pPr>
            <a:r>
              <a:rPr lang="en-US" sz="1600" b="1" dirty="0">
                <a:solidFill>
                  <a:srgbClr val="4B5563"/>
                </a:solidFill>
                <a:latin typeface="Segoe UI" pitchFamily="34" charset="0"/>
                <a:ea typeface="Segoe UI" pitchFamily="34" charset="-122"/>
                <a:cs typeface="Segoe UI" pitchFamily="34" charset="-120"/>
              </a:rPr>
              <a:t>Business model: platforms pay per protected call minute.</a:t>
            </a:r>
            <a:endParaRPr lang="en-US" sz="16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halo-r3"/>
          <p:cNvSpPr/>
          <p:nvPr/>
        </p:nvSpPr>
        <p:spPr>
          <a:xfrm>
            <a:off x="4712818" y="491490"/>
            <a:ext cx="2766060" cy="2766060"/>
          </a:xfrm>
          <a:prstGeom prst="ellipse">
            <a:avLst/>
          </a:prstGeom>
          <a:solidFill>
            <a:srgbClr val="7DB8E8">
              <a:alpha val="0"/>
            </a:srgbClr>
          </a:solidFill>
          <a:ln w="30734">
            <a:solidFill>
              <a:srgbClr val="7DB8E8">
                <a:alpha val="20000"/>
              </a:srgbClr>
            </a:solidFill>
            <a:prstDash val="solid"/>
          </a:ln>
        </p:spPr>
      </p:sp>
      <p:sp>
        <p:nvSpPr>
          <p:cNvPr id="3" name="!!halo-r2"/>
          <p:cNvSpPr/>
          <p:nvPr/>
        </p:nvSpPr>
        <p:spPr>
          <a:xfrm>
            <a:off x="5039716" y="818388"/>
            <a:ext cx="2112264" cy="2112264"/>
          </a:xfrm>
          <a:prstGeom prst="ellipse">
            <a:avLst/>
          </a:prstGeom>
          <a:solidFill>
            <a:srgbClr val="7DB8E8">
              <a:alpha val="0"/>
            </a:srgbClr>
          </a:solidFill>
          <a:ln w="30734">
            <a:solidFill>
              <a:srgbClr val="7DB8E8">
                <a:alpha val="38000"/>
              </a:srgbClr>
            </a:solidFill>
            <a:prstDash val="solid"/>
          </a:ln>
        </p:spPr>
      </p:sp>
      <p:sp>
        <p:nvSpPr>
          <p:cNvPr id="4" name="!!halo-r1"/>
          <p:cNvSpPr/>
          <p:nvPr/>
        </p:nvSpPr>
        <p:spPr>
          <a:xfrm>
            <a:off x="5341468" y="1120140"/>
            <a:ext cx="1508760" cy="1508760"/>
          </a:xfrm>
          <a:prstGeom prst="ellipse">
            <a:avLst/>
          </a:prstGeom>
          <a:solidFill>
            <a:srgbClr val="7DB8E8">
              <a:alpha val="0"/>
            </a:srgbClr>
          </a:solidFill>
          <a:ln w="30734">
            <a:solidFill>
              <a:srgbClr val="7DB8E8">
                <a:alpha val="62000"/>
              </a:srgbClr>
            </a:solidFill>
            <a:prstDash val="solid"/>
          </a:ln>
        </p:spPr>
      </p:sp>
      <p:sp>
        <p:nvSpPr>
          <p:cNvPr id="5" name="!!halo-core"/>
          <p:cNvSpPr/>
          <p:nvPr/>
        </p:nvSpPr>
        <p:spPr>
          <a:xfrm>
            <a:off x="5592928" y="1371600"/>
            <a:ext cx="1005840" cy="1005840"/>
          </a:xfrm>
          <a:prstGeom prst="ellipse">
            <a:avLst/>
          </a:prstGeom>
          <a:solidFill>
            <a:srgbClr val="1B3550"/>
          </a:solidFill>
          <a:ln w="12700">
            <a:solidFill>
              <a:srgbClr val="1B3550"/>
            </a:solidFill>
            <a:prstDash val="solid"/>
          </a:ln>
        </p:spPr>
      </p:sp>
      <p:pic>
        <p:nvPicPr>
          <p:cNvPr id="6" name="!!halo-icon" descr="Scam check">    </p:cNvPr>
          <p:cNvPicPr>
            <a:picLocks noChangeAspect="1"/>
          </p:cNvPicPr>
          <p:nvPr/>
        </p:nvPicPr>
        <p:blipFill>
          <a:blip r:embed="rId1"/>
          <a:stretch>
            <a:fillRect/>
          </a:stretch>
        </p:blipFill>
        <p:spPr>
          <a:xfrm>
            <a:off x="5834329" y="1613002"/>
            <a:ext cx="523037" cy="523037"/>
          </a:xfrm>
          <a:prstGeom prst="rect">
            <a:avLst/>
          </a:prstGeom>
        </p:spPr>
      </p:pic>
      <p:sp>
        <p:nvSpPr>
          <p:cNvPr id="7" name="!!kicker"/>
          <p:cNvSpPr txBox="1"/>
          <p:nvPr/>
        </p:nvSpPr>
        <p:spPr>
          <a:xfrm>
            <a:off x="1097280" y="3703320"/>
            <a:ext cx="9997135" cy="822960"/>
          </a:xfrm>
          <a:prstGeom prst="rect">
            <a:avLst/>
          </a:prstGeom>
          <a:noFill/>
          <a:ln/>
        </p:spPr>
        <p:txBody>
          <a:bodyPr wrap="square" lIns="0" tIns="0" rIns="0" bIns="0" rtlCol="0" anchor="t"/>
          <a:lstStyle/>
          <a:p>
            <a:pPr algn="ctr" indent="0" marL="0">
              <a:buNone/>
            </a:pPr>
            <a:r>
              <a:rPr lang="en-US" sz="2000" dirty="0">
                <a:solidFill>
                  <a:srgbClr val="A9B6C3"/>
                </a:solidFill>
                <a:latin typeface="Segoe UI" pitchFamily="34" charset="0"/>
                <a:ea typeface="Segoe UI" pitchFamily="34" charset="-122"/>
                <a:cs typeface="Segoe UI" pitchFamily="34" charset="-120"/>
              </a:rPr>
              <a:t>Google protects Hindi and English calls on a Pixel. Truecaller tells you who's calling.</a:t>
            </a:r>
            <a:endParaRPr lang="en-US" sz="2000" dirty="0"/>
          </a:p>
        </p:txBody>
      </p:sp>
      <p:sp>
        <p:nvSpPr>
          <p:cNvPr id="8" name="!!headline"/>
          <p:cNvSpPr txBox="1"/>
          <p:nvPr/>
        </p:nvSpPr>
        <p:spPr>
          <a:xfrm>
            <a:off x="1097280" y="4434840"/>
            <a:ext cx="9997135" cy="1280160"/>
          </a:xfrm>
          <a:prstGeom prst="rect">
            <a:avLst/>
          </a:prstGeom>
          <a:noFill/>
          <a:ln/>
        </p:spPr>
        <p:txBody>
          <a:bodyPr wrap="square" lIns="0" tIns="0" rIns="0" bIns="0" rtlCol="0" anchor="t"/>
          <a:lstStyle/>
          <a:p>
            <a:pPr algn="ctr" indent="0" marL="0">
              <a:buNone/>
            </a:pPr>
            <a:r>
              <a:rPr lang="en-US" sz="3200" b="1" dirty="0">
                <a:solidFill>
                  <a:srgbClr val="FFFFFF"/>
                </a:solidFill>
                <a:latin typeface="Segoe UI" pitchFamily="34" charset="0"/>
                <a:ea typeface="Segoe UI" pitchFamily="34" charset="-122"/>
                <a:cs typeface="Segoe UI" pitchFamily="34" charset="-120"/>
              </a:rPr>
              <a:t>Edgerunners listens for what they're asking you to do, and warns only you, in time to hang up.</a:t>
            </a:r>
            <a:endParaRPr lang="en-US" sz="3200" dirty="0"/>
          </a:p>
        </p:txBody>
      </p:sp>
      <p:sp>
        <p:nvSpPr>
          <p:cNvPr id="9" name="!!subline"/>
          <p:cNvSpPr txBox="1"/>
          <p:nvPr/>
        </p:nvSpPr>
        <p:spPr>
          <a:xfrm>
            <a:off x="1097280" y="5897880"/>
            <a:ext cx="9997135" cy="365760"/>
          </a:xfrm>
          <a:prstGeom prst="rect">
            <a:avLst/>
          </a:prstGeom>
          <a:noFill/>
          <a:ln/>
        </p:spPr>
        <p:txBody>
          <a:bodyPr wrap="square" lIns="0" tIns="0" rIns="0" bIns="0" rtlCol="0" anchor="t"/>
          <a:lstStyle/>
          <a:p>
            <a:pPr algn="ctr" indent="0" marL="0">
              <a:buNone/>
            </a:pPr>
            <a:r>
              <a:rPr lang="en-US" sz="1600" b="1" dirty="0">
                <a:solidFill>
                  <a:srgbClr val="7DB8E8"/>
                </a:solidFill>
                <a:latin typeface="Segoe UI" pitchFamily="34" charset="0"/>
                <a:ea typeface="Segoe UI" pitchFamily="34" charset="-122"/>
                <a:cs typeface="Segoe UI" pitchFamily="34" charset="-120"/>
              </a:rPr>
              <a:t>Thank you</a:t>
            </a:r>
            <a:endParaRPr lang="en-US" sz="16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sld>
</file>

<file path=ppt/theme/theme1.xml><?xml version="1.0" encoding="utf-8"?>
<a:theme xmlns:a="http://schemas.openxmlformats.org/drawingml/2006/main" name="Edgerunners Guardian">
  <a:themeElements>
    <a:clrScheme name="Edgerunners Guardian">
      <a:dk1>
        <a:srgbClr val="1F2937"/>
      </a:dk1>
      <a:lt1>
        <a:srgbClr val="FFFFFF"/>
      </a:lt1>
      <a:dk2>
        <a:srgbClr val="0E1A27"/>
      </a:dk2>
      <a:lt2>
        <a:srgbClr val="FAFAF8"/>
      </a:lt2>
      <a:accent1>
        <a:srgbClr val="226192"/>
      </a:accent1>
      <a:accent2>
        <a:srgbClr val="7DB8E8"/>
      </a:accent2>
      <a:accent3>
        <a:srgbClr val="F5B83D"/>
      </a:accent3>
      <a:accent4>
        <a:srgbClr val="8F1D16"/>
      </a:accent4>
      <a:accent5>
        <a:srgbClr val="E3EDF5"/>
      </a:accent5>
      <a:accent6>
        <a:srgbClr val="F4BEBB"/>
      </a:accent6>
      <a:hlink>
        <a:srgbClr val="226192"/>
      </a:hlink>
      <a:folHlink>
        <a:srgbClr val="123A58"/>
      </a:folHlink>
    </a:clrScheme>
    <a:fontScheme name="Edgerunners Guardian">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Edgerunners: live scam protection</dc:title>
  <dc:subject>PptxGenJS Presentation</dc:subject>
  <dc:creator>Team Edgerunners</dc:creator>
  <cp:lastModifiedBy>Team Edgerunners</cp:lastModifiedBy>
  <cp:revision>1</cp:revision>
  <dcterms:created xsi:type="dcterms:W3CDTF">2026-10-22T11:09:32Z</dcterms:created>
  <dcterms:modified xsi:type="dcterms:W3CDTF">2026-10-22T11:09:32Z</dcterms:modified>
</cp:coreProperties>
</file>